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بداية" id="{85023236-76c8-26ec-17f1-2cc49cab47d0}">
          <p14:sldIdLst>
            <p14:sldId id="256"/>
          </p14:sldIdLst>
        </p14:section>
        <p14:section name="المشكلة والحل" id="{0aa578ab-1240-333f-ca5a-7a12669c7e53}">
          <p14:sldIdLst>
            <p14:sldId id="257"/>
            <p14:sldId id="258"/>
            <p14:sldId id="259"/>
            <p14:sldId id="260"/>
          </p14:sldIdLst>
        </p14:section>
        <p14:section name="تصميم النظام" id="{948b2a25-da79-710b-9cc2-9158d609bbd5}">
          <p14:sldIdLst>
            <p14:sldId id="261"/>
            <p14:sldId id="262"/>
            <p14:sldId id="263"/>
            <p14:sldId id="264"/>
            <p14:sldId id="265"/>
            <p14:sldId id="266"/>
          </p14:sldIdLst>
        </p14:section>
        <p14:section name="النتائج" id="{2884cc6c-2859-bb69-731c-133291b971a2}">
          <p14:sldIdLst>
            <p14:sldId id="267"/>
            <p14:sldId id="268"/>
            <p14:sldId id="269"/>
            <p14:sldId id="270"/>
            <p14:sldId id="271"/>
          </p14:sldIdLst>
        </p14:section>
        <p14:section name="الختام" id="{e3aead7a-ebb8-d309-bb71-9076c5c424a9}">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6B43"/>
                </a:solidFill>
                <a:latin typeface="+mn-lt"/>
              </a:defRPr>
            </a:pPr>
            <a:r>
              <a:rPr sz="1400" b="0" i="0" u="none" strike="noStrike">
                <a:solidFill>
                  <a:srgbClr val="1E6B43"/>
                </a:solidFill>
                <a:latin typeface="+mn-lt"/>
              </a:rPr>
              <a:t>متوسط سعر كل قطعة (ريال)</a:t>
            </a:r>
          </a:p>
        </c:rich>
      </c:tx>
      <c:layout/>
      <c:overlay val="0"/>
    </c:title>
    <c:autoTitleDeleted val="0"/>
    <c:plotArea>
      <c:layout/>
      <c:barChart>
        <c:barDir val="bar"/>
        <c:grouping val="clustered"/>
        <c:varyColors val="0"/>
        <c:ser>
          <c:idx val="0"/>
          <c:order val="0"/>
          <c:tx>
            <c:strRef>
              <c:f>Sheet1!$B$1</c:f>
              <c:strCache>
                <c:ptCount val="1"/>
                <c:pt idx="0">
                  <c:v>التكلفة (ريال)</c:v>
                </c:pt>
              </c:strCache>
            </c:strRef>
          </c:tx>
          <c:spPr>
            <a:solidFill>
              <a:srgbClr val="2F9E5F"/>
            </a:solidFill>
            <a:effectLst/>
          </c:spPr>
          <c:invertIfNegative val="0"/>
          <c:dLbls>
            <c:numFmt formatCode="#,##0" sourceLinked="0"/>
            <c:txPr>
              <a:bodyPr/>
              <a:lstStyle/>
              <a:p>
                <a:pPr>
                  <a:defRPr b="0" i="0" strike="noStrike" sz="1200" u="none">
                    <a:solidFill>
                      <a:srgbClr val="15231B"/>
                    </a:solidFill>
                    <a:latin typeface="+mn-lt"/>
                  </a:defRPr>
                </a:pPr>
              </a:p>
            </c:txPr>
            <c:showLegendKey val="0"/>
            <c:showVal val="1"/>
            <c:showCatName val="0"/>
            <c:showSerName val="0"/>
            <c:showPercent val="0"/>
            <c:showBubbleSize val="0"/>
            <c:showLeaderLines val="0"/>
          </c:dLbls>
          <c:cat>
            <c:multiLvlStrRef>
              <c:f>Sheet1!$A$2:$A$10</c:f>
              <c:multiLvlStrCache>
                <c:ptCount val="9"/>
                <c:lvl>
                  <c:pt idx="0">
                    <c:v>باور بانك</c:v>
                  </c:pt>
                  <c:pt idx="1">
                    <c:v>ESP32</c:v>
                  </c:pt>
                  <c:pt idx="2">
                    <c:v>العلبة والزراعة</c:v>
                  </c:pt>
                  <c:pt idx="3">
                    <c:v>DHT22</c:v>
                  </c:pt>
                  <c:pt idx="4">
                    <c:v>لوحة وأسلاك</c:v>
                  </c:pt>
                  <c:pt idx="5">
                    <c:v>BH1750</c:v>
                  </c:pt>
                  <c:pt idx="6">
                    <c:v>حساس التربة</c:v>
                  </c:pt>
                  <c:pt idx="7">
                    <c:v>كيبل USB</c:v>
                  </c:pt>
                  <c:pt idx="8">
                    <c:v>Buzzer وزر</c:v>
                  </c:pt>
                </c:lvl>
              </c:multiLvlStrCache>
            </c:multiLvlStrRef>
          </c:cat>
          <c:val>
            <c:numRef>
              <c:f>Sheet1!$B$2:$B$10</c:f>
              <c:numCache>
                <c:formatCode>General</c:formatCode>
                <c:ptCount val="9"/>
                <c:pt idx="0">
                  <c:v>50</c:v>
                </c:pt>
                <c:pt idx="1">
                  <c:v>45</c:v>
                </c:pt>
                <c:pt idx="2">
                  <c:v>43</c:v>
                </c:pt>
                <c:pt idx="3">
                  <c:v>28</c:v>
                </c:pt>
                <c:pt idx="4">
                  <c:v>28</c:v>
                </c:pt>
                <c:pt idx="5">
                  <c:v>15</c:v>
                </c:pt>
                <c:pt idx="6">
                  <c:v>15</c:v>
                </c:pt>
                <c:pt idx="7">
                  <c:v>13</c:v>
                </c:pt>
                <c:pt idx="8">
                  <c:v>9</c:v>
                </c:pt>
              </c:numCache>
            </c:numRef>
          </c:val>
        </c:ser>
        <c:dLbls>
          <c:numFmt formatCode="#,##0" sourceLinked="0"/>
          <c:txPr>
            <a:bodyPr/>
            <a:lstStyle/>
            <a:p>
              <a:pPr>
                <a:defRPr b="0" i="0" strike="noStrike" sz="1200" u="none">
                  <a:solidFill>
                    <a:srgbClr val="15231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5231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السلام عليكم ورحمة الله وبركاته. نقدم لكم مشروع تخرجنا «ري»: نظام زراعة ذكية يحوّل مشاعر المحاصيل إلى إيموجي وصوت باستخدام إنترنت الأشياء. نعرّف بالفريق والمشرفة، ثم ننتقل إلى المشكلة التي يحلها المشروع.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المشكلة: المزارع أو محب الزراعة لا يعرف دائماً متى يحتاج المحصول إلى الماء أو الظل أو الضوء، فيتلف المحصول أو يُهدر الماء، وكلما زادت الزراعات صعبت المتابعة.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الحل: جهاز صغير مبني على ESP32 يوضع في الزراعة، يقيس رطوبة التربة والإضاءة والحرارة، ويرسل القراءات كل 30 ثانية إلى خادم XAMPP، ثم تعرض تطبيقات الويب والأندرويد حالة كل زراعة كإيموجي، والجهاز نفسه يعزف نغمة لكل شعور.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أهدافنا ستة: القياس التلقائي، وعرض المشاعر بالإيموجي، والتنبيه الصوتي، وإدارة عدة زراعات بأنواع محاصيل مختلفة، ونقل الجهاز بين الزراعات، والحسابات والصلاحيات.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المشروع عام لكل من يحتاج زراعة ذكية: المزارعون وأصحاب البيوت المحمية، والطلاب في المدارس، والأسر، والمكاتب، والمهتمون بالاستدامة.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القطع: متحكم ESP32، وحساس رطوبة التربة السعوي على المنفذ التماثلي GPIO34 لأن منافذ ADC2 لا تعمل مع الواي فاي، وحساس الإضاءة BH1750 عبر I2C، وحساس DHT22 للحرارة والرطوبة، وسماعة Buzzer للنغمات، وباور بانك 5 فولت. التكلفة الإجمالية أقل من 320 ريال.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الجهاز يقارن القراءات بحدود الزراعة ويحدد أحد سبعة مشاعر، ولكل شعور نغمة مختلفة. والمهم أن الحدود تأتي من نوع المحصول، فالتربة الجافة نفسها تجعل الفراولة عطشانة بينما الصبار سعيد.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استخدمنا C++ لبرمجة الجهاز، وPHP على خادم XAMPP للواجهة البرمجية، وقاعدة بيانات MySQL، وتطبيق ويب بـ HTML وCSS وJavaScript، وتطبيق أندرويد بلغة Kotlin.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يوضح مخطط حالات الاستخدام ثلاثة فاعلين: المستخدم والمدير الذي يرث صلاحيات المستخدم، وجهاز الاستشعار كفاعل نظامي.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قاعدة البيانات من 12 جدولاً في الصيغة الطبيعية الثالثة: المستخدمون وأنواع المحاصيل والزراعات والأجهزة وتاريخ نقلها والقراءات والمذكرات والأوامر ورموز الدخول. واستخدمنا الترميز utf8mb4 لدعم العربية والإيموجي.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اعتمدنا الإطار الرشيق بسبرنتات أسبوعية؛ كل أسبوع ننجز جزءاً يعمل ونختبره ثم نراجعه.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تطبيق الويب يعمل من أي متصفح على الحاسب أو الجوال: صفحة زراعاتي، ثم صفحة الزراعة بالقيم الحية والرسم البياني لآخر 24 ساعة والمذكرات والنغمات والإعدادات. (عرض حي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تطبيق الأندرويد بلغة Kotlin وJetpack Compose: تسجيل الدخول، وزراعاتي مع ملخص بعدد الزراعات وما يحتاج عناية، وصفحة الزراعة التي يتغير لونها حسب شعورها.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مشروع التخرج نستخدم جهازاً واحداً، لكن «ري» يدير عدة زراعات؛ ننقل الجهاز من زراعة إلى أخرى من التطبيق، فيستلم حدود الزراعة الجديدة، ويبقى سجل كل زراعة محفوظاً.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اختبرنا منطق المشاعر بـ 33 فحصاً آلياً، والواجهة البرمجية مع قاعدة البيانات بـ 44 فحصاً، وكلها ناجحة، إضافة إلى خطة اختبار من 26 سيناريو على الجهاز والتطبيقات.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تكلفة الجهاز بين 175 و312 ريال تقريباً، والبرمجيات كلها مجانية، ولا توجد تكاليف استضافة لأن الخادم حاسب في الشبكة المحلية.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فريق العمل ست متدربات، وشاركت كل واحدة في البرمجة إلى جانب مهامها الأخرى.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نطمح إلى تطوير ري بالطاقة الشمسية والري التلقائي والذكاء الاصطناعي والإشعارات والنشر على الإنترنت.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نشكركم على حسن الاستماع، ونسعد بأسئلتكم، ويمكننا الآن عرض الجهاز والتطبيقات بشكل حي.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A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rtlCol="0"/>
          <a:lstStyle>
            <a:lvl1pPr rtl="1" algn="r" indent="0" marL="0">
              <a:buNone/>
              <a:defRPr lang="en-US" sz="3400" b="1" dirty="0">
                <a:solidFill>
                  <a:schemeClr val="tx2"/>
                </a:solidFill>
              </a:defRPr>
            </a:lvl1pPr>
          </a:lstStyle>
          <a:p>
            <a:pPr algn="r" indent="0" marL="0">
              <a:buNone/>
            </a:pPr>
            <a:endParaRPr lang="en-US" sz="3400" dirty="0"/>
          </a:p>
        </p:txBody>
      </p:sp>
      <p:pic>
        <p:nvPicPr>
          <p:cNvPr id="3" name="Image 0" descr="/tmp/claude-0/-home-user-CLAUDE/3679e5f3-27b5-5b39-93b3-bff928dcc3b8/scratchpad/final/assets/logo.png">    </p:cNvPr>
          <p:cNvPicPr>
            <a:picLocks noChangeAspect="1"/>
          </p:cNvPicPr>
          <p:nvPr/>
        </p:nvPicPr>
        <p:blipFill>
          <a:blip r:embed="rId1"/>
          <a:stretch>
            <a:fillRect/>
          </a:stretch>
        </p:blipFill>
        <p:spPr>
          <a:xfrm>
            <a:off x="411480" y="347472"/>
            <a:ext cx="1371600" cy="787940"/>
          </a:xfrm>
          <a:prstGeom prst="rect">
            <a:avLst/>
          </a:prstGeom>
        </p:spPr>
      </p:pic>
      <p:sp>
        <p:nvSpPr>
          <p:cNvPr id="4" name="Text 0"/>
          <p:cNvSpPr/>
          <p:nvPr/>
        </p:nvSpPr>
        <p:spPr>
          <a:xfrm>
            <a:off x="3840480" y="6419088"/>
            <a:ext cx="7772400" cy="274320"/>
          </a:xfrm>
          <a:prstGeom prst="rect">
            <a:avLst/>
          </a:prstGeom>
          <a:noFill/>
          <a:ln/>
        </p:spPr>
        <p:txBody>
          <a:bodyPr wrap="square" rtlCol="0" anchor="ctr"/>
          <a:lstStyle/>
          <a:p>
            <a:pPr algn="r" indent="0" marL="0">
              <a:buNone/>
            </a:pPr>
            <a:r>
              <a:rPr lang="en-US" sz="1000" dirty="0">
                <a:solidFill>
                  <a:srgbClr val="5B6B61"/>
                </a:solidFill>
              </a:rPr>
              <a:t>ري · مشروع التخرج – الكلية التقنية الرقمية للبنات بالرياض</a:t>
            </a:r>
            <a:endParaRPr lang="en-US" sz="10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شعار ري">    </p:cNvPr>
          <p:cNvPicPr>
            <a:picLocks noChangeAspect="1"/>
          </p:cNvPicPr>
          <p:nvPr/>
        </p:nvPicPr>
        <p:blipFill>
          <a:blip r:embed="rId1"/>
          <a:stretch>
            <a:fillRect/>
          </a:stretch>
        </p:blipFill>
        <p:spPr>
          <a:xfrm>
            <a:off x="8492947" y="822960"/>
            <a:ext cx="2765146" cy="3291840"/>
          </a:xfrm>
          <a:prstGeom prst="rect">
            <a:avLst/>
          </a:prstGeom>
        </p:spPr>
      </p:pic>
      <p:sp>
        <p:nvSpPr>
          <p:cNvPr id="3" name="Text 0"/>
          <p:cNvSpPr/>
          <p:nvPr/>
        </p:nvSpPr>
        <p:spPr>
          <a:xfrm>
            <a:off x="3840480" y="822960"/>
            <a:ext cx="4480560" cy="1737360"/>
          </a:xfrm>
          <a:prstGeom prst="rect">
            <a:avLst/>
          </a:prstGeom>
          <a:noFill/>
          <a:ln/>
        </p:spPr>
        <p:txBody>
          <a:bodyPr wrap="square" lIns="0" tIns="0" rIns="0" bIns="0" rtlCol="0" anchor="ctr"/>
          <a:lstStyle/>
          <a:p>
            <a:pPr rtl="1" algn="r" indent="0" marL="0">
              <a:buNone/>
            </a:pPr>
            <a:r>
              <a:rPr lang="en-US" sz="11000" b="1" dirty="0">
                <a:solidFill>
                  <a:srgbClr val="FFFFFF"/>
                </a:solidFill>
              </a:rPr>
              <a:t>ري</a:t>
            </a:r>
            <a:endParaRPr lang="en-US" sz="11000" dirty="0"/>
          </a:p>
        </p:txBody>
      </p:sp>
      <p:sp>
        <p:nvSpPr>
          <p:cNvPr id="4" name="Text 1"/>
          <p:cNvSpPr/>
          <p:nvPr/>
        </p:nvSpPr>
        <p:spPr>
          <a:xfrm>
            <a:off x="1828800" y="2606040"/>
            <a:ext cx="6492240" cy="640080"/>
          </a:xfrm>
          <a:prstGeom prst="rect">
            <a:avLst/>
          </a:prstGeom>
          <a:noFill/>
          <a:ln/>
        </p:spPr>
        <p:txBody>
          <a:bodyPr wrap="square" lIns="0" tIns="0" rIns="0" bIns="0" rtlCol="0" anchor="ctr"/>
          <a:lstStyle/>
          <a:p>
            <a:pPr rtl="1" algn="r" indent="0" marL="0">
              <a:buNone/>
            </a:pPr>
            <a:r>
              <a:rPr lang="en-US" sz="2400" b="1" dirty="0">
                <a:solidFill>
                  <a:srgbClr val="E2F5E9"/>
                </a:solidFill>
              </a:rPr>
              <a:t>نظام زراعة ذكية يحوّل مشاعر المحاصيل إلى إيموجي وصوت</a:t>
            </a:r>
            <a:endParaRPr lang="en-US" sz="2400" dirty="0"/>
          </a:p>
        </p:txBody>
      </p:sp>
      <p:sp>
        <p:nvSpPr>
          <p:cNvPr id="5" name="Text 2"/>
          <p:cNvSpPr/>
          <p:nvPr/>
        </p:nvSpPr>
        <p:spPr>
          <a:xfrm>
            <a:off x="1828800" y="3200400"/>
            <a:ext cx="6492240" cy="457200"/>
          </a:xfrm>
          <a:prstGeom prst="rect">
            <a:avLst/>
          </a:prstGeom>
          <a:noFill/>
          <a:ln/>
        </p:spPr>
        <p:txBody>
          <a:bodyPr wrap="square" lIns="0" tIns="0" rIns="0" bIns="0" rtlCol="0" anchor="ctr"/>
          <a:lstStyle/>
          <a:p>
            <a:pPr rtl="1" algn="r" indent="0" marL="0">
              <a:buNone/>
            </a:pPr>
            <a:r>
              <a:rPr lang="en-US" sz="1600" dirty="0">
                <a:solidFill>
                  <a:srgbClr val="CFE9D8"/>
                </a:solidFill>
              </a:rPr>
              <a:t>باستخدام إنترنت الأشياء (IoT) · Rayy Smart Farming</a:t>
            </a:r>
            <a:endParaRPr lang="en-US" sz="1600" dirty="0"/>
          </a:p>
        </p:txBody>
      </p:sp>
      <p:sp>
        <p:nvSpPr>
          <p:cNvPr id="6" name="Text 3"/>
          <p:cNvSpPr/>
          <p:nvPr/>
        </p:nvSpPr>
        <p:spPr>
          <a:xfrm>
            <a:off x="3840480" y="3794760"/>
            <a:ext cx="4480560" cy="640080"/>
          </a:xfrm>
          <a:prstGeom prst="rect">
            <a:avLst/>
          </a:prstGeom>
          <a:noFill/>
          <a:ln/>
        </p:spPr>
        <p:txBody>
          <a:bodyPr wrap="square" lIns="0" tIns="0" rIns="0" bIns="0" rtlCol="0" anchor="ctr"/>
          <a:lstStyle/>
          <a:p>
            <a:pPr algn="r" indent="0" marL="0">
              <a:buNone/>
            </a:pPr>
            <a:r>
              <a:rPr lang="en-US" sz="3000" dirty="0">
                <a:solidFill>
                  <a:srgbClr val="000000"/>
                </a:solidFill>
              </a:rPr>
              <a:t>😊  😫  🥵  🥶  😴</a:t>
            </a:r>
            <a:endParaRPr lang="en-US" sz="3000" dirty="0"/>
          </a:p>
        </p:txBody>
      </p:sp>
      <p:sp>
        <p:nvSpPr>
          <p:cNvPr id="7" name="Shape 4"/>
          <p:cNvSpPr/>
          <p:nvPr/>
        </p:nvSpPr>
        <p:spPr>
          <a:xfrm>
            <a:off x="548640" y="4800600"/>
            <a:ext cx="11064240" cy="1508760"/>
          </a:xfrm>
          <a:prstGeom prst="roundRect">
            <a:avLst>
              <a:gd name="adj" fmla="val 12121"/>
            </a:avLst>
          </a:prstGeom>
          <a:solidFill>
            <a:srgbClr val="FFFFFF">
              <a:alpha val="12000"/>
            </a:srgbClr>
          </a:solidFill>
          <a:ln w="12700">
            <a:solidFill>
              <a:srgbClr val="FFFFFF">
                <a:alpha val="30000"/>
              </a:srgbClr>
            </a:solidFill>
            <a:prstDash val="solid"/>
          </a:ln>
        </p:spPr>
      </p:sp>
      <p:sp>
        <p:nvSpPr>
          <p:cNvPr id="8" name="Text 5"/>
          <p:cNvSpPr/>
          <p:nvPr/>
        </p:nvSpPr>
        <p:spPr>
          <a:xfrm>
            <a:off x="822960" y="4892040"/>
            <a:ext cx="10515600" cy="1325880"/>
          </a:xfrm>
          <a:prstGeom prst="rect">
            <a:avLst/>
          </a:prstGeom>
          <a:noFill/>
          <a:ln/>
        </p:spPr>
        <p:txBody>
          <a:bodyPr wrap="square" rtlCol="0" anchor="ctr"/>
          <a:lstStyle/>
          <a:p>
            <a:pPr algn="r" indent="0" marL="0">
              <a:spcAft>
                <a:spcPts val="600"/>
              </a:spcAft>
              <a:buNone/>
            </a:pPr>
            <a:r>
              <a:rPr lang="en-US" sz="1500" b="1" dirty="0">
                <a:solidFill>
                  <a:srgbClr val="FFFFFF"/>
                </a:solidFill>
              </a:rPr>
              <a:t>إعداد المتدربات: </a:t>
            </a:r>
            <a:pPr algn="r" indent="0" marL="0">
              <a:spcAft>
                <a:spcPts val="600"/>
              </a:spcAft>
              <a:buNone/>
            </a:pPr>
            <a:r>
              <a:rPr lang="en-US" sz="1500" dirty="0">
                <a:solidFill>
                  <a:srgbClr val="E2F5E9"/>
                </a:solidFill>
              </a:rPr>
              <a:t>حصه حازم الحازمي (القائدة) · لمياء سعد الحرب · شهد ناهس فريح الحربي · وجدان إبراهيم الفاضل · دانه عبدالرحمن العلياني · هدى مسعد العتيبي</a:t>
            </a:r>
            <a:endParaRPr lang="en-US" sz="1500" dirty="0"/>
          </a:p>
          <a:p>
            <a:pPr algn="r" indent="0" marL="0">
              <a:spcAft>
                <a:spcPts val="600"/>
              </a:spcAft>
              <a:buNone/>
            </a:pPr>
            <a:r>
              <a:rPr lang="en-US" sz="1500" b="1" dirty="0">
                <a:solidFill>
                  <a:srgbClr val="FFFFFF"/>
                </a:solidFill>
              </a:rPr>
              <a:t>إشراف: </a:t>
            </a:r>
            <a:pPr algn="r" indent="0" marL="0">
              <a:spcAft>
                <a:spcPts val="600"/>
              </a:spcAft>
              <a:buNone/>
            </a:pPr>
            <a:r>
              <a:rPr lang="en-US" sz="1500" dirty="0">
                <a:solidFill>
                  <a:srgbClr val="E2F5E9"/>
                </a:solidFill>
              </a:rPr>
              <a:t>أ. دانيه الموسى</a:t>
            </a:r>
            <a:pPr algn="r" indent="0" marL="0">
              <a:spcAft>
                <a:spcPts val="600"/>
              </a:spcAft>
              <a:buNone/>
            </a:pPr>
            <a:r>
              <a:rPr lang="en-US" sz="1500" dirty="0">
                <a:solidFill>
                  <a:srgbClr val="CFE9D8"/>
                </a:solidFill>
              </a:rPr>
              <a:t>     ·     قسم الحاسب وتقنية المعلومات – تقنية البرمجة وتطوير الويب – الكلية التقنية الرقمية للبنات بالرياض</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المشكلة: المحصول لا يستطيع أن يخبرنا بما يحتاج</a:t>
            </a:r>
            <a:endParaRPr lang="en-US" sz="3400" dirty="0"/>
          </a:p>
        </p:txBody>
      </p:sp>
      <p:sp>
        <p:nvSpPr>
          <p:cNvPr id="3" name="problem card"/>
          <p:cNvSpPr/>
          <p:nvPr/>
        </p:nvSpPr>
        <p:spPr>
          <a:xfrm>
            <a:off x="9082735" y="1600200"/>
            <a:ext cx="2560320" cy="4206240"/>
          </a:xfrm>
          <a:prstGeom prst="roundRect">
            <a:avLst>
              <a:gd name="adj" fmla="val 6429"/>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4" name="icon circle"/>
          <p:cNvSpPr/>
          <p:nvPr/>
        </p:nvSpPr>
        <p:spPr>
          <a:xfrm>
            <a:off x="9859975" y="1965960"/>
            <a:ext cx="1005840" cy="1005840"/>
          </a:xfrm>
          <a:prstGeom prst="ellipse">
            <a:avLst/>
          </a:prstGeom>
          <a:solidFill>
            <a:srgbClr val="E2F5E9"/>
          </a:solidFill>
          <a:ln w="12700">
            <a:solidFill>
              <a:srgbClr val="E2F5E9"/>
            </a:solidFill>
            <a:prstDash val="solid"/>
          </a:ln>
        </p:spPr>
      </p:sp>
      <p:pic>
        <p:nvPicPr>
          <p:cNvPr id="5" name="Image 0" descr="FaDroplet">    </p:cNvPr>
          <p:cNvPicPr>
            <a:picLocks noChangeAspect="1"/>
          </p:cNvPicPr>
          <p:nvPr/>
        </p:nvPicPr>
        <p:blipFill>
          <a:blip r:embed="rId1"/>
          <a:stretch>
            <a:fillRect/>
          </a:stretch>
        </p:blipFill>
        <p:spPr>
          <a:xfrm>
            <a:off x="10101377" y="2207362"/>
            <a:ext cx="523037" cy="523037"/>
          </a:xfrm>
          <a:prstGeom prst="rect">
            <a:avLst/>
          </a:prstGeom>
        </p:spPr>
      </p:pic>
      <p:sp>
        <p:nvSpPr>
          <p:cNvPr id="6" name="Text 3"/>
          <p:cNvSpPr/>
          <p:nvPr/>
        </p:nvSpPr>
        <p:spPr>
          <a:xfrm>
            <a:off x="9219895" y="3154680"/>
            <a:ext cx="2286000" cy="548640"/>
          </a:xfrm>
          <a:prstGeom prst="rect">
            <a:avLst/>
          </a:prstGeom>
          <a:noFill/>
          <a:ln/>
        </p:spPr>
        <p:txBody>
          <a:bodyPr wrap="square" rtlCol="0" anchor="ctr"/>
          <a:lstStyle/>
          <a:p>
            <a:pPr rtl="1" algn="ctr" indent="0" marL="0">
              <a:buNone/>
            </a:pPr>
            <a:r>
              <a:rPr lang="en-US" sz="2000" b="1" dirty="0">
                <a:solidFill>
                  <a:schemeClr val="tx2"/>
                </a:solidFill>
              </a:rPr>
              <a:t>عطش أو غرق</a:t>
            </a:r>
            <a:endParaRPr lang="en-US" sz="2000" dirty="0"/>
          </a:p>
        </p:txBody>
      </p:sp>
      <p:sp>
        <p:nvSpPr>
          <p:cNvPr id="7" name="Text 4"/>
          <p:cNvSpPr/>
          <p:nvPr/>
        </p:nvSpPr>
        <p:spPr>
          <a:xfrm>
            <a:off x="9265615" y="3749040"/>
            <a:ext cx="2194560" cy="1828800"/>
          </a:xfrm>
          <a:prstGeom prst="rect">
            <a:avLst/>
          </a:prstGeom>
          <a:noFill/>
          <a:ln/>
        </p:spPr>
        <p:txBody>
          <a:bodyPr wrap="square" rtlCol="0" anchor="t"/>
          <a:lstStyle/>
          <a:p>
            <a:pPr rtl="1" algn="r" indent="0" marL="0">
              <a:buNone/>
            </a:pPr>
            <a:r>
              <a:rPr lang="en-US" sz="1500" dirty="0">
                <a:solidFill>
                  <a:schemeClr val="tx1"/>
                </a:solidFill>
              </a:rPr>
              <a:t>يتلف المحصول بسبب نقص الري أو الإفراط فيه دون أن نلاحظ في الوقت المناسب.</a:t>
            </a:r>
            <a:endParaRPr lang="en-US" sz="1500" dirty="0"/>
          </a:p>
        </p:txBody>
      </p:sp>
      <p:sp>
        <p:nvSpPr>
          <p:cNvPr id="8" name="problem card"/>
          <p:cNvSpPr/>
          <p:nvPr/>
        </p:nvSpPr>
        <p:spPr>
          <a:xfrm>
            <a:off x="6385255" y="1600200"/>
            <a:ext cx="2560320" cy="4206240"/>
          </a:xfrm>
          <a:prstGeom prst="roundRect">
            <a:avLst>
              <a:gd name="adj" fmla="val 6429"/>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9" name="icon circle"/>
          <p:cNvSpPr/>
          <p:nvPr/>
        </p:nvSpPr>
        <p:spPr>
          <a:xfrm>
            <a:off x="7162495" y="1965960"/>
            <a:ext cx="1005840" cy="1005840"/>
          </a:xfrm>
          <a:prstGeom prst="ellipse">
            <a:avLst/>
          </a:prstGeom>
          <a:solidFill>
            <a:srgbClr val="E2F5E9"/>
          </a:solidFill>
          <a:ln w="12700">
            <a:solidFill>
              <a:srgbClr val="E2F5E9"/>
            </a:solidFill>
            <a:prstDash val="solid"/>
          </a:ln>
        </p:spPr>
      </p:sp>
      <p:pic>
        <p:nvPicPr>
          <p:cNvPr id="10" name="Image 1" descr="FaFaucetDrip">    </p:cNvPr>
          <p:cNvPicPr>
            <a:picLocks noChangeAspect="1"/>
          </p:cNvPicPr>
          <p:nvPr/>
        </p:nvPicPr>
        <p:blipFill>
          <a:blip r:embed="rId2"/>
          <a:stretch>
            <a:fillRect/>
          </a:stretch>
        </p:blipFill>
        <p:spPr>
          <a:xfrm>
            <a:off x="7403897" y="2207362"/>
            <a:ext cx="523037" cy="523037"/>
          </a:xfrm>
          <a:prstGeom prst="rect">
            <a:avLst/>
          </a:prstGeom>
        </p:spPr>
      </p:pic>
      <p:sp>
        <p:nvSpPr>
          <p:cNvPr id="11" name="Text 7"/>
          <p:cNvSpPr/>
          <p:nvPr/>
        </p:nvSpPr>
        <p:spPr>
          <a:xfrm>
            <a:off x="6522415" y="3154680"/>
            <a:ext cx="2286000" cy="548640"/>
          </a:xfrm>
          <a:prstGeom prst="rect">
            <a:avLst/>
          </a:prstGeom>
          <a:noFill/>
          <a:ln/>
        </p:spPr>
        <p:txBody>
          <a:bodyPr wrap="square" rtlCol="0" anchor="ctr"/>
          <a:lstStyle/>
          <a:p>
            <a:pPr rtl="1" algn="ctr" indent="0" marL="0">
              <a:buNone/>
            </a:pPr>
            <a:r>
              <a:rPr lang="en-US" sz="2000" b="1" dirty="0">
                <a:solidFill>
                  <a:schemeClr val="tx2"/>
                </a:solidFill>
              </a:rPr>
              <a:t>هدر المياه</a:t>
            </a:r>
            <a:endParaRPr lang="en-US" sz="2000" dirty="0"/>
          </a:p>
        </p:txBody>
      </p:sp>
      <p:sp>
        <p:nvSpPr>
          <p:cNvPr id="12" name="Text 8"/>
          <p:cNvSpPr/>
          <p:nvPr/>
        </p:nvSpPr>
        <p:spPr>
          <a:xfrm>
            <a:off x="6568135" y="3749040"/>
            <a:ext cx="2194560" cy="1828800"/>
          </a:xfrm>
          <a:prstGeom prst="rect">
            <a:avLst/>
          </a:prstGeom>
          <a:noFill/>
          <a:ln/>
        </p:spPr>
        <p:txBody>
          <a:bodyPr wrap="square" rtlCol="0" anchor="t"/>
          <a:lstStyle/>
          <a:p>
            <a:pPr rtl="1" algn="r" indent="0" marL="0">
              <a:buNone/>
            </a:pPr>
            <a:r>
              <a:rPr lang="en-US" sz="1500" dirty="0">
                <a:solidFill>
                  <a:schemeClr val="tx1"/>
                </a:solidFill>
              </a:rPr>
              <a:t>الري العشوائي بمواعيد ثابتة يهدر الماء، وهو مورد ثمين في المملكة.</a:t>
            </a:r>
            <a:endParaRPr lang="en-US" sz="1500" dirty="0"/>
          </a:p>
        </p:txBody>
      </p:sp>
      <p:sp>
        <p:nvSpPr>
          <p:cNvPr id="13" name="problem card"/>
          <p:cNvSpPr/>
          <p:nvPr/>
        </p:nvSpPr>
        <p:spPr>
          <a:xfrm>
            <a:off x="3687775" y="1600200"/>
            <a:ext cx="2560320" cy="4206240"/>
          </a:xfrm>
          <a:prstGeom prst="roundRect">
            <a:avLst>
              <a:gd name="adj" fmla="val 6429"/>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14" name="icon circle"/>
          <p:cNvSpPr/>
          <p:nvPr/>
        </p:nvSpPr>
        <p:spPr>
          <a:xfrm>
            <a:off x="4465015" y="1965960"/>
            <a:ext cx="1005840" cy="1005840"/>
          </a:xfrm>
          <a:prstGeom prst="ellipse">
            <a:avLst/>
          </a:prstGeom>
          <a:solidFill>
            <a:srgbClr val="E2F5E9"/>
          </a:solidFill>
          <a:ln w="12700">
            <a:solidFill>
              <a:srgbClr val="E2F5E9"/>
            </a:solidFill>
            <a:prstDash val="solid"/>
          </a:ln>
        </p:spPr>
      </p:sp>
      <p:pic>
        <p:nvPicPr>
          <p:cNvPr id="15" name="Image 2" descr="FaTemperatureHalf">    </p:cNvPr>
          <p:cNvPicPr>
            <a:picLocks noChangeAspect="1"/>
          </p:cNvPicPr>
          <p:nvPr/>
        </p:nvPicPr>
        <p:blipFill>
          <a:blip r:embed="rId3"/>
          <a:stretch>
            <a:fillRect/>
          </a:stretch>
        </p:blipFill>
        <p:spPr>
          <a:xfrm>
            <a:off x="4706417" y="2207362"/>
            <a:ext cx="523037" cy="523037"/>
          </a:xfrm>
          <a:prstGeom prst="rect">
            <a:avLst/>
          </a:prstGeom>
        </p:spPr>
      </p:pic>
      <p:sp>
        <p:nvSpPr>
          <p:cNvPr id="16" name="Text 11"/>
          <p:cNvSpPr/>
          <p:nvPr/>
        </p:nvSpPr>
        <p:spPr>
          <a:xfrm>
            <a:off x="3824935" y="3154680"/>
            <a:ext cx="2286000" cy="548640"/>
          </a:xfrm>
          <a:prstGeom prst="rect">
            <a:avLst/>
          </a:prstGeom>
          <a:noFill/>
          <a:ln/>
        </p:spPr>
        <p:txBody>
          <a:bodyPr wrap="square" rtlCol="0" anchor="ctr"/>
          <a:lstStyle/>
          <a:p>
            <a:pPr rtl="1" algn="ctr" indent="0" marL="0">
              <a:buNone/>
            </a:pPr>
            <a:r>
              <a:rPr lang="en-US" sz="2000" b="1" dirty="0">
                <a:solidFill>
                  <a:schemeClr val="tx2"/>
                </a:solidFill>
              </a:rPr>
              <a:t>الحر والبرد والضوء</a:t>
            </a:r>
            <a:endParaRPr lang="en-US" sz="2000" dirty="0"/>
          </a:p>
        </p:txBody>
      </p:sp>
      <p:sp>
        <p:nvSpPr>
          <p:cNvPr id="17" name="Text 12"/>
          <p:cNvSpPr/>
          <p:nvPr/>
        </p:nvSpPr>
        <p:spPr>
          <a:xfrm>
            <a:off x="3870655" y="3749040"/>
            <a:ext cx="2194560" cy="1828800"/>
          </a:xfrm>
          <a:prstGeom prst="rect">
            <a:avLst/>
          </a:prstGeom>
          <a:noFill/>
          <a:ln/>
        </p:spPr>
        <p:txBody>
          <a:bodyPr wrap="square" rtlCol="0" anchor="t"/>
          <a:lstStyle/>
          <a:p>
            <a:pPr rtl="1" algn="r" indent="0" marL="0">
              <a:buNone/>
            </a:pPr>
            <a:r>
              <a:rPr lang="en-US" sz="1500" dirty="0">
                <a:solidFill>
                  <a:schemeClr val="tx1"/>
                </a:solidFill>
              </a:rPr>
              <a:t>تتأثر المحاصيل بالحرارة والإضاءة، ولكل محصول قيم مثالية مختلفة.</a:t>
            </a:r>
            <a:endParaRPr lang="en-US" sz="1500" dirty="0"/>
          </a:p>
        </p:txBody>
      </p:sp>
      <p:sp>
        <p:nvSpPr>
          <p:cNvPr id="18" name="problem card"/>
          <p:cNvSpPr/>
          <p:nvPr/>
        </p:nvSpPr>
        <p:spPr>
          <a:xfrm>
            <a:off x="990295" y="1600200"/>
            <a:ext cx="2560320" cy="4206240"/>
          </a:xfrm>
          <a:prstGeom prst="roundRect">
            <a:avLst>
              <a:gd name="adj" fmla="val 6429"/>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19" name="icon circle"/>
          <p:cNvSpPr/>
          <p:nvPr/>
        </p:nvSpPr>
        <p:spPr>
          <a:xfrm>
            <a:off x="1767535" y="1965960"/>
            <a:ext cx="1005840" cy="1005840"/>
          </a:xfrm>
          <a:prstGeom prst="ellipse">
            <a:avLst/>
          </a:prstGeom>
          <a:solidFill>
            <a:srgbClr val="E2F5E9"/>
          </a:solidFill>
          <a:ln w="12700">
            <a:solidFill>
              <a:srgbClr val="E2F5E9"/>
            </a:solidFill>
            <a:prstDash val="solid"/>
          </a:ln>
        </p:spPr>
      </p:sp>
      <p:pic>
        <p:nvPicPr>
          <p:cNvPr id="20" name="Image 3" descr="FaClock">    </p:cNvPr>
          <p:cNvPicPr>
            <a:picLocks noChangeAspect="1"/>
          </p:cNvPicPr>
          <p:nvPr/>
        </p:nvPicPr>
        <p:blipFill>
          <a:blip r:embed="rId4"/>
          <a:stretch>
            <a:fillRect/>
          </a:stretch>
        </p:blipFill>
        <p:spPr>
          <a:xfrm>
            <a:off x="2008937" y="2207362"/>
            <a:ext cx="523037" cy="523037"/>
          </a:xfrm>
          <a:prstGeom prst="rect">
            <a:avLst/>
          </a:prstGeom>
        </p:spPr>
      </p:pic>
      <p:sp>
        <p:nvSpPr>
          <p:cNvPr id="21" name="Text 15"/>
          <p:cNvSpPr/>
          <p:nvPr/>
        </p:nvSpPr>
        <p:spPr>
          <a:xfrm>
            <a:off x="1127455" y="3154680"/>
            <a:ext cx="2286000" cy="548640"/>
          </a:xfrm>
          <a:prstGeom prst="rect">
            <a:avLst/>
          </a:prstGeom>
          <a:noFill/>
          <a:ln/>
        </p:spPr>
        <p:txBody>
          <a:bodyPr wrap="square" rtlCol="0" anchor="ctr"/>
          <a:lstStyle/>
          <a:p>
            <a:pPr rtl="1" algn="ctr" indent="0" marL="0">
              <a:buNone/>
            </a:pPr>
            <a:r>
              <a:rPr lang="en-US" sz="2000" b="1" dirty="0">
                <a:solidFill>
                  <a:schemeClr val="tx2"/>
                </a:solidFill>
              </a:rPr>
              <a:t>صعوبة المتابعة</a:t>
            </a:r>
            <a:endParaRPr lang="en-US" sz="2000" dirty="0"/>
          </a:p>
        </p:txBody>
      </p:sp>
      <p:sp>
        <p:nvSpPr>
          <p:cNvPr id="22" name="Text 16"/>
          <p:cNvSpPr/>
          <p:nvPr/>
        </p:nvSpPr>
        <p:spPr>
          <a:xfrm>
            <a:off x="1173175" y="3749040"/>
            <a:ext cx="2194560" cy="1828800"/>
          </a:xfrm>
          <a:prstGeom prst="rect">
            <a:avLst/>
          </a:prstGeom>
          <a:noFill/>
          <a:ln/>
        </p:spPr>
        <p:txBody>
          <a:bodyPr wrap="square" rtlCol="0" anchor="t"/>
          <a:lstStyle/>
          <a:p>
            <a:pPr rtl="1" algn="r" indent="0" marL="0">
              <a:buNone/>
            </a:pPr>
            <a:r>
              <a:rPr lang="en-US" sz="1500" dirty="0">
                <a:solidFill>
                  <a:schemeClr val="tx1"/>
                </a:solidFill>
              </a:rPr>
              <a:t>متابعة عدة زراعات يومياً تحتاج وقتاً وخبرة، ولا توجد طريقة بسيطة وممتعة.</a:t>
            </a:r>
            <a:endParaRPr lang="en-US" sz="15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الحل: «ري» يجعل الزراعة تعبّر عن مشاعرها</a:t>
            </a:r>
            <a:endParaRPr lang="en-US" sz="3400" dirty="0"/>
          </a:p>
        </p:txBody>
      </p:sp>
      <p:pic>
        <p:nvPicPr>
          <p:cNvPr id="3" name="Image 0" descr="مكونات نظام ري">    </p:cNvPr>
          <p:cNvPicPr>
            <a:picLocks noChangeAspect="1"/>
          </p:cNvPicPr>
          <p:nvPr/>
        </p:nvPicPr>
        <p:blipFill>
          <a:blip r:embed="rId1"/>
          <a:stretch>
            <a:fillRect/>
          </a:stretch>
        </p:blipFill>
        <p:spPr>
          <a:xfrm>
            <a:off x="866826" y="1371600"/>
            <a:ext cx="10427869" cy="3931920"/>
          </a:xfrm>
          <a:prstGeom prst="rect">
            <a:avLst/>
          </a:prstGeom>
        </p:spPr>
      </p:pic>
      <p:sp>
        <p:nvSpPr>
          <p:cNvPr id="4" name="Text 1"/>
          <p:cNvSpPr/>
          <p:nvPr/>
        </p:nvSpPr>
        <p:spPr>
          <a:xfrm>
            <a:off x="548640" y="5486400"/>
            <a:ext cx="11064240" cy="640080"/>
          </a:xfrm>
          <a:prstGeom prst="rect">
            <a:avLst/>
          </a:prstGeom>
          <a:noFill/>
          <a:ln/>
        </p:spPr>
        <p:txBody>
          <a:bodyPr wrap="square" rtlCol="0" anchor="ctr"/>
          <a:lstStyle/>
          <a:p>
            <a:pPr rtl="1" algn="ctr" indent="0" marL="0">
              <a:buNone/>
            </a:pPr>
            <a:r>
              <a:rPr lang="en-US" sz="1800" b="1" dirty="0">
                <a:solidFill>
                  <a:schemeClr val="tx2"/>
                </a:solidFill>
              </a:rPr>
              <a:t>جهاز الاستشعار يقيس ويرسل  ←  الخادم يحفظ البيانات  ←  تطبيقا الويب والأندرويد يعرضان إيموجي كل زراعة</a:t>
            </a:r>
            <a:endParaRPr lang="en-US" sz="18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أهداف المشروع</a:t>
            </a:r>
            <a:endParaRPr lang="en-US" sz="3400" dirty="0"/>
          </a:p>
        </p:txBody>
      </p:sp>
      <p:sp>
        <p:nvSpPr>
          <p:cNvPr id="3" name="goal card"/>
          <p:cNvSpPr/>
          <p:nvPr/>
        </p:nvSpPr>
        <p:spPr>
          <a:xfrm>
            <a:off x="8076895" y="1463040"/>
            <a:ext cx="3520440" cy="2148840"/>
          </a:xfrm>
          <a:prstGeom prst="roundRect">
            <a:avLst>
              <a:gd name="adj" fmla="val 7660"/>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4" name="icon circle"/>
          <p:cNvSpPr/>
          <p:nvPr/>
        </p:nvSpPr>
        <p:spPr>
          <a:xfrm>
            <a:off x="10591495" y="1737360"/>
            <a:ext cx="777240" cy="777240"/>
          </a:xfrm>
          <a:prstGeom prst="ellipse">
            <a:avLst/>
          </a:prstGeom>
          <a:solidFill>
            <a:srgbClr val="2F9E5F"/>
          </a:solidFill>
          <a:ln w="12700">
            <a:solidFill>
              <a:srgbClr val="2F9E5F"/>
            </a:solidFill>
            <a:prstDash val="solid"/>
          </a:ln>
        </p:spPr>
      </p:sp>
      <p:pic>
        <p:nvPicPr>
          <p:cNvPr id="5" name="Image 0" descr="FaMicrochip">    </p:cNvPr>
          <p:cNvPicPr>
            <a:picLocks noChangeAspect="1"/>
          </p:cNvPicPr>
          <p:nvPr/>
        </p:nvPicPr>
        <p:blipFill>
          <a:blip r:embed="rId1"/>
          <a:stretch>
            <a:fillRect/>
          </a:stretch>
        </p:blipFill>
        <p:spPr>
          <a:xfrm>
            <a:off x="10778033" y="1923898"/>
            <a:ext cx="404165" cy="404165"/>
          </a:xfrm>
          <a:prstGeom prst="rect">
            <a:avLst/>
          </a:prstGeom>
        </p:spPr>
      </p:pic>
      <p:sp>
        <p:nvSpPr>
          <p:cNvPr id="6" name="Text 3"/>
          <p:cNvSpPr/>
          <p:nvPr/>
        </p:nvSpPr>
        <p:spPr>
          <a:xfrm>
            <a:off x="8259775" y="1783080"/>
            <a:ext cx="2240280" cy="548640"/>
          </a:xfrm>
          <a:prstGeom prst="rect">
            <a:avLst/>
          </a:prstGeom>
          <a:noFill/>
          <a:ln/>
        </p:spPr>
        <p:txBody>
          <a:bodyPr wrap="square" rtlCol="0" anchor="ctr"/>
          <a:lstStyle/>
          <a:p>
            <a:pPr rtl="1" algn="r" indent="0" marL="0">
              <a:buNone/>
            </a:pPr>
            <a:r>
              <a:rPr lang="en-US" sz="1900" b="1" dirty="0">
                <a:solidFill>
                  <a:schemeClr val="tx2"/>
                </a:solidFill>
              </a:rPr>
              <a:t>قياس تلقائي</a:t>
            </a:r>
            <a:endParaRPr lang="en-US" sz="1900" dirty="0"/>
          </a:p>
        </p:txBody>
      </p:sp>
      <p:sp>
        <p:nvSpPr>
          <p:cNvPr id="7" name="Text 4"/>
          <p:cNvSpPr/>
          <p:nvPr/>
        </p:nvSpPr>
        <p:spPr>
          <a:xfrm>
            <a:off x="8259775" y="2606040"/>
            <a:ext cx="3154680" cy="868680"/>
          </a:xfrm>
          <a:prstGeom prst="rect">
            <a:avLst/>
          </a:prstGeom>
          <a:noFill/>
          <a:ln/>
        </p:spPr>
        <p:txBody>
          <a:bodyPr wrap="square" rtlCol="0" anchor="t"/>
          <a:lstStyle/>
          <a:p>
            <a:pPr rtl="1" algn="r" indent="0" marL="0">
              <a:buNone/>
            </a:pPr>
            <a:r>
              <a:rPr lang="en-US" sz="1500" dirty="0">
                <a:solidFill>
                  <a:schemeClr val="tx1"/>
                </a:solidFill>
              </a:rPr>
              <a:t>رطوبة التربة والإضاءة والحرارة والرطوبة كل ثانيتين.</a:t>
            </a:r>
            <a:endParaRPr lang="en-US" sz="1500" dirty="0"/>
          </a:p>
        </p:txBody>
      </p:sp>
      <p:sp>
        <p:nvSpPr>
          <p:cNvPr id="8" name="goal card"/>
          <p:cNvSpPr/>
          <p:nvPr/>
        </p:nvSpPr>
        <p:spPr>
          <a:xfrm>
            <a:off x="4419295" y="1463040"/>
            <a:ext cx="3520440" cy="2148840"/>
          </a:xfrm>
          <a:prstGeom prst="roundRect">
            <a:avLst>
              <a:gd name="adj" fmla="val 7660"/>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9" name="icon circle"/>
          <p:cNvSpPr/>
          <p:nvPr/>
        </p:nvSpPr>
        <p:spPr>
          <a:xfrm>
            <a:off x="6933895" y="1737360"/>
            <a:ext cx="777240" cy="777240"/>
          </a:xfrm>
          <a:prstGeom prst="ellipse">
            <a:avLst/>
          </a:prstGeom>
          <a:solidFill>
            <a:srgbClr val="2F9E5F"/>
          </a:solidFill>
          <a:ln w="12700">
            <a:solidFill>
              <a:srgbClr val="2F9E5F"/>
            </a:solidFill>
            <a:prstDash val="solid"/>
          </a:ln>
        </p:spPr>
      </p:sp>
      <p:pic>
        <p:nvPicPr>
          <p:cNvPr id="10" name="Image 1" descr="FaFaceSmile">    </p:cNvPr>
          <p:cNvPicPr>
            <a:picLocks noChangeAspect="1"/>
          </p:cNvPicPr>
          <p:nvPr/>
        </p:nvPicPr>
        <p:blipFill>
          <a:blip r:embed="rId2"/>
          <a:stretch>
            <a:fillRect/>
          </a:stretch>
        </p:blipFill>
        <p:spPr>
          <a:xfrm>
            <a:off x="7120433" y="1923898"/>
            <a:ext cx="404165" cy="404165"/>
          </a:xfrm>
          <a:prstGeom prst="rect">
            <a:avLst/>
          </a:prstGeom>
        </p:spPr>
      </p:pic>
      <p:sp>
        <p:nvSpPr>
          <p:cNvPr id="11" name="Text 7"/>
          <p:cNvSpPr/>
          <p:nvPr/>
        </p:nvSpPr>
        <p:spPr>
          <a:xfrm>
            <a:off x="4602175" y="1783080"/>
            <a:ext cx="2240280" cy="548640"/>
          </a:xfrm>
          <a:prstGeom prst="rect">
            <a:avLst/>
          </a:prstGeom>
          <a:noFill/>
          <a:ln/>
        </p:spPr>
        <p:txBody>
          <a:bodyPr wrap="square" rtlCol="0" anchor="ctr"/>
          <a:lstStyle/>
          <a:p>
            <a:pPr rtl="1" algn="r" indent="0" marL="0">
              <a:buNone/>
            </a:pPr>
            <a:r>
              <a:rPr lang="en-US" sz="1900" b="1" dirty="0">
                <a:solidFill>
                  <a:schemeClr val="tx2"/>
                </a:solidFill>
              </a:rPr>
              <a:t>مشاعر بالإيموجي</a:t>
            </a:r>
            <a:endParaRPr lang="en-US" sz="1900" dirty="0"/>
          </a:p>
        </p:txBody>
      </p:sp>
      <p:sp>
        <p:nvSpPr>
          <p:cNvPr id="12" name="Text 8"/>
          <p:cNvSpPr/>
          <p:nvPr/>
        </p:nvSpPr>
        <p:spPr>
          <a:xfrm>
            <a:off x="4602175" y="2606040"/>
            <a:ext cx="3154680" cy="868680"/>
          </a:xfrm>
          <a:prstGeom prst="rect">
            <a:avLst/>
          </a:prstGeom>
          <a:noFill/>
          <a:ln/>
        </p:spPr>
        <p:txBody>
          <a:bodyPr wrap="square" rtlCol="0" anchor="t"/>
          <a:lstStyle/>
          <a:p>
            <a:pPr rtl="1" algn="r" indent="0" marL="0">
              <a:buNone/>
            </a:pPr>
            <a:r>
              <a:rPr lang="en-US" sz="1500" dirty="0">
                <a:solidFill>
                  <a:schemeClr val="tx1"/>
                </a:solidFill>
              </a:rPr>
              <a:t>سعيدة، عطشانة، حرّانة، بردانة، نائمة ... حسب نوع المحصول.</a:t>
            </a:r>
            <a:endParaRPr lang="en-US" sz="1500" dirty="0"/>
          </a:p>
        </p:txBody>
      </p:sp>
      <p:sp>
        <p:nvSpPr>
          <p:cNvPr id="13" name="goal card"/>
          <p:cNvSpPr/>
          <p:nvPr/>
        </p:nvSpPr>
        <p:spPr>
          <a:xfrm>
            <a:off x="761695" y="1463040"/>
            <a:ext cx="3520440" cy="2148840"/>
          </a:xfrm>
          <a:prstGeom prst="roundRect">
            <a:avLst>
              <a:gd name="adj" fmla="val 7660"/>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14" name="icon circle"/>
          <p:cNvSpPr/>
          <p:nvPr/>
        </p:nvSpPr>
        <p:spPr>
          <a:xfrm>
            <a:off x="3276295" y="1737360"/>
            <a:ext cx="777240" cy="777240"/>
          </a:xfrm>
          <a:prstGeom prst="ellipse">
            <a:avLst/>
          </a:prstGeom>
          <a:solidFill>
            <a:srgbClr val="2F9E5F"/>
          </a:solidFill>
          <a:ln w="12700">
            <a:solidFill>
              <a:srgbClr val="2F9E5F"/>
            </a:solidFill>
            <a:prstDash val="solid"/>
          </a:ln>
        </p:spPr>
      </p:sp>
      <p:pic>
        <p:nvPicPr>
          <p:cNvPr id="15" name="Image 2" descr="FaMusic">    </p:cNvPr>
          <p:cNvPicPr>
            <a:picLocks noChangeAspect="1"/>
          </p:cNvPicPr>
          <p:nvPr/>
        </p:nvPicPr>
        <p:blipFill>
          <a:blip r:embed="rId3"/>
          <a:stretch>
            <a:fillRect/>
          </a:stretch>
        </p:blipFill>
        <p:spPr>
          <a:xfrm>
            <a:off x="3462833" y="1923898"/>
            <a:ext cx="404165" cy="404165"/>
          </a:xfrm>
          <a:prstGeom prst="rect">
            <a:avLst/>
          </a:prstGeom>
        </p:spPr>
      </p:pic>
      <p:sp>
        <p:nvSpPr>
          <p:cNvPr id="16" name="Text 11"/>
          <p:cNvSpPr/>
          <p:nvPr/>
        </p:nvSpPr>
        <p:spPr>
          <a:xfrm>
            <a:off x="944575" y="1783080"/>
            <a:ext cx="2240280" cy="548640"/>
          </a:xfrm>
          <a:prstGeom prst="rect">
            <a:avLst/>
          </a:prstGeom>
          <a:noFill/>
          <a:ln/>
        </p:spPr>
        <p:txBody>
          <a:bodyPr wrap="square" rtlCol="0" anchor="ctr"/>
          <a:lstStyle/>
          <a:p>
            <a:pPr rtl="1" algn="r" indent="0" marL="0">
              <a:buNone/>
            </a:pPr>
            <a:r>
              <a:rPr lang="en-US" sz="1900" b="1" dirty="0">
                <a:solidFill>
                  <a:schemeClr val="tx2"/>
                </a:solidFill>
              </a:rPr>
              <a:t>تنبيه صوتي</a:t>
            </a:r>
            <a:endParaRPr lang="en-US" sz="1900" dirty="0"/>
          </a:p>
        </p:txBody>
      </p:sp>
      <p:sp>
        <p:nvSpPr>
          <p:cNvPr id="17" name="Text 12"/>
          <p:cNvSpPr/>
          <p:nvPr/>
        </p:nvSpPr>
        <p:spPr>
          <a:xfrm>
            <a:off x="944575" y="2606040"/>
            <a:ext cx="3154680" cy="868680"/>
          </a:xfrm>
          <a:prstGeom prst="rect">
            <a:avLst/>
          </a:prstGeom>
          <a:noFill/>
          <a:ln/>
        </p:spPr>
        <p:txBody>
          <a:bodyPr wrap="square" rtlCol="0" anchor="t"/>
          <a:lstStyle/>
          <a:p>
            <a:pPr rtl="1" algn="r" indent="0" marL="0">
              <a:buNone/>
            </a:pPr>
            <a:r>
              <a:rPr lang="en-US" sz="1500" dirty="0">
                <a:solidFill>
                  <a:schemeClr val="tx1"/>
                </a:solidFill>
              </a:rPr>
              <a:t>نغمة لكل شعور مع كتم الصوت وساعات الهدوء.</a:t>
            </a:r>
            <a:endParaRPr lang="en-US" sz="1500" dirty="0"/>
          </a:p>
        </p:txBody>
      </p:sp>
      <p:sp>
        <p:nvSpPr>
          <p:cNvPr id="18" name="goal card"/>
          <p:cNvSpPr/>
          <p:nvPr/>
        </p:nvSpPr>
        <p:spPr>
          <a:xfrm>
            <a:off x="8076895" y="3840480"/>
            <a:ext cx="3520440" cy="2148840"/>
          </a:xfrm>
          <a:prstGeom prst="roundRect">
            <a:avLst>
              <a:gd name="adj" fmla="val 7660"/>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19" name="icon circle"/>
          <p:cNvSpPr/>
          <p:nvPr/>
        </p:nvSpPr>
        <p:spPr>
          <a:xfrm>
            <a:off x="10591495" y="4114800"/>
            <a:ext cx="777240" cy="777240"/>
          </a:xfrm>
          <a:prstGeom prst="ellipse">
            <a:avLst/>
          </a:prstGeom>
          <a:solidFill>
            <a:srgbClr val="2F9E5F"/>
          </a:solidFill>
          <a:ln w="12700">
            <a:solidFill>
              <a:srgbClr val="2F9E5F"/>
            </a:solidFill>
            <a:prstDash val="solid"/>
          </a:ln>
        </p:spPr>
      </p:sp>
      <p:pic>
        <p:nvPicPr>
          <p:cNvPr id="20" name="Image 3" descr="FaLeaf">    </p:cNvPr>
          <p:cNvPicPr>
            <a:picLocks noChangeAspect="1"/>
          </p:cNvPicPr>
          <p:nvPr/>
        </p:nvPicPr>
        <p:blipFill>
          <a:blip r:embed="rId4"/>
          <a:stretch>
            <a:fillRect/>
          </a:stretch>
        </p:blipFill>
        <p:spPr>
          <a:xfrm>
            <a:off x="10778033" y="4301338"/>
            <a:ext cx="404165" cy="404165"/>
          </a:xfrm>
          <a:prstGeom prst="rect">
            <a:avLst/>
          </a:prstGeom>
        </p:spPr>
      </p:pic>
      <p:sp>
        <p:nvSpPr>
          <p:cNvPr id="21" name="Text 15"/>
          <p:cNvSpPr/>
          <p:nvPr/>
        </p:nvSpPr>
        <p:spPr>
          <a:xfrm>
            <a:off x="8259775" y="4160520"/>
            <a:ext cx="2240280" cy="548640"/>
          </a:xfrm>
          <a:prstGeom prst="rect">
            <a:avLst/>
          </a:prstGeom>
          <a:noFill/>
          <a:ln/>
        </p:spPr>
        <p:txBody>
          <a:bodyPr wrap="square" rtlCol="0" anchor="ctr"/>
          <a:lstStyle/>
          <a:p>
            <a:pPr rtl="1" algn="r" indent="0" marL="0">
              <a:buNone/>
            </a:pPr>
            <a:r>
              <a:rPr lang="en-US" sz="1900" b="1" dirty="0">
                <a:solidFill>
                  <a:schemeClr val="tx2"/>
                </a:solidFill>
              </a:rPr>
              <a:t>زراعات متعددة</a:t>
            </a:r>
            <a:endParaRPr lang="en-US" sz="1900" dirty="0"/>
          </a:p>
        </p:txBody>
      </p:sp>
      <p:sp>
        <p:nvSpPr>
          <p:cNvPr id="22" name="Text 16"/>
          <p:cNvSpPr/>
          <p:nvPr/>
        </p:nvSpPr>
        <p:spPr>
          <a:xfrm>
            <a:off x="8259775" y="4983480"/>
            <a:ext cx="3154680" cy="868680"/>
          </a:xfrm>
          <a:prstGeom prst="rect">
            <a:avLst/>
          </a:prstGeom>
          <a:noFill/>
          <a:ln/>
        </p:spPr>
        <p:txBody>
          <a:bodyPr wrap="square" rtlCol="0" anchor="t"/>
          <a:lstStyle/>
          <a:p>
            <a:pPr rtl="1" algn="r" indent="0" marL="0">
              <a:buNone/>
            </a:pPr>
            <a:r>
              <a:rPr lang="en-US" sz="1500" dirty="0">
                <a:solidFill>
                  <a:schemeClr val="tx1"/>
                </a:solidFill>
              </a:rPr>
              <a:t>12 نوع محصول بقيم مثالية جاهزة وقابلة للتعديل.</a:t>
            </a:r>
            <a:endParaRPr lang="en-US" sz="1500" dirty="0"/>
          </a:p>
        </p:txBody>
      </p:sp>
      <p:sp>
        <p:nvSpPr>
          <p:cNvPr id="23" name="goal card"/>
          <p:cNvSpPr/>
          <p:nvPr/>
        </p:nvSpPr>
        <p:spPr>
          <a:xfrm>
            <a:off x="4419295" y="3840480"/>
            <a:ext cx="3520440" cy="2148840"/>
          </a:xfrm>
          <a:prstGeom prst="roundRect">
            <a:avLst>
              <a:gd name="adj" fmla="val 7660"/>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24" name="icon circle"/>
          <p:cNvSpPr/>
          <p:nvPr/>
        </p:nvSpPr>
        <p:spPr>
          <a:xfrm>
            <a:off x="6933895" y="4114800"/>
            <a:ext cx="777240" cy="777240"/>
          </a:xfrm>
          <a:prstGeom prst="ellipse">
            <a:avLst/>
          </a:prstGeom>
          <a:solidFill>
            <a:srgbClr val="2F9E5F"/>
          </a:solidFill>
          <a:ln w="12700">
            <a:solidFill>
              <a:srgbClr val="2F9E5F"/>
            </a:solidFill>
            <a:prstDash val="solid"/>
          </a:ln>
        </p:spPr>
      </p:sp>
      <p:pic>
        <p:nvPicPr>
          <p:cNvPr id="25" name="Image 4" descr="FaArrowRightArrowLeft">    </p:cNvPr>
          <p:cNvPicPr>
            <a:picLocks noChangeAspect="1"/>
          </p:cNvPicPr>
          <p:nvPr/>
        </p:nvPicPr>
        <p:blipFill>
          <a:blip r:embed="rId5"/>
          <a:stretch>
            <a:fillRect/>
          </a:stretch>
        </p:blipFill>
        <p:spPr>
          <a:xfrm>
            <a:off x="7120433" y="4301338"/>
            <a:ext cx="404165" cy="404165"/>
          </a:xfrm>
          <a:prstGeom prst="rect">
            <a:avLst/>
          </a:prstGeom>
        </p:spPr>
      </p:pic>
      <p:sp>
        <p:nvSpPr>
          <p:cNvPr id="26" name="Text 19"/>
          <p:cNvSpPr/>
          <p:nvPr/>
        </p:nvSpPr>
        <p:spPr>
          <a:xfrm>
            <a:off x="4602175" y="4160520"/>
            <a:ext cx="2240280" cy="548640"/>
          </a:xfrm>
          <a:prstGeom prst="rect">
            <a:avLst/>
          </a:prstGeom>
          <a:noFill/>
          <a:ln/>
        </p:spPr>
        <p:txBody>
          <a:bodyPr wrap="square" rtlCol="0" anchor="ctr"/>
          <a:lstStyle/>
          <a:p>
            <a:pPr rtl="1" algn="r" indent="0" marL="0">
              <a:buNone/>
            </a:pPr>
            <a:r>
              <a:rPr lang="en-US" sz="1900" b="1" dirty="0">
                <a:solidFill>
                  <a:schemeClr val="tx2"/>
                </a:solidFill>
              </a:rPr>
              <a:t>جهاز متنقل</a:t>
            </a:r>
            <a:endParaRPr lang="en-US" sz="1900" dirty="0"/>
          </a:p>
        </p:txBody>
      </p:sp>
      <p:sp>
        <p:nvSpPr>
          <p:cNvPr id="27" name="Text 20"/>
          <p:cNvSpPr/>
          <p:nvPr/>
        </p:nvSpPr>
        <p:spPr>
          <a:xfrm>
            <a:off x="4602175" y="4983480"/>
            <a:ext cx="3154680" cy="868680"/>
          </a:xfrm>
          <a:prstGeom prst="rect">
            <a:avLst/>
          </a:prstGeom>
          <a:noFill/>
          <a:ln/>
        </p:spPr>
        <p:txBody>
          <a:bodyPr wrap="square" rtlCol="0" anchor="t"/>
          <a:lstStyle/>
          <a:p>
            <a:pPr rtl="1" algn="r" indent="0" marL="0">
              <a:buNone/>
            </a:pPr>
            <a:r>
              <a:rPr lang="en-US" sz="1500" dirty="0">
                <a:solidFill>
                  <a:schemeClr val="tx1"/>
                </a:solidFill>
              </a:rPr>
              <a:t>نقل الجهاز بين الزراعات مع حفظ سجل كل زراعة.</a:t>
            </a:r>
            <a:endParaRPr lang="en-US" sz="1500" dirty="0"/>
          </a:p>
        </p:txBody>
      </p:sp>
      <p:sp>
        <p:nvSpPr>
          <p:cNvPr id="28" name="goal card"/>
          <p:cNvSpPr/>
          <p:nvPr/>
        </p:nvSpPr>
        <p:spPr>
          <a:xfrm>
            <a:off x="761695" y="3840480"/>
            <a:ext cx="3520440" cy="2148840"/>
          </a:xfrm>
          <a:prstGeom prst="roundRect">
            <a:avLst>
              <a:gd name="adj" fmla="val 7660"/>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29" name="icon circle"/>
          <p:cNvSpPr/>
          <p:nvPr/>
        </p:nvSpPr>
        <p:spPr>
          <a:xfrm>
            <a:off x="3276295" y="4114800"/>
            <a:ext cx="777240" cy="777240"/>
          </a:xfrm>
          <a:prstGeom prst="ellipse">
            <a:avLst/>
          </a:prstGeom>
          <a:solidFill>
            <a:srgbClr val="2F9E5F"/>
          </a:solidFill>
          <a:ln w="12700">
            <a:solidFill>
              <a:srgbClr val="2F9E5F"/>
            </a:solidFill>
            <a:prstDash val="solid"/>
          </a:ln>
        </p:spPr>
      </p:sp>
      <p:pic>
        <p:nvPicPr>
          <p:cNvPr id="30" name="Image 5" descr="FaUsers">    </p:cNvPr>
          <p:cNvPicPr>
            <a:picLocks noChangeAspect="1"/>
          </p:cNvPicPr>
          <p:nvPr/>
        </p:nvPicPr>
        <p:blipFill>
          <a:blip r:embed="rId6"/>
          <a:stretch>
            <a:fillRect/>
          </a:stretch>
        </p:blipFill>
        <p:spPr>
          <a:xfrm>
            <a:off x="3462833" y="4301338"/>
            <a:ext cx="404165" cy="404165"/>
          </a:xfrm>
          <a:prstGeom prst="rect">
            <a:avLst/>
          </a:prstGeom>
        </p:spPr>
      </p:pic>
      <p:sp>
        <p:nvSpPr>
          <p:cNvPr id="31" name="Text 23"/>
          <p:cNvSpPr/>
          <p:nvPr/>
        </p:nvSpPr>
        <p:spPr>
          <a:xfrm>
            <a:off x="944575" y="4160520"/>
            <a:ext cx="2240280" cy="548640"/>
          </a:xfrm>
          <a:prstGeom prst="rect">
            <a:avLst/>
          </a:prstGeom>
          <a:noFill/>
          <a:ln/>
        </p:spPr>
        <p:txBody>
          <a:bodyPr wrap="square" rtlCol="0" anchor="ctr"/>
          <a:lstStyle/>
          <a:p>
            <a:pPr rtl="1" algn="r" indent="0" marL="0">
              <a:buNone/>
            </a:pPr>
            <a:r>
              <a:rPr lang="en-US" sz="1900" b="1" dirty="0">
                <a:solidFill>
                  <a:schemeClr val="tx2"/>
                </a:solidFill>
              </a:rPr>
              <a:t>حسابات وصلاحيات</a:t>
            </a:r>
            <a:endParaRPr lang="en-US" sz="1900" dirty="0"/>
          </a:p>
        </p:txBody>
      </p:sp>
      <p:sp>
        <p:nvSpPr>
          <p:cNvPr id="32" name="Text 24"/>
          <p:cNvSpPr/>
          <p:nvPr/>
        </p:nvSpPr>
        <p:spPr>
          <a:xfrm>
            <a:off x="944575" y="4983480"/>
            <a:ext cx="3154680" cy="868680"/>
          </a:xfrm>
          <a:prstGeom prst="rect">
            <a:avLst/>
          </a:prstGeom>
          <a:noFill/>
          <a:ln/>
        </p:spPr>
        <p:txBody>
          <a:bodyPr wrap="square" rtlCol="0" anchor="t"/>
          <a:lstStyle/>
          <a:p>
            <a:pPr rtl="1" algn="r" indent="0" marL="0">
              <a:buNone/>
            </a:pPr>
            <a:r>
              <a:rPr lang="en-US" sz="1500" dirty="0">
                <a:solidFill>
                  <a:schemeClr val="tx1"/>
                </a:solidFill>
              </a:rPr>
              <a:t>إنشاء حساب من الويب والأندرويد، ومدير للمستخدمين.</a:t>
            </a:r>
            <a:endParaRPr lang="en-US" sz="15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الفئة المستهدفة</a:t>
            </a:r>
            <a:endParaRPr lang="en-US" sz="3400" dirty="0"/>
          </a:p>
        </p:txBody>
      </p:sp>
      <p:sp>
        <p:nvSpPr>
          <p:cNvPr id="3" name="icon circle"/>
          <p:cNvSpPr/>
          <p:nvPr/>
        </p:nvSpPr>
        <p:spPr>
          <a:xfrm>
            <a:off x="9905695" y="1920240"/>
            <a:ext cx="1280160" cy="1280160"/>
          </a:xfrm>
          <a:prstGeom prst="ellipse">
            <a:avLst/>
          </a:prstGeom>
          <a:solidFill>
            <a:srgbClr val="2F9E5F"/>
          </a:solidFill>
          <a:ln w="12700">
            <a:solidFill>
              <a:srgbClr val="2F9E5F"/>
            </a:solidFill>
            <a:prstDash val="solid"/>
          </a:ln>
        </p:spPr>
      </p:sp>
      <p:pic>
        <p:nvPicPr>
          <p:cNvPr id="4" name="Image 0" descr="FaTractor">    </p:cNvPr>
          <p:cNvPicPr>
            <a:picLocks noChangeAspect="1"/>
          </p:cNvPicPr>
          <p:nvPr/>
        </p:nvPicPr>
        <p:blipFill>
          <a:blip r:embed="rId1"/>
          <a:stretch>
            <a:fillRect/>
          </a:stretch>
        </p:blipFill>
        <p:spPr>
          <a:xfrm>
            <a:off x="10212934" y="2227478"/>
            <a:ext cx="665683" cy="665683"/>
          </a:xfrm>
          <a:prstGeom prst="rect">
            <a:avLst/>
          </a:prstGeom>
        </p:spPr>
      </p:pic>
      <p:sp>
        <p:nvSpPr>
          <p:cNvPr id="5" name="Text 2"/>
          <p:cNvSpPr/>
          <p:nvPr/>
        </p:nvSpPr>
        <p:spPr>
          <a:xfrm>
            <a:off x="9485071" y="3383280"/>
            <a:ext cx="2103120" cy="822960"/>
          </a:xfrm>
          <a:prstGeom prst="rect">
            <a:avLst/>
          </a:prstGeom>
          <a:noFill/>
          <a:ln/>
        </p:spPr>
        <p:txBody>
          <a:bodyPr wrap="square" rtlCol="0" anchor="ctr"/>
          <a:lstStyle/>
          <a:p>
            <a:pPr rtl="1" algn="ctr" indent="0" marL="0">
              <a:buNone/>
            </a:pPr>
            <a:r>
              <a:rPr lang="en-US" sz="1800" b="1" dirty="0">
                <a:solidFill>
                  <a:schemeClr val="tx2"/>
                </a:solidFill>
              </a:rPr>
              <a:t>المزارعون والبيوت المحمية</a:t>
            </a:r>
            <a:endParaRPr lang="en-US" sz="1800" dirty="0"/>
          </a:p>
        </p:txBody>
      </p:sp>
      <p:sp>
        <p:nvSpPr>
          <p:cNvPr id="6" name="icon circle"/>
          <p:cNvSpPr/>
          <p:nvPr/>
        </p:nvSpPr>
        <p:spPr>
          <a:xfrm>
            <a:off x="7692847" y="1920240"/>
            <a:ext cx="1280160" cy="1280160"/>
          </a:xfrm>
          <a:prstGeom prst="ellipse">
            <a:avLst/>
          </a:prstGeom>
          <a:solidFill>
            <a:srgbClr val="E2F5E9"/>
          </a:solidFill>
          <a:ln w="12700">
            <a:solidFill>
              <a:srgbClr val="E2F5E9"/>
            </a:solidFill>
            <a:prstDash val="solid"/>
          </a:ln>
        </p:spPr>
      </p:sp>
      <p:pic>
        <p:nvPicPr>
          <p:cNvPr id="7" name="Image 1" descr="FaSchool">    </p:cNvPr>
          <p:cNvPicPr>
            <a:picLocks noChangeAspect="1"/>
          </p:cNvPicPr>
          <p:nvPr/>
        </p:nvPicPr>
        <p:blipFill>
          <a:blip r:embed="rId2"/>
          <a:stretch>
            <a:fillRect/>
          </a:stretch>
        </p:blipFill>
        <p:spPr>
          <a:xfrm>
            <a:off x="8000086" y="2227478"/>
            <a:ext cx="665683" cy="665683"/>
          </a:xfrm>
          <a:prstGeom prst="rect">
            <a:avLst/>
          </a:prstGeom>
        </p:spPr>
      </p:pic>
      <p:sp>
        <p:nvSpPr>
          <p:cNvPr id="8" name="Text 4"/>
          <p:cNvSpPr/>
          <p:nvPr/>
        </p:nvSpPr>
        <p:spPr>
          <a:xfrm>
            <a:off x="7272223" y="3383280"/>
            <a:ext cx="2103120" cy="822960"/>
          </a:xfrm>
          <a:prstGeom prst="rect">
            <a:avLst/>
          </a:prstGeom>
          <a:noFill/>
          <a:ln/>
        </p:spPr>
        <p:txBody>
          <a:bodyPr wrap="square" rtlCol="0" anchor="ctr"/>
          <a:lstStyle/>
          <a:p>
            <a:pPr rtl="1" algn="ctr" indent="0" marL="0">
              <a:buNone/>
            </a:pPr>
            <a:r>
              <a:rPr lang="en-US" sz="1800" b="1" dirty="0">
                <a:solidFill>
                  <a:schemeClr val="tx2"/>
                </a:solidFill>
              </a:rPr>
              <a:t>الطلاب والمدارس</a:t>
            </a:r>
            <a:endParaRPr lang="en-US" sz="1800" dirty="0"/>
          </a:p>
        </p:txBody>
      </p:sp>
      <p:sp>
        <p:nvSpPr>
          <p:cNvPr id="9" name="icon circle"/>
          <p:cNvSpPr/>
          <p:nvPr/>
        </p:nvSpPr>
        <p:spPr>
          <a:xfrm>
            <a:off x="5479999" y="1920240"/>
            <a:ext cx="1280160" cy="1280160"/>
          </a:xfrm>
          <a:prstGeom prst="ellipse">
            <a:avLst/>
          </a:prstGeom>
          <a:solidFill>
            <a:srgbClr val="2F9E5F"/>
          </a:solidFill>
          <a:ln w="12700">
            <a:solidFill>
              <a:srgbClr val="2F9E5F"/>
            </a:solidFill>
            <a:prstDash val="solid"/>
          </a:ln>
        </p:spPr>
      </p:sp>
      <p:pic>
        <p:nvPicPr>
          <p:cNvPr id="10" name="Image 2" descr="FaHouse">    </p:cNvPr>
          <p:cNvPicPr>
            <a:picLocks noChangeAspect="1"/>
          </p:cNvPicPr>
          <p:nvPr/>
        </p:nvPicPr>
        <p:blipFill>
          <a:blip r:embed="rId3"/>
          <a:stretch>
            <a:fillRect/>
          </a:stretch>
        </p:blipFill>
        <p:spPr>
          <a:xfrm>
            <a:off x="5787238" y="2227478"/>
            <a:ext cx="665683" cy="665683"/>
          </a:xfrm>
          <a:prstGeom prst="rect">
            <a:avLst/>
          </a:prstGeom>
        </p:spPr>
      </p:pic>
      <p:sp>
        <p:nvSpPr>
          <p:cNvPr id="11" name="Text 6"/>
          <p:cNvSpPr/>
          <p:nvPr/>
        </p:nvSpPr>
        <p:spPr>
          <a:xfrm>
            <a:off x="5059375" y="3383280"/>
            <a:ext cx="2103120" cy="822960"/>
          </a:xfrm>
          <a:prstGeom prst="rect">
            <a:avLst/>
          </a:prstGeom>
          <a:noFill/>
          <a:ln/>
        </p:spPr>
        <p:txBody>
          <a:bodyPr wrap="square" rtlCol="0" anchor="ctr"/>
          <a:lstStyle/>
          <a:p>
            <a:pPr rtl="1" algn="ctr" indent="0" marL="0">
              <a:buNone/>
            </a:pPr>
            <a:r>
              <a:rPr lang="en-US" sz="1800" b="1" dirty="0">
                <a:solidFill>
                  <a:schemeClr val="tx2"/>
                </a:solidFill>
              </a:rPr>
              <a:t>الأسر والحدائق المنزلية</a:t>
            </a:r>
            <a:endParaRPr lang="en-US" sz="1800" dirty="0"/>
          </a:p>
        </p:txBody>
      </p:sp>
      <p:sp>
        <p:nvSpPr>
          <p:cNvPr id="12" name="icon circle"/>
          <p:cNvSpPr/>
          <p:nvPr/>
        </p:nvSpPr>
        <p:spPr>
          <a:xfrm>
            <a:off x="3267151" y="1920240"/>
            <a:ext cx="1280160" cy="1280160"/>
          </a:xfrm>
          <a:prstGeom prst="ellipse">
            <a:avLst/>
          </a:prstGeom>
          <a:solidFill>
            <a:srgbClr val="E2F5E9"/>
          </a:solidFill>
          <a:ln w="12700">
            <a:solidFill>
              <a:srgbClr val="E2F5E9"/>
            </a:solidFill>
            <a:prstDash val="solid"/>
          </a:ln>
        </p:spPr>
      </p:sp>
      <p:pic>
        <p:nvPicPr>
          <p:cNvPr id="13" name="Image 3" descr="FaBuilding">    </p:cNvPr>
          <p:cNvPicPr>
            <a:picLocks noChangeAspect="1"/>
          </p:cNvPicPr>
          <p:nvPr/>
        </p:nvPicPr>
        <p:blipFill>
          <a:blip r:embed="rId4"/>
          <a:stretch>
            <a:fillRect/>
          </a:stretch>
        </p:blipFill>
        <p:spPr>
          <a:xfrm>
            <a:off x="3574390" y="2227478"/>
            <a:ext cx="665683" cy="665683"/>
          </a:xfrm>
          <a:prstGeom prst="rect">
            <a:avLst/>
          </a:prstGeom>
        </p:spPr>
      </p:pic>
      <p:sp>
        <p:nvSpPr>
          <p:cNvPr id="14" name="Text 8"/>
          <p:cNvSpPr/>
          <p:nvPr/>
        </p:nvSpPr>
        <p:spPr>
          <a:xfrm>
            <a:off x="2846527" y="3383280"/>
            <a:ext cx="2103120" cy="822960"/>
          </a:xfrm>
          <a:prstGeom prst="rect">
            <a:avLst/>
          </a:prstGeom>
          <a:noFill/>
          <a:ln/>
        </p:spPr>
        <p:txBody>
          <a:bodyPr wrap="square" rtlCol="0" anchor="ctr"/>
          <a:lstStyle/>
          <a:p>
            <a:pPr rtl="1" algn="ctr" indent="0" marL="0">
              <a:buNone/>
            </a:pPr>
            <a:r>
              <a:rPr lang="en-US" sz="1800" b="1" dirty="0">
                <a:solidFill>
                  <a:schemeClr val="tx2"/>
                </a:solidFill>
              </a:rPr>
              <a:t>المكاتب والمؤسسات</a:t>
            </a:r>
            <a:endParaRPr lang="en-US" sz="1800" dirty="0"/>
          </a:p>
        </p:txBody>
      </p:sp>
      <p:sp>
        <p:nvSpPr>
          <p:cNvPr id="15" name="icon circle"/>
          <p:cNvSpPr/>
          <p:nvPr/>
        </p:nvSpPr>
        <p:spPr>
          <a:xfrm>
            <a:off x="1054303" y="1920240"/>
            <a:ext cx="1280160" cy="1280160"/>
          </a:xfrm>
          <a:prstGeom prst="ellipse">
            <a:avLst/>
          </a:prstGeom>
          <a:solidFill>
            <a:srgbClr val="2F9E5F"/>
          </a:solidFill>
          <a:ln w="12700">
            <a:solidFill>
              <a:srgbClr val="2F9E5F"/>
            </a:solidFill>
            <a:prstDash val="solid"/>
          </a:ln>
        </p:spPr>
      </p:sp>
      <p:pic>
        <p:nvPicPr>
          <p:cNvPr id="16" name="Image 4" descr="FaSeedling">    </p:cNvPr>
          <p:cNvPicPr>
            <a:picLocks noChangeAspect="1"/>
          </p:cNvPicPr>
          <p:nvPr/>
        </p:nvPicPr>
        <p:blipFill>
          <a:blip r:embed="rId5"/>
          <a:stretch>
            <a:fillRect/>
          </a:stretch>
        </p:blipFill>
        <p:spPr>
          <a:xfrm>
            <a:off x="1361542" y="2227478"/>
            <a:ext cx="665683" cy="665683"/>
          </a:xfrm>
          <a:prstGeom prst="rect">
            <a:avLst/>
          </a:prstGeom>
        </p:spPr>
      </p:pic>
      <p:sp>
        <p:nvSpPr>
          <p:cNvPr id="17" name="Text 10"/>
          <p:cNvSpPr/>
          <p:nvPr/>
        </p:nvSpPr>
        <p:spPr>
          <a:xfrm>
            <a:off x="633679" y="3383280"/>
            <a:ext cx="2103120" cy="822960"/>
          </a:xfrm>
          <a:prstGeom prst="rect">
            <a:avLst/>
          </a:prstGeom>
          <a:noFill/>
          <a:ln/>
        </p:spPr>
        <p:txBody>
          <a:bodyPr wrap="square" rtlCol="0" anchor="ctr"/>
          <a:lstStyle/>
          <a:p>
            <a:pPr rtl="1" algn="ctr" indent="0" marL="0">
              <a:buNone/>
            </a:pPr>
            <a:r>
              <a:rPr lang="en-US" sz="1800" b="1" dirty="0">
                <a:solidFill>
                  <a:schemeClr val="tx2"/>
                </a:solidFill>
              </a:rPr>
              <a:t>المهتمون بالاستدامة</a:t>
            </a:r>
            <a:endParaRPr lang="en-US" sz="1800" dirty="0"/>
          </a:p>
        </p:txBody>
      </p:sp>
      <p:sp>
        <p:nvSpPr>
          <p:cNvPr id="18" name="Text 11"/>
          <p:cNvSpPr/>
          <p:nvPr/>
        </p:nvSpPr>
        <p:spPr>
          <a:xfrm>
            <a:off x="1371600" y="4846320"/>
            <a:ext cx="9418320" cy="640080"/>
          </a:xfrm>
          <a:prstGeom prst="rect">
            <a:avLst/>
          </a:prstGeom>
          <a:noFill/>
          <a:ln/>
        </p:spPr>
        <p:txBody>
          <a:bodyPr wrap="square" rtlCol="0" anchor="ctr"/>
          <a:lstStyle/>
          <a:p>
            <a:pPr rtl="1" algn="ctr" indent="0" marL="0">
              <a:buNone/>
            </a:pPr>
            <a:r>
              <a:rPr lang="en-US" sz="2000" i="1" dirty="0">
                <a:solidFill>
                  <a:srgbClr val="1E6B43"/>
                </a:solidFill>
              </a:rPr>
              <a:t>واجهة بسيطة بالإيموجي تناسب الجميع، بالعربية والإنجليزية، على الحاسب والجوال</a:t>
            </a:r>
            <a:endParaRPr lang="en-US" sz="20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المكونات المادية وتوصيلها</a:t>
            </a:r>
            <a:endParaRPr lang="en-US" sz="3400" dirty="0"/>
          </a:p>
        </p:txBody>
      </p:sp>
      <p:pic>
        <p:nvPicPr>
          <p:cNvPr id="3" name="Image 0" descr="مخطط التوصيل">    </p:cNvPr>
          <p:cNvPicPr>
            <a:picLocks noChangeAspect="1"/>
          </p:cNvPicPr>
          <p:nvPr/>
        </p:nvPicPr>
        <p:blipFill>
          <a:blip r:embed="rId1"/>
          <a:stretch>
            <a:fillRect/>
          </a:stretch>
        </p:blipFill>
        <p:spPr>
          <a:xfrm>
            <a:off x="457200" y="1771122"/>
            <a:ext cx="6766560" cy="3955835"/>
          </a:xfrm>
          <a:prstGeom prst="rect">
            <a:avLst/>
          </a:prstGeom>
        </p:spPr>
      </p:pic>
      <p:sp>
        <p:nvSpPr>
          <p:cNvPr id="4" name="part card"/>
          <p:cNvSpPr/>
          <p:nvPr/>
        </p:nvSpPr>
        <p:spPr>
          <a:xfrm>
            <a:off x="9402775" y="1371600"/>
            <a:ext cx="2240280" cy="1508760"/>
          </a:xfrm>
          <a:prstGeom prst="roundRect">
            <a:avLst>
              <a:gd name="adj" fmla="val 10909"/>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pic>
        <p:nvPicPr>
          <p:cNvPr id="5" name="Image 1" descr="ESP32 DevKit V1">    </p:cNvPr>
          <p:cNvPicPr>
            <a:picLocks noChangeAspect="1"/>
          </p:cNvPicPr>
          <p:nvPr/>
        </p:nvPicPr>
        <p:blipFill>
          <a:blip r:embed="rId2"/>
          <a:stretch>
            <a:fillRect/>
          </a:stretch>
        </p:blipFill>
        <p:spPr>
          <a:xfrm>
            <a:off x="10591495" y="1536192"/>
            <a:ext cx="914400" cy="609600"/>
          </a:xfrm>
          <a:prstGeom prst="rect">
            <a:avLst/>
          </a:prstGeom>
        </p:spPr>
      </p:pic>
      <p:sp>
        <p:nvSpPr>
          <p:cNvPr id="6" name="Text 2"/>
          <p:cNvSpPr/>
          <p:nvPr/>
        </p:nvSpPr>
        <p:spPr>
          <a:xfrm>
            <a:off x="9494215" y="1481328"/>
            <a:ext cx="1143000" cy="685800"/>
          </a:xfrm>
          <a:prstGeom prst="rect">
            <a:avLst/>
          </a:prstGeom>
          <a:noFill/>
          <a:ln/>
        </p:spPr>
        <p:txBody>
          <a:bodyPr wrap="square" rtlCol="0" anchor="t"/>
          <a:lstStyle/>
          <a:p>
            <a:pPr rtl="1" algn="r" indent="0" marL="0">
              <a:buNone/>
            </a:pPr>
            <a:r>
              <a:rPr lang="en-US" sz="1250" b="1" dirty="0">
                <a:solidFill>
                  <a:schemeClr val="tx2"/>
                </a:solidFill>
              </a:rPr>
              <a:t>ESP32 DevKit V1</a:t>
            </a:r>
            <a:endParaRPr lang="en-US" sz="1250" dirty="0"/>
          </a:p>
        </p:txBody>
      </p:sp>
      <p:sp>
        <p:nvSpPr>
          <p:cNvPr id="7" name="Text 3"/>
          <p:cNvSpPr/>
          <p:nvPr/>
        </p:nvSpPr>
        <p:spPr>
          <a:xfrm>
            <a:off x="9494215" y="2286000"/>
            <a:ext cx="2057400" cy="457200"/>
          </a:xfrm>
          <a:prstGeom prst="rect">
            <a:avLst/>
          </a:prstGeom>
          <a:noFill/>
          <a:ln/>
        </p:spPr>
        <p:txBody>
          <a:bodyPr wrap="square" rtlCol="0" anchor="ctr"/>
          <a:lstStyle/>
          <a:p>
            <a:pPr rtl="1" algn="r" indent="0" marL="0">
              <a:buNone/>
            </a:pPr>
            <a:r>
              <a:rPr lang="en-US" sz="1150" dirty="0">
                <a:solidFill>
                  <a:srgbClr val="5B6B61"/>
                </a:solidFill>
              </a:rPr>
              <a:t>المتحكم والاتصال بـ Wi-Fi</a:t>
            </a:r>
            <a:endParaRPr lang="en-US" sz="1150" dirty="0"/>
          </a:p>
        </p:txBody>
      </p:sp>
      <p:sp>
        <p:nvSpPr>
          <p:cNvPr id="8" name="part card"/>
          <p:cNvSpPr/>
          <p:nvPr/>
        </p:nvSpPr>
        <p:spPr>
          <a:xfrm>
            <a:off x="7071055" y="1371600"/>
            <a:ext cx="2240280" cy="1508760"/>
          </a:xfrm>
          <a:prstGeom prst="roundRect">
            <a:avLst>
              <a:gd name="adj" fmla="val 10909"/>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pic>
        <p:nvPicPr>
          <p:cNvPr id="9" name="Image 2" descr="حساس رطوبة التربة">    </p:cNvPr>
          <p:cNvPicPr>
            <a:picLocks noChangeAspect="1"/>
          </p:cNvPicPr>
          <p:nvPr/>
        </p:nvPicPr>
        <p:blipFill>
          <a:blip r:embed="rId3"/>
          <a:stretch>
            <a:fillRect/>
          </a:stretch>
        </p:blipFill>
        <p:spPr>
          <a:xfrm>
            <a:off x="8259775" y="1536192"/>
            <a:ext cx="914400" cy="609600"/>
          </a:xfrm>
          <a:prstGeom prst="rect">
            <a:avLst/>
          </a:prstGeom>
        </p:spPr>
      </p:pic>
      <p:sp>
        <p:nvSpPr>
          <p:cNvPr id="10" name="Text 5"/>
          <p:cNvSpPr/>
          <p:nvPr/>
        </p:nvSpPr>
        <p:spPr>
          <a:xfrm>
            <a:off x="7162495" y="1481328"/>
            <a:ext cx="1143000" cy="685800"/>
          </a:xfrm>
          <a:prstGeom prst="rect">
            <a:avLst/>
          </a:prstGeom>
          <a:noFill/>
          <a:ln/>
        </p:spPr>
        <p:txBody>
          <a:bodyPr wrap="square" rtlCol="0" anchor="t"/>
          <a:lstStyle/>
          <a:p>
            <a:pPr rtl="1" algn="r" indent="0" marL="0">
              <a:buNone/>
            </a:pPr>
            <a:r>
              <a:rPr lang="en-US" sz="1250" b="1" dirty="0">
                <a:solidFill>
                  <a:schemeClr val="tx2"/>
                </a:solidFill>
              </a:rPr>
              <a:t>حساس رطوبة التربة</a:t>
            </a:r>
            <a:endParaRPr lang="en-US" sz="1250" dirty="0"/>
          </a:p>
        </p:txBody>
      </p:sp>
      <p:sp>
        <p:nvSpPr>
          <p:cNvPr id="11" name="Text 6"/>
          <p:cNvSpPr/>
          <p:nvPr/>
        </p:nvSpPr>
        <p:spPr>
          <a:xfrm>
            <a:off x="7162495" y="2286000"/>
            <a:ext cx="2057400" cy="457200"/>
          </a:xfrm>
          <a:prstGeom prst="rect">
            <a:avLst/>
          </a:prstGeom>
          <a:noFill/>
          <a:ln/>
        </p:spPr>
        <p:txBody>
          <a:bodyPr wrap="square" rtlCol="0" anchor="ctr"/>
          <a:lstStyle/>
          <a:p>
            <a:pPr rtl="1" algn="r" indent="0" marL="0">
              <a:buNone/>
            </a:pPr>
            <a:r>
              <a:rPr lang="en-US" sz="1150" dirty="0">
                <a:solidFill>
                  <a:srgbClr val="5B6B61"/>
                </a:solidFill>
              </a:rPr>
              <a:t>GPIO34 (ADC1)</a:t>
            </a:r>
            <a:endParaRPr lang="en-US" sz="1150" dirty="0"/>
          </a:p>
        </p:txBody>
      </p:sp>
      <p:sp>
        <p:nvSpPr>
          <p:cNvPr id="12" name="part card"/>
          <p:cNvSpPr/>
          <p:nvPr/>
        </p:nvSpPr>
        <p:spPr>
          <a:xfrm>
            <a:off x="9402775" y="3017520"/>
            <a:ext cx="2240280" cy="1508760"/>
          </a:xfrm>
          <a:prstGeom prst="roundRect">
            <a:avLst>
              <a:gd name="adj" fmla="val 10909"/>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pic>
        <p:nvPicPr>
          <p:cNvPr id="13" name="Image 3" descr="حساس الإضاءة BH1750">    </p:cNvPr>
          <p:cNvPicPr>
            <a:picLocks noChangeAspect="1"/>
          </p:cNvPicPr>
          <p:nvPr/>
        </p:nvPicPr>
        <p:blipFill>
          <a:blip r:embed="rId4"/>
          <a:stretch>
            <a:fillRect/>
          </a:stretch>
        </p:blipFill>
        <p:spPr>
          <a:xfrm>
            <a:off x="10591495" y="3182112"/>
            <a:ext cx="914400" cy="609600"/>
          </a:xfrm>
          <a:prstGeom prst="rect">
            <a:avLst/>
          </a:prstGeom>
        </p:spPr>
      </p:pic>
      <p:sp>
        <p:nvSpPr>
          <p:cNvPr id="14" name="Text 8"/>
          <p:cNvSpPr/>
          <p:nvPr/>
        </p:nvSpPr>
        <p:spPr>
          <a:xfrm>
            <a:off x="9494215" y="3127248"/>
            <a:ext cx="1143000" cy="685800"/>
          </a:xfrm>
          <a:prstGeom prst="rect">
            <a:avLst/>
          </a:prstGeom>
          <a:noFill/>
          <a:ln/>
        </p:spPr>
        <p:txBody>
          <a:bodyPr wrap="square" rtlCol="0" anchor="t"/>
          <a:lstStyle/>
          <a:p>
            <a:pPr rtl="1" algn="r" indent="0" marL="0">
              <a:buNone/>
            </a:pPr>
            <a:r>
              <a:rPr lang="en-US" sz="1250" b="1" dirty="0">
                <a:solidFill>
                  <a:schemeClr val="tx2"/>
                </a:solidFill>
              </a:rPr>
              <a:t>حساس الإضاءة BH1750</a:t>
            </a:r>
            <a:endParaRPr lang="en-US" sz="1250" dirty="0"/>
          </a:p>
        </p:txBody>
      </p:sp>
      <p:sp>
        <p:nvSpPr>
          <p:cNvPr id="15" name="Text 9"/>
          <p:cNvSpPr/>
          <p:nvPr/>
        </p:nvSpPr>
        <p:spPr>
          <a:xfrm>
            <a:off x="9494215" y="3931920"/>
            <a:ext cx="2057400" cy="457200"/>
          </a:xfrm>
          <a:prstGeom prst="rect">
            <a:avLst/>
          </a:prstGeom>
          <a:noFill/>
          <a:ln/>
        </p:spPr>
        <p:txBody>
          <a:bodyPr wrap="square" rtlCol="0" anchor="ctr"/>
          <a:lstStyle/>
          <a:p>
            <a:pPr rtl="1" algn="r" indent="0" marL="0">
              <a:buNone/>
            </a:pPr>
            <a:r>
              <a:rPr lang="en-US" sz="1150" dirty="0">
                <a:solidFill>
                  <a:srgbClr val="5B6B61"/>
                </a:solidFill>
              </a:rPr>
              <a:t>I2C: GPIO21 / GPIO22</a:t>
            </a:r>
            <a:endParaRPr lang="en-US" sz="1150" dirty="0"/>
          </a:p>
        </p:txBody>
      </p:sp>
      <p:sp>
        <p:nvSpPr>
          <p:cNvPr id="16" name="part card"/>
          <p:cNvSpPr/>
          <p:nvPr/>
        </p:nvSpPr>
        <p:spPr>
          <a:xfrm>
            <a:off x="7071055" y="3017520"/>
            <a:ext cx="2240280" cy="1508760"/>
          </a:xfrm>
          <a:prstGeom prst="roundRect">
            <a:avLst>
              <a:gd name="adj" fmla="val 10909"/>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pic>
        <p:nvPicPr>
          <p:cNvPr id="17" name="Image 4" descr="DHT22 حرارة ورطوبة">    </p:cNvPr>
          <p:cNvPicPr>
            <a:picLocks noChangeAspect="1"/>
          </p:cNvPicPr>
          <p:nvPr/>
        </p:nvPicPr>
        <p:blipFill>
          <a:blip r:embed="rId5"/>
          <a:stretch>
            <a:fillRect/>
          </a:stretch>
        </p:blipFill>
        <p:spPr>
          <a:xfrm>
            <a:off x="8259775" y="3182112"/>
            <a:ext cx="914400" cy="609600"/>
          </a:xfrm>
          <a:prstGeom prst="rect">
            <a:avLst/>
          </a:prstGeom>
        </p:spPr>
      </p:pic>
      <p:sp>
        <p:nvSpPr>
          <p:cNvPr id="18" name="Text 11"/>
          <p:cNvSpPr/>
          <p:nvPr/>
        </p:nvSpPr>
        <p:spPr>
          <a:xfrm>
            <a:off x="7162495" y="3127248"/>
            <a:ext cx="1143000" cy="685800"/>
          </a:xfrm>
          <a:prstGeom prst="rect">
            <a:avLst/>
          </a:prstGeom>
          <a:noFill/>
          <a:ln/>
        </p:spPr>
        <p:txBody>
          <a:bodyPr wrap="square" rtlCol="0" anchor="t"/>
          <a:lstStyle/>
          <a:p>
            <a:pPr rtl="1" algn="r" indent="0" marL="0">
              <a:buNone/>
            </a:pPr>
            <a:r>
              <a:rPr lang="en-US" sz="1250" b="1" dirty="0">
                <a:solidFill>
                  <a:schemeClr val="tx2"/>
                </a:solidFill>
              </a:rPr>
              <a:t>DHT22 حرارة ورطوبة</a:t>
            </a:r>
            <a:endParaRPr lang="en-US" sz="1250" dirty="0"/>
          </a:p>
        </p:txBody>
      </p:sp>
      <p:sp>
        <p:nvSpPr>
          <p:cNvPr id="19" name="Text 12"/>
          <p:cNvSpPr/>
          <p:nvPr/>
        </p:nvSpPr>
        <p:spPr>
          <a:xfrm>
            <a:off x="7162495" y="3931920"/>
            <a:ext cx="2057400" cy="457200"/>
          </a:xfrm>
          <a:prstGeom prst="rect">
            <a:avLst/>
          </a:prstGeom>
          <a:noFill/>
          <a:ln/>
        </p:spPr>
        <p:txBody>
          <a:bodyPr wrap="square" rtlCol="0" anchor="ctr"/>
          <a:lstStyle/>
          <a:p>
            <a:pPr rtl="1" algn="r" indent="0" marL="0">
              <a:buNone/>
            </a:pPr>
            <a:r>
              <a:rPr lang="en-US" sz="1150" dirty="0">
                <a:solidFill>
                  <a:srgbClr val="5B6B61"/>
                </a:solidFill>
              </a:rPr>
              <a:t>GPIO4</a:t>
            </a:r>
            <a:endParaRPr lang="en-US" sz="1150" dirty="0"/>
          </a:p>
        </p:txBody>
      </p:sp>
      <p:sp>
        <p:nvSpPr>
          <p:cNvPr id="20" name="part card"/>
          <p:cNvSpPr/>
          <p:nvPr/>
        </p:nvSpPr>
        <p:spPr>
          <a:xfrm>
            <a:off x="9402775" y="4663440"/>
            <a:ext cx="2240280" cy="1508760"/>
          </a:xfrm>
          <a:prstGeom prst="roundRect">
            <a:avLst>
              <a:gd name="adj" fmla="val 10909"/>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pic>
        <p:nvPicPr>
          <p:cNvPr id="21" name="Image 5" descr="سماعة Buzzer">    </p:cNvPr>
          <p:cNvPicPr>
            <a:picLocks noChangeAspect="1"/>
          </p:cNvPicPr>
          <p:nvPr/>
        </p:nvPicPr>
        <p:blipFill>
          <a:blip r:embed="rId6"/>
          <a:stretch>
            <a:fillRect/>
          </a:stretch>
        </p:blipFill>
        <p:spPr>
          <a:xfrm>
            <a:off x="10591495" y="4828032"/>
            <a:ext cx="914400" cy="609600"/>
          </a:xfrm>
          <a:prstGeom prst="rect">
            <a:avLst/>
          </a:prstGeom>
        </p:spPr>
      </p:pic>
      <p:sp>
        <p:nvSpPr>
          <p:cNvPr id="22" name="Text 14"/>
          <p:cNvSpPr/>
          <p:nvPr/>
        </p:nvSpPr>
        <p:spPr>
          <a:xfrm>
            <a:off x="9494215" y="4773168"/>
            <a:ext cx="1143000" cy="685800"/>
          </a:xfrm>
          <a:prstGeom prst="rect">
            <a:avLst/>
          </a:prstGeom>
          <a:noFill/>
          <a:ln/>
        </p:spPr>
        <p:txBody>
          <a:bodyPr wrap="square" rtlCol="0" anchor="t"/>
          <a:lstStyle/>
          <a:p>
            <a:pPr rtl="1" algn="r" indent="0" marL="0">
              <a:buNone/>
            </a:pPr>
            <a:r>
              <a:rPr lang="en-US" sz="1250" b="1" dirty="0">
                <a:solidFill>
                  <a:schemeClr val="tx2"/>
                </a:solidFill>
              </a:rPr>
              <a:t>سماعة Buzzer</a:t>
            </a:r>
            <a:endParaRPr lang="en-US" sz="1250" dirty="0"/>
          </a:p>
        </p:txBody>
      </p:sp>
      <p:sp>
        <p:nvSpPr>
          <p:cNvPr id="23" name="Text 15"/>
          <p:cNvSpPr/>
          <p:nvPr/>
        </p:nvSpPr>
        <p:spPr>
          <a:xfrm>
            <a:off x="9494215" y="5577840"/>
            <a:ext cx="2057400" cy="457200"/>
          </a:xfrm>
          <a:prstGeom prst="rect">
            <a:avLst/>
          </a:prstGeom>
          <a:noFill/>
          <a:ln/>
        </p:spPr>
        <p:txBody>
          <a:bodyPr wrap="square" rtlCol="0" anchor="ctr"/>
          <a:lstStyle/>
          <a:p>
            <a:pPr rtl="1" algn="r" indent="0" marL="0">
              <a:buNone/>
            </a:pPr>
            <a:r>
              <a:rPr lang="en-US" sz="1150" dirty="0">
                <a:solidFill>
                  <a:srgbClr val="5B6B61"/>
                </a:solidFill>
              </a:rPr>
              <a:t>GPIO25 عبر 100 أوم</a:t>
            </a:r>
            <a:endParaRPr lang="en-US" sz="1150" dirty="0"/>
          </a:p>
        </p:txBody>
      </p:sp>
      <p:sp>
        <p:nvSpPr>
          <p:cNvPr id="24" name="part card"/>
          <p:cNvSpPr/>
          <p:nvPr/>
        </p:nvSpPr>
        <p:spPr>
          <a:xfrm>
            <a:off x="7071055" y="4663440"/>
            <a:ext cx="2240280" cy="1508760"/>
          </a:xfrm>
          <a:prstGeom prst="roundRect">
            <a:avLst>
              <a:gd name="adj" fmla="val 10909"/>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pic>
        <p:nvPicPr>
          <p:cNvPr id="25" name="Image 6" descr="باور بانك 5V">    </p:cNvPr>
          <p:cNvPicPr>
            <a:picLocks noChangeAspect="1"/>
          </p:cNvPicPr>
          <p:nvPr/>
        </p:nvPicPr>
        <p:blipFill>
          <a:blip r:embed="rId7"/>
          <a:stretch>
            <a:fillRect/>
          </a:stretch>
        </p:blipFill>
        <p:spPr>
          <a:xfrm>
            <a:off x="8259775" y="4828032"/>
            <a:ext cx="914400" cy="609600"/>
          </a:xfrm>
          <a:prstGeom prst="rect">
            <a:avLst/>
          </a:prstGeom>
        </p:spPr>
      </p:pic>
      <p:sp>
        <p:nvSpPr>
          <p:cNvPr id="26" name="Text 17"/>
          <p:cNvSpPr/>
          <p:nvPr/>
        </p:nvSpPr>
        <p:spPr>
          <a:xfrm>
            <a:off x="7162495" y="4773168"/>
            <a:ext cx="1143000" cy="685800"/>
          </a:xfrm>
          <a:prstGeom prst="rect">
            <a:avLst/>
          </a:prstGeom>
          <a:noFill/>
          <a:ln/>
        </p:spPr>
        <p:txBody>
          <a:bodyPr wrap="square" rtlCol="0" anchor="t"/>
          <a:lstStyle/>
          <a:p>
            <a:pPr rtl="1" algn="r" indent="0" marL="0">
              <a:buNone/>
            </a:pPr>
            <a:r>
              <a:rPr lang="en-US" sz="1250" b="1" dirty="0">
                <a:solidFill>
                  <a:schemeClr val="tx2"/>
                </a:solidFill>
              </a:rPr>
              <a:t>باور بانك 5V</a:t>
            </a:r>
            <a:endParaRPr lang="en-US" sz="1250" dirty="0"/>
          </a:p>
        </p:txBody>
      </p:sp>
      <p:sp>
        <p:nvSpPr>
          <p:cNvPr id="27" name="Text 18"/>
          <p:cNvSpPr/>
          <p:nvPr/>
        </p:nvSpPr>
        <p:spPr>
          <a:xfrm>
            <a:off x="7162495" y="5577840"/>
            <a:ext cx="2057400" cy="457200"/>
          </a:xfrm>
          <a:prstGeom prst="rect">
            <a:avLst/>
          </a:prstGeom>
          <a:noFill/>
          <a:ln/>
        </p:spPr>
        <p:txBody>
          <a:bodyPr wrap="square" rtlCol="0" anchor="ctr"/>
          <a:lstStyle/>
          <a:p>
            <a:pPr rtl="1" algn="r" indent="0" marL="0">
              <a:buNone/>
            </a:pPr>
            <a:r>
              <a:rPr lang="en-US" sz="1150" dirty="0">
                <a:solidFill>
                  <a:srgbClr val="5B6B61"/>
                </a:solidFill>
              </a:rPr>
              <a:t>عبر USB</a:t>
            </a:r>
            <a:endParaRPr lang="en-US" sz="115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سبعة مشاعر… لكل شعور إيموجي ونغمة</a:t>
            </a:r>
            <a:endParaRPr lang="en-US" sz="3400" dirty="0"/>
          </a:p>
        </p:txBody>
      </p:sp>
      <p:sp>
        <p:nvSpPr>
          <p:cNvPr id="3" name="mood card"/>
          <p:cNvSpPr/>
          <p:nvPr/>
        </p:nvSpPr>
        <p:spPr>
          <a:xfrm>
            <a:off x="10106863" y="1600200"/>
            <a:ext cx="1481328" cy="3017520"/>
          </a:xfrm>
          <a:prstGeom prst="roundRect">
            <a:avLst>
              <a:gd name="adj" fmla="val 12346"/>
            </a:avLst>
          </a:prstGeom>
          <a:solidFill>
            <a:srgbClr val="2F9E5F"/>
          </a:solidFill>
          <a:ln w="12700">
            <a:solidFill>
              <a:srgbClr val="2F9E5F"/>
            </a:solidFill>
            <a:prstDash val="solid"/>
          </a:ln>
          <a:effectLst>
            <a:outerShdw sx="100000" sy="100000" kx="0" ky="0" algn="bl" rotWithShape="0" blurRad="101600" dist="25400" dir="5400000">
              <a:srgbClr val="0F3D26">
                <a:alpha val="12000"/>
              </a:srgbClr>
            </a:outerShdw>
          </a:effectLst>
        </p:spPr>
      </p:sp>
      <p:sp>
        <p:nvSpPr>
          <p:cNvPr id="4" name="Text 2"/>
          <p:cNvSpPr/>
          <p:nvPr/>
        </p:nvSpPr>
        <p:spPr>
          <a:xfrm>
            <a:off x="10106863" y="1828800"/>
            <a:ext cx="1481328" cy="1005840"/>
          </a:xfrm>
          <a:prstGeom prst="rect">
            <a:avLst/>
          </a:prstGeom>
          <a:noFill/>
          <a:ln/>
        </p:spPr>
        <p:txBody>
          <a:bodyPr wrap="square" lIns="0" tIns="0" rIns="0" bIns="0" rtlCol="0" anchor="ctr"/>
          <a:lstStyle/>
          <a:p>
            <a:pPr algn="ctr" indent="0" marL="0">
              <a:buNone/>
            </a:pPr>
            <a:r>
              <a:rPr lang="en-US" sz="4800" dirty="0">
                <a:solidFill>
                  <a:srgbClr val="000000"/>
                </a:solidFill>
              </a:rPr>
              <a:t>😊</a:t>
            </a:r>
            <a:endParaRPr lang="en-US" sz="4800" dirty="0"/>
          </a:p>
        </p:txBody>
      </p:sp>
      <p:sp>
        <p:nvSpPr>
          <p:cNvPr id="5" name="Text 3"/>
          <p:cNvSpPr/>
          <p:nvPr/>
        </p:nvSpPr>
        <p:spPr>
          <a:xfrm>
            <a:off x="10106863" y="2926080"/>
            <a:ext cx="1481328" cy="502920"/>
          </a:xfrm>
          <a:prstGeom prst="rect">
            <a:avLst/>
          </a:prstGeom>
          <a:noFill/>
          <a:ln/>
        </p:spPr>
        <p:txBody>
          <a:bodyPr wrap="square" rtlCol="0" anchor="ctr"/>
          <a:lstStyle/>
          <a:p>
            <a:pPr rtl="1" algn="ctr" indent="0" marL="0">
              <a:buNone/>
            </a:pPr>
            <a:r>
              <a:rPr lang="en-US" sz="1800" b="1" dirty="0">
                <a:solidFill>
                  <a:srgbClr val="FFFFFF"/>
                </a:solidFill>
              </a:rPr>
              <a:t>سعيدة</a:t>
            </a:r>
            <a:endParaRPr lang="en-US" sz="1800" dirty="0"/>
          </a:p>
        </p:txBody>
      </p:sp>
      <p:sp>
        <p:nvSpPr>
          <p:cNvPr id="6" name="Text 4"/>
          <p:cNvSpPr/>
          <p:nvPr/>
        </p:nvSpPr>
        <p:spPr>
          <a:xfrm>
            <a:off x="10180015" y="3474720"/>
            <a:ext cx="1335024" cy="914400"/>
          </a:xfrm>
          <a:prstGeom prst="rect">
            <a:avLst/>
          </a:prstGeom>
          <a:noFill/>
          <a:ln/>
        </p:spPr>
        <p:txBody>
          <a:bodyPr wrap="square" rtlCol="0" anchor="t"/>
          <a:lstStyle/>
          <a:p>
            <a:pPr rtl="1" algn="ctr" indent="0" marL="0">
              <a:buNone/>
            </a:pPr>
            <a:r>
              <a:rPr lang="en-US" sz="1300" dirty="0">
                <a:solidFill>
                  <a:srgbClr val="FFFFFF"/>
                </a:solidFill>
              </a:rPr>
              <a:t>كل القيم ضمن الحدود</a:t>
            </a:r>
            <a:endParaRPr lang="en-US" sz="1300" dirty="0"/>
          </a:p>
        </p:txBody>
      </p:sp>
      <p:sp>
        <p:nvSpPr>
          <p:cNvPr id="7" name="mood card"/>
          <p:cNvSpPr/>
          <p:nvPr/>
        </p:nvSpPr>
        <p:spPr>
          <a:xfrm>
            <a:off x="8524951" y="1600200"/>
            <a:ext cx="1481328" cy="3017520"/>
          </a:xfrm>
          <a:prstGeom prst="roundRect">
            <a:avLst>
              <a:gd name="adj" fmla="val 12346"/>
            </a:avLst>
          </a:prstGeom>
          <a:solidFill>
            <a:srgbClr val="E07A00"/>
          </a:solidFill>
          <a:ln w="12700">
            <a:solidFill>
              <a:srgbClr val="E07A00"/>
            </a:solidFill>
            <a:prstDash val="solid"/>
          </a:ln>
          <a:effectLst>
            <a:outerShdw sx="100000" sy="100000" kx="0" ky="0" algn="bl" rotWithShape="0" blurRad="101600" dist="25400" dir="5400000">
              <a:srgbClr val="0F3D26">
                <a:alpha val="12000"/>
              </a:srgbClr>
            </a:outerShdw>
          </a:effectLst>
        </p:spPr>
      </p:sp>
      <p:sp>
        <p:nvSpPr>
          <p:cNvPr id="8" name="Text 6"/>
          <p:cNvSpPr/>
          <p:nvPr/>
        </p:nvSpPr>
        <p:spPr>
          <a:xfrm>
            <a:off x="8524951" y="1828800"/>
            <a:ext cx="1481328" cy="1005840"/>
          </a:xfrm>
          <a:prstGeom prst="rect">
            <a:avLst/>
          </a:prstGeom>
          <a:noFill/>
          <a:ln/>
        </p:spPr>
        <p:txBody>
          <a:bodyPr wrap="square" lIns="0" tIns="0" rIns="0" bIns="0" rtlCol="0" anchor="ctr"/>
          <a:lstStyle/>
          <a:p>
            <a:pPr algn="ctr" indent="0" marL="0">
              <a:buNone/>
            </a:pPr>
            <a:r>
              <a:rPr lang="en-US" sz="4800" dirty="0">
                <a:solidFill>
                  <a:srgbClr val="000000"/>
                </a:solidFill>
              </a:rPr>
              <a:t>😫</a:t>
            </a:r>
            <a:endParaRPr lang="en-US" sz="4800" dirty="0"/>
          </a:p>
        </p:txBody>
      </p:sp>
      <p:sp>
        <p:nvSpPr>
          <p:cNvPr id="9" name="Text 7"/>
          <p:cNvSpPr/>
          <p:nvPr/>
        </p:nvSpPr>
        <p:spPr>
          <a:xfrm>
            <a:off x="8524951" y="2926080"/>
            <a:ext cx="1481328" cy="502920"/>
          </a:xfrm>
          <a:prstGeom prst="rect">
            <a:avLst/>
          </a:prstGeom>
          <a:noFill/>
          <a:ln/>
        </p:spPr>
        <p:txBody>
          <a:bodyPr wrap="square" rtlCol="0" anchor="ctr"/>
          <a:lstStyle/>
          <a:p>
            <a:pPr rtl="1" algn="ctr" indent="0" marL="0">
              <a:buNone/>
            </a:pPr>
            <a:r>
              <a:rPr lang="en-US" sz="1800" b="1" dirty="0">
                <a:solidFill>
                  <a:srgbClr val="FFFFFF"/>
                </a:solidFill>
              </a:rPr>
              <a:t>عطشانة</a:t>
            </a:r>
            <a:endParaRPr lang="en-US" sz="1800" dirty="0"/>
          </a:p>
        </p:txBody>
      </p:sp>
      <p:sp>
        <p:nvSpPr>
          <p:cNvPr id="10" name="Text 8"/>
          <p:cNvSpPr/>
          <p:nvPr/>
        </p:nvSpPr>
        <p:spPr>
          <a:xfrm>
            <a:off x="8598103" y="3474720"/>
            <a:ext cx="1335024" cy="914400"/>
          </a:xfrm>
          <a:prstGeom prst="rect">
            <a:avLst/>
          </a:prstGeom>
          <a:noFill/>
          <a:ln/>
        </p:spPr>
        <p:txBody>
          <a:bodyPr wrap="square" rtlCol="0" anchor="t"/>
          <a:lstStyle/>
          <a:p>
            <a:pPr rtl="1" algn="ctr" indent="0" marL="0">
              <a:buNone/>
            </a:pPr>
            <a:r>
              <a:rPr lang="en-US" sz="1300" dirty="0">
                <a:solidFill>
                  <a:srgbClr val="FFFFFF"/>
                </a:solidFill>
              </a:rPr>
              <a:t>التربة جافة</a:t>
            </a:r>
            <a:endParaRPr lang="en-US" sz="1300" dirty="0"/>
          </a:p>
        </p:txBody>
      </p:sp>
      <p:sp>
        <p:nvSpPr>
          <p:cNvPr id="11" name="mood card"/>
          <p:cNvSpPr/>
          <p:nvPr/>
        </p:nvSpPr>
        <p:spPr>
          <a:xfrm>
            <a:off x="6943039" y="1600200"/>
            <a:ext cx="1481328" cy="3017520"/>
          </a:xfrm>
          <a:prstGeom prst="roundRect">
            <a:avLst>
              <a:gd name="adj" fmla="val 12346"/>
            </a:avLst>
          </a:prstGeom>
          <a:solidFill>
            <a:srgbClr val="2D8CFF"/>
          </a:solidFill>
          <a:ln w="12700">
            <a:solidFill>
              <a:srgbClr val="2D8CFF"/>
            </a:solidFill>
            <a:prstDash val="solid"/>
          </a:ln>
          <a:effectLst>
            <a:outerShdw sx="100000" sy="100000" kx="0" ky="0" algn="bl" rotWithShape="0" blurRad="101600" dist="25400" dir="5400000">
              <a:srgbClr val="0F3D26">
                <a:alpha val="12000"/>
              </a:srgbClr>
            </a:outerShdw>
          </a:effectLst>
        </p:spPr>
      </p:sp>
      <p:sp>
        <p:nvSpPr>
          <p:cNvPr id="12" name="Text 10"/>
          <p:cNvSpPr/>
          <p:nvPr/>
        </p:nvSpPr>
        <p:spPr>
          <a:xfrm>
            <a:off x="6943039" y="1828800"/>
            <a:ext cx="1481328" cy="1005840"/>
          </a:xfrm>
          <a:prstGeom prst="rect">
            <a:avLst/>
          </a:prstGeom>
          <a:noFill/>
          <a:ln/>
        </p:spPr>
        <p:txBody>
          <a:bodyPr wrap="square" lIns="0" tIns="0" rIns="0" bIns="0" rtlCol="0" anchor="ctr"/>
          <a:lstStyle/>
          <a:p>
            <a:pPr algn="ctr" indent="0" marL="0">
              <a:buNone/>
            </a:pPr>
            <a:r>
              <a:rPr lang="en-US" sz="4800" dirty="0">
                <a:solidFill>
                  <a:srgbClr val="000000"/>
                </a:solidFill>
              </a:rPr>
              <a:t>🥴</a:t>
            </a:r>
            <a:endParaRPr lang="en-US" sz="4800" dirty="0"/>
          </a:p>
        </p:txBody>
      </p:sp>
      <p:sp>
        <p:nvSpPr>
          <p:cNvPr id="13" name="Text 11"/>
          <p:cNvSpPr/>
          <p:nvPr/>
        </p:nvSpPr>
        <p:spPr>
          <a:xfrm>
            <a:off x="6943039" y="2926080"/>
            <a:ext cx="1481328" cy="502920"/>
          </a:xfrm>
          <a:prstGeom prst="rect">
            <a:avLst/>
          </a:prstGeom>
          <a:noFill/>
          <a:ln/>
        </p:spPr>
        <p:txBody>
          <a:bodyPr wrap="square" rtlCol="0" anchor="ctr"/>
          <a:lstStyle/>
          <a:p>
            <a:pPr rtl="1" algn="ctr" indent="0" marL="0">
              <a:buNone/>
            </a:pPr>
            <a:r>
              <a:rPr lang="en-US" sz="1800" b="1" dirty="0">
                <a:solidFill>
                  <a:srgbClr val="FFFFFF"/>
                </a:solidFill>
              </a:rPr>
              <a:t>مبللة جداً</a:t>
            </a:r>
            <a:endParaRPr lang="en-US" sz="1800" dirty="0"/>
          </a:p>
        </p:txBody>
      </p:sp>
      <p:sp>
        <p:nvSpPr>
          <p:cNvPr id="14" name="Text 12"/>
          <p:cNvSpPr/>
          <p:nvPr/>
        </p:nvSpPr>
        <p:spPr>
          <a:xfrm>
            <a:off x="7016191" y="3474720"/>
            <a:ext cx="1335024" cy="914400"/>
          </a:xfrm>
          <a:prstGeom prst="rect">
            <a:avLst/>
          </a:prstGeom>
          <a:noFill/>
          <a:ln/>
        </p:spPr>
        <p:txBody>
          <a:bodyPr wrap="square" rtlCol="0" anchor="t"/>
          <a:lstStyle/>
          <a:p>
            <a:pPr rtl="1" algn="ctr" indent="0" marL="0">
              <a:buNone/>
            </a:pPr>
            <a:r>
              <a:rPr lang="en-US" sz="1300" dirty="0">
                <a:solidFill>
                  <a:srgbClr val="FFFFFF"/>
                </a:solidFill>
              </a:rPr>
              <a:t>ري زائد</a:t>
            </a:r>
            <a:endParaRPr lang="en-US" sz="1300" dirty="0"/>
          </a:p>
        </p:txBody>
      </p:sp>
      <p:sp>
        <p:nvSpPr>
          <p:cNvPr id="15" name="mood card"/>
          <p:cNvSpPr/>
          <p:nvPr/>
        </p:nvSpPr>
        <p:spPr>
          <a:xfrm>
            <a:off x="5361127" y="1600200"/>
            <a:ext cx="1481328" cy="3017520"/>
          </a:xfrm>
          <a:prstGeom prst="roundRect">
            <a:avLst>
              <a:gd name="adj" fmla="val 12346"/>
            </a:avLst>
          </a:prstGeom>
          <a:solidFill>
            <a:srgbClr val="E0682B"/>
          </a:solidFill>
          <a:ln w="12700">
            <a:solidFill>
              <a:srgbClr val="E0682B"/>
            </a:solidFill>
            <a:prstDash val="solid"/>
          </a:ln>
          <a:effectLst>
            <a:outerShdw sx="100000" sy="100000" kx="0" ky="0" algn="bl" rotWithShape="0" blurRad="101600" dist="25400" dir="5400000">
              <a:srgbClr val="0F3D26">
                <a:alpha val="12000"/>
              </a:srgbClr>
            </a:outerShdw>
          </a:effectLst>
        </p:spPr>
      </p:sp>
      <p:sp>
        <p:nvSpPr>
          <p:cNvPr id="16" name="Text 14"/>
          <p:cNvSpPr/>
          <p:nvPr/>
        </p:nvSpPr>
        <p:spPr>
          <a:xfrm>
            <a:off x="5361127" y="1828800"/>
            <a:ext cx="1481328" cy="1005840"/>
          </a:xfrm>
          <a:prstGeom prst="rect">
            <a:avLst/>
          </a:prstGeom>
          <a:noFill/>
          <a:ln/>
        </p:spPr>
        <p:txBody>
          <a:bodyPr wrap="square" lIns="0" tIns="0" rIns="0" bIns="0" rtlCol="0" anchor="ctr"/>
          <a:lstStyle/>
          <a:p>
            <a:pPr algn="ctr" indent="0" marL="0">
              <a:buNone/>
            </a:pPr>
            <a:r>
              <a:rPr lang="en-US" sz="4800" dirty="0">
                <a:solidFill>
                  <a:srgbClr val="000000"/>
                </a:solidFill>
              </a:rPr>
              <a:t>🥵</a:t>
            </a:r>
            <a:endParaRPr lang="en-US" sz="4800" dirty="0"/>
          </a:p>
        </p:txBody>
      </p:sp>
      <p:sp>
        <p:nvSpPr>
          <p:cNvPr id="17" name="Text 15"/>
          <p:cNvSpPr/>
          <p:nvPr/>
        </p:nvSpPr>
        <p:spPr>
          <a:xfrm>
            <a:off x="5361127" y="2926080"/>
            <a:ext cx="1481328" cy="502920"/>
          </a:xfrm>
          <a:prstGeom prst="rect">
            <a:avLst/>
          </a:prstGeom>
          <a:noFill/>
          <a:ln/>
        </p:spPr>
        <p:txBody>
          <a:bodyPr wrap="square" rtlCol="0" anchor="ctr"/>
          <a:lstStyle/>
          <a:p>
            <a:pPr rtl="1" algn="ctr" indent="0" marL="0">
              <a:buNone/>
            </a:pPr>
            <a:r>
              <a:rPr lang="en-US" sz="1800" b="1" dirty="0">
                <a:solidFill>
                  <a:srgbClr val="FFFFFF"/>
                </a:solidFill>
              </a:rPr>
              <a:t>حرّانة</a:t>
            </a:r>
            <a:endParaRPr lang="en-US" sz="1800" dirty="0"/>
          </a:p>
        </p:txBody>
      </p:sp>
      <p:sp>
        <p:nvSpPr>
          <p:cNvPr id="18" name="Text 16"/>
          <p:cNvSpPr/>
          <p:nvPr/>
        </p:nvSpPr>
        <p:spPr>
          <a:xfrm>
            <a:off x="5434279" y="3474720"/>
            <a:ext cx="1335024" cy="914400"/>
          </a:xfrm>
          <a:prstGeom prst="rect">
            <a:avLst/>
          </a:prstGeom>
          <a:noFill/>
          <a:ln/>
        </p:spPr>
        <p:txBody>
          <a:bodyPr wrap="square" rtlCol="0" anchor="t"/>
          <a:lstStyle/>
          <a:p>
            <a:pPr rtl="1" algn="ctr" indent="0" marL="0">
              <a:buNone/>
            </a:pPr>
            <a:r>
              <a:rPr lang="en-US" sz="1300" dirty="0">
                <a:solidFill>
                  <a:srgbClr val="FFFFFF"/>
                </a:solidFill>
              </a:rPr>
              <a:t>حرارة عالية</a:t>
            </a:r>
            <a:endParaRPr lang="en-US" sz="1300" dirty="0"/>
          </a:p>
        </p:txBody>
      </p:sp>
      <p:sp>
        <p:nvSpPr>
          <p:cNvPr id="19" name="mood card"/>
          <p:cNvSpPr/>
          <p:nvPr/>
        </p:nvSpPr>
        <p:spPr>
          <a:xfrm>
            <a:off x="3779215" y="1600200"/>
            <a:ext cx="1481328" cy="3017520"/>
          </a:xfrm>
          <a:prstGeom prst="roundRect">
            <a:avLst>
              <a:gd name="adj" fmla="val 12346"/>
            </a:avLst>
          </a:prstGeom>
          <a:solidFill>
            <a:srgbClr val="2468D8"/>
          </a:solidFill>
          <a:ln w="12700">
            <a:solidFill>
              <a:srgbClr val="2468D8"/>
            </a:solidFill>
            <a:prstDash val="solid"/>
          </a:ln>
          <a:effectLst>
            <a:outerShdw sx="100000" sy="100000" kx="0" ky="0" algn="bl" rotWithShape="0" blurRad="101600" dist="25400" dir="5400000">
              <a:srgbClr val="0F3D26">
                <a:alpha val="12000"/>
              </a:srgbClr>
            </a:outerShdw>
          </a:effectLst>
        </p:spPr>
      </p:sp>
      <p:sp>
        <p:nvSpPr>
          <p:cNvPr id="20" name="Text 18"/>
          <p:cNvSpPr/>
          <p:nvPr/>
        </p:nvSpPr>
        <p:spPr>
          <a:xfrm>
            <a:off x="3779215" y="1828800"/>
            <a:ext cx="1481328" cy="1005840"/>
          </a:xfrm>
          <a:prstGeom prst="rect">
            <a:avLst/>
          </a:prstGeom>
          <a:noFill/>
          <a:ln/>
        </p:spPr>
        <p:txBody>
          <a:bodyPr wrap="square" lIns="0" tIns="0" rIns="0" bIns="0" rtlCol="0" anchor="ctr"/>
          <a:lstStyle/>
          <a:p>
            <a:pPr algn="ctr" indent="0" marL="0">
              <a:buNone/>
            </a:pPr>
            <a:r>
              <a:rPr lang="en-US" sz="4800" dirty="0">
                <a:solidFill>
                  <a:srgbClr val="000000"/>
                </a:solidFill>
              </a:rPr>
              <a:t>🥶</a:t>
            </a:r>
            <a:endParaRPr lang="en-US" sz="4800" dirty="0"/>
          </a:p>
        </p:txBody>
      </p:sp>
      <p:sp>
        <p:nvSpPr>
          <p:cNvPr id="21" name="Text 19"/>
          <p:cNvSpPr/>
          <p:nvPr/>
        </p:nvSpPr>
        <p:spPr>
          <a:xfrm>
            <a:off x="3779215" y="2926080"/>
            <a:ext cx="1481328" cy="502920"/>
          </a:xfrm>
          <a:prstGeom prst="rect">
            <a:avLst/>
          </a:prstGeom>
          <a:noFill/>
          <a:ln/>
        </p:spPr>
        <p:txBody>
          <a:bodyPr wrap="square" rtlCol="0" anchor="ctr"/>
          <a:lstStyle/>
          <a:p>
            <a:pPr rtl="1" algn="ctr" indent="0" marL="0">
              <a:buNone/>
            </a:pPr>
            <a:r>
              <a:rPr lang="en-US" sz="1800" b="1" dirty="0">
                <a:solidFill>
                  <a:srgbClr val="FFFFFF"/>
                </a:solidFill>
              </a:rPr>
              <a:t>بردانة</a:t>
            </a:r>
            <a:endParaRPr lang="en-US" sz="1800" dirty="0"/>
          </a:p>
        </p:txBody>
      </p:sp>
      <p:sp>
        <p:nvSpPr>
          <p:cNvPr id="22" name="Text 20"/>
          <p:cNvSpPr/>
          <p:nvPr/>
        </p:nvSpPr>
        <p:spPr>
          <a:xfrm>
            <a:off x="3852367" y="3474720"/>
            <a:ext cx="1335024" cy="914400"/>
          </a:xfrm>
          <a:prstGeom prst="rect">
            <a:avLst/>
          </a:prstGeom>
          <a:noFill/>
          <a:ln/>
        </p:spPr>
        <p:txBody>
          <a:bodyPr wrap="square" rtlCol="0" anchor="t"/>
          <a:lstStyle/>
          <a:p>
            <a:pPr rtl="1" algn="ctr" indent="0" marL="0">
              <a:buNone/>
            </a:pPr>
            <a:r>
              <a:rPr lang="en-US" sz="1300" dirty="0">
                <a:solidFill>
                  <a:srgbClr val="FFFFFF"/>
                </a:solidFill>
              </a:rPr>
              <a:t>حرارة منخفضة</a:t>
            </a:r>
            <a:endParaRPr lang="en-US" sz="1300" dirty="0"/>
          </a:p>
        </p:txBody>
      </p:sp>
      <p:sp>
        <p:nvSpPr>
          <p:cNvPr id="23" name="mood card"/>
          <p:cNvSpPr/>
          <p:nvPr/>
        </p:nvSpPr>
        <p:spPr>
          <a:xfrm>
            <a:off x="2197303" y="1600200"/>
            <a:ext cx="1481328" cy="3017520"/>
          </a:xfrm>
          <a:prstGeom prst="roundRect">
            <a:avLst>
              <a:gd name="adj" fmla="val 12346"/>
            </a:avLst>
          </a:prstGeom>
          <a:solidFill>
            <a:srgbClr val="C79100"/>
          </a:solidFill>
          <a:ln w="12700">
            <a:solidFill>
              <a:srgbClr val="C79100"/>
            </a:solidFill>
            <a:prstDash val="solid"/>
          </a:ln>
          <a:effectLst>
            <a:outerShdw sx="100000" sy="100000" kx="0" ky="0" algn="bl" rotWithShape="0" blurRad="101600" dist="25400" dir="5400000">
              <a:srgbClr val="0F3D26">
                <a:alpha val="12000"/>
              </a:srgbClr>
            </a:outerShdw>
          </a:effectLst>
        </p:spPr>
      </p:sp>
      <p:sp>
        <p:nvSpPr>
          <p:cNvPr id="24" name="Text 22"/>
          <p:cNvSpPr/>
          <p:nvPr/>
        </p:nvSpPr>
        <p:spPr>
          <a:xfrm>
            <a:off x="2197303" y="1828800"/>
            <a:ext cx="1481328" cy="1005840"/>
          </a:xfrm>
          <a:prstGeom prst="rect">
            <a:avLst/>
          </a:prstGeom>
          <a:noFill/>
          <a:ln/>
        </p:spPr>
        <p:txBody>
          <a:bodyPr wrap="square" lIns="0" tIns="0" rIns="0" bIns="0" rtlCol="0" anchor="ctr"/>
          <a:lstStyle/>
          <a:p>
            <a:pPr algn="ctr" indent="0" marL="0">
              <a:buNone/>
            </a:pPr>
            <a:r>
              <a:rPr lang="en-US" sz="4800" dirty="0">
                <a:solidFill>
                  <a:srgbClr val="000000"/>
                </a:solidFill>
              </a:rPr>
              <a:t>😞</a:t>
            </a:r>
            <a:endParaRPr lang="en-US" sz="4800" dirty="0"/>
          </a:p>
        </p:txBody>
      </p:sp>
      <p:sp>
        <p:nvSpPr>
          <p:cNvPr id="25" name="Text 23"/>
          <p:cNvSpPr/>
          <p:nvPr/>
        </p:nvSpPr>
        <p:spPr>
          <a:xfrm>
            <a:off x="2197303" y="2926080"/>
            <a:ext cx="1481328" cy="502920"/>
          </a:xfrm>
          <a:prstGeom prst="rect">
            <a:avLst/>
          </a:prstGeom>
          <a:noFill/>
          <a:ln/>
        </p:spPr>
        <p:txBody>
          <a:bodyPr wrap="square" rtlCol="0" anchor="ctr"/>
          <a:lstStyle/>
          <a:p>
            <a:pPr rtl="1" algn="ctr" indent="0" marL="0">
              <a:buNone/>
            </a:pPr>
            <a:r>
              <a:rPr lang="en-US" sz="1800" b="1" dirty="0">
                <a:solidFill>
                  <a:srgbClr val="FFFFFF"/>
                </a:solidFill>
              </a:rPr>
              <a:t>تحتاج ضوءاً</a:t>
            </a:r>
            <a:endParaRPr lang="en-US" sz="1800" dirty="0"/>
          </a:p>
        </p:txBody>
      </p:sp>
      <p:sp>
        <p:nvSpPr>
          <p:cNvPr id="26" name="Text 24"/>
          <p:cNvSpPr/>
          <p:nvPr/>
        </p:nvSpPr>
        <p:spPr>
          <a:xfrm>
            <a:off x="2270455" y="3474720"/>
            <a:ext cx="1335024" cy="914400"/>
          </a:xfrm>
          <a:prstGeom prst="rect">
            <a:avLst/>
          </a:prstGeom>
          <a:noFill/>
          <a:ln/>
        </p:spPr>
        <p:txBody>
          <a:bodyPr wrap="square" rtlCol="0" anchor="t"/>
          <a:lstStyle/>
          <a:p>
            <a:pPr rtl="1" algn="ctr" indent="0" marL="0">
              <a:buNone/>
            </a:pPr>
            <a:r>
              <a:rPr lang="en-US" sz="1300" dirty="0">
                <a:solidFill>
                  <a:srgbClr val="FFFFFF"/>
                </a:solidFill>
              </a:rPr>
              <a:t>إضاءة قليلة نهاراً</a:t>
            </a:r>
            <a:endParaRPr lang="en-US" sz="1300" dirty="0"/>
          </a:p>
        </p:txBody>
      </p:sp>
      <p:sp>
        <p:nvSpPr>
          <p:cNvPr id="27" name="mood card"/>
          <p:cNvSpPr/>
          <p:nvPr/>
        </p:nvSpPr>
        <p:spPr>
          <a:xfrm>
            <a:off x="615391" y="1600200"/>
            <a:ext cx="1481328" cy="3017520"/>
          </a:xfrm>
          <a:prstGeom prst="roundRect">
            <a:avLst>
              <a:gd name="adj" fmla="val 12346"/>
            </a:avLst>
          </a:prstGeom>
          <a:solidFill>
            <a:srgbClr val="5B5BD6"/>
          </a:solidFill>
          <a:ln w="12700">
            <a:solidFill>
              <a:srgbClr val="5B5BD6"/>
            </a:solidFill>
            <a:prstDash val="solid"/>
          </a:ln>
          <a:effectLst>
            <a:outerShdw sx="100000" sy="100000" kx="0" ky="0" algn="bl" rotWithShape="0" blurRad="101600" dist="25400" dir="5400000">
              <a:srgbClr val="0F3D26">
                <a:alpha val="12000"/>
              </a:srgbClr>
            </a:outerShdw>
          </a:effectLst>
        </p:spPr>
      </p:sp>
      <p:sp>
        <p:nvSpPr>
          <p:cNvPr id="28" name="Text 26"/>
          <p:cNvSpPr/>
          <p:nvPr/>
        </p:nvSpPr>
        <p:spPr>
          <a:xfrm>
            <a:off x="615391" y="1828800"/>
            <a:ext cx="1481328" cy="1005840"/>
          </a:xfrm>
          <a:prstGeom prst="rect">
            <a:avLst/>
          </a:prstGeom>
          <a:noFill/>
          <a:ln/>
        </p:spPr>
        <p:txBody>
          <a:bodyPr wrap="square" lIns="0" tIns="0" rIns="0" bIns="0" rtlCol="0" anchor="ctr"/>
          <a:lstStyle/>
          <a:p>
            <a:pPr algn="ctr" indent="0" marL="0">
              <a:buNone/>
            </a:pPr>
            <a:r>
              <a:rPr lang="en-US" sz="4800" dirty="0">
                <a:solidFill>
                  <a:srgbClr val="000000"/>
                </a:solidFill>
              </a:rPr>
              <a:t>😴</a:t>
            </a:r>
            <a:endParaRPr lang="en-US" sz="4800" dirty="0"/>
          </a:p>
        </p:txBody>
      </p:sp>
      <p:sp>
        <p:nvSpPr>
          <p:cNvPr id="29" name="Text 27"/>
          <p:cNvSpPr/>
          <p:nvPr/>
        </p:nvSpPr>
        <p:spPr>
          <a:xfrm>
            <a:off x="615391" y="2926080"/>
            <a:ext cx="1481328" cy="502920"/>
          </a:xfrm>
          <a:prstGeom prst="rect">
            <a:avLst/>
          </a:prstGeom>
          <a:noFill/>
          <a:ln/>
        </p:spPr>
        <p:txBody>
          <a:bodyPr wrap="square" rtlCol="0" anchor="ctr"/>
          <a:lstStyle/>
          <a:p>
            <a:pPr rtl="1" algn="ctr" indent="0" marL="0">
              <a:buNone/>
            </a:pPr>
            <a:r>
              <a:rPr lang="en-US" sz="1800" b="1" dirty="0">
                <a:solidFill>
                  <a:srgbClr val="FFFFFF"/>
                </a:solidFill>
              </a:rPr>
              <a:t>نائمة</a:t>
            </a:r>
            <a:endParaRPr lang="en-US" sz="1800" dirty="0"/>
          </a:p>
        </p:txBody>
      </p:sp>
      <p:sp>
        <p:nvSpPr>
          <p:cNvPr id="30" name="Text 28"/>
          <p:cNvSpPr/>
          <p:nvPr/>
        </p:nvSpPr>
        <p:spPr>
          <a:xfrm>
            <a:off x="688543" y="3474720"/>
            <a:ext cx="1335024" cy="914400"/>
          </a:xfrm>
          <a:prstGeom prst="rect">
            <a:avLst/>
          </a:prstGeom>
          <a:noFill/>
          <a:ln/>
        </p:spPr>
        <p:txBody>
          <a:bodyPr wrap="square" rtlCol="0" anchor="t"/>
          <a:lstStyle/>
          <a:p>
            <a:pPr rtl="1" algn="ctr" indent="0" marL="0">
              <a:buNone/>
            </a:pPr>
            <a:r>
              <a:rPr lang="en-US" sz="1300" dirty="0">
                <a:solidFill>
                  <a:srgbClr val="FFFFFF"/>
                </a:solidFill>
              </a:rPr>
              <a:t>الليل وساعات الهدوء</a:t>
            </a:r>
            <a:endParaRPr lang="en-US" sz="1300" dirty="0"/>
          </a:p>
        </p:txBody>
      </p:sp>
      <p:sp>
        <p:nvSpPr>
          <p:cNvPr id="31" name="Text 29"/>
          <p:cNvSpPr/>
          <p:nvPr/>
        </p:nvSpPr>
        <p:spPr>
          <a:xfrm>
            <a:off x="731520" y="4983480"/>
            <a:ext cx="10698480" cy="548640"/>
          </a:xfrm>
          <a:prstGeom prst="rect">
            <a:avLst/>
          </a:prstGeom>
          <a:noFill/>
          <a:ln/>
        </p:spPr>
        <p:txBody>
          <a:bodyPr wrap="square" rtlCol="0" anchor="ctr"/>
          <a:lstStyle/>
          <a:p>
            <a:pPr rtl="1" algn="ctr" indent="0" marL="0">
              <a:buNone/>
            </a:pPr>
            <a:r>
              <a:rPr lang="en-US" sz="1800" b="1" dirty="0">
                <a:solidFill>
                  <a:schemeClr val="tx2"/>
                </a:solidFill>
              </a:rPr>
              <a:t>الحدود تأتي من نوع المحصول: نفس التربة الجافة تجعل الفراولة 😫 عطشانة والصبار 😊 سعيداً</a:t>
            </a:r>
            <a:endParaRPr lang="en-US" sz="1800" dirty="0"/>
          </a:p>
        </p:txBody>
      </p:sp>
      <p:sp>
        <p:nvSpPr>
          <p:cNvPr id="32" name="Text 30"/>
          <p:cNvSpPr/>
          <p:nvPr/>
        </p:nvSpPr>
        <p:spPr>
          <a:xfrm>
            <a:off x="731520" y="5532120"/>
            <a:ext cx="10698480" cy="457200"/>
          </a:xfrm>
          <a:prstGeom prst="rect">
            <a:avLst/>
          </a:prstGeom>
          <a:noFill/>
          <a:ln/>
        </p:spPr>
        <p:txBody>
          <a:bodyPr wrap="square" rtlCol="0" anchor="ctr"/>
          <a:lstStyle/>
          <a:p>
            <a:pPr rtl="1" algn="ctr" indent="0" marL="0">
              <a:buNone/>
            </a:pPr>
            <a:r>
              <a:rPr lang="en-US" sz="1500" dirty="0">
                <a:solidFill>
                  <a:srgbClr val="5B6B61"/>
                </a:solidFill>
              </a:rPr>
              <a:t>تُعزف النغمة عند تغيّر الشعور ثم كل 30 دقيقة إن استمر، ولا أصوات في ساعات الهدوء</a:t>
            </a:r>
            <a:endParaRPr lang="en-US" sz="15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البرمجيات والتقنيات</a:t>
            </a:r>
            <a:endParaRPr lang="en-US" sz="3400" dirty="0"/>
          </a:p>
        </p:txBody>
      </p:sp>
      <p:sp>
        <p:nvSpPr>
          <p:cNvPr id="3" name="stack row"/>
          <p:cNvSpPr/>
          <p:nvPr/>
        </p:nvSpPr>
        <p:spPr>
          <a:xfrm>
            <a:off x="548640" y="1371600"/>
            <a:ext cx="11064240" cy="868680"/>
          </a:xfrm>
          <a:prstGeom prst="roundRect">
            <a:avLst>
              <a:gd name="adj" fmla="val 18947"/>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pic>
        <p:nvPicPr>
          <p:cNvPr id="4" name="Image 0" descr="الجهاز">    </p:cNvPr>
          <p:cNvPicPr>
            <a:picLocks noChangeAspect="1"/>
          </p:cNvPicPr>
          <p:nvPr/>
        </p:nvPicPr>
        <p:blipFill>
          <a:blip r:embed="rId1"/>
          <a:stretch>
            <a:fillRect/>
          </a:stretch>
        </p:blipFill>
        <p:spPr>
          <a:xfrm>
            <a:off x="10241280" y="1444752"/>
            <a:ext cx="1097280" cy="731520"/>
          </a:xfrm>
          <a:prstGeom prst="rect">
            <a:avLst/>
          </a:prstGeom>
        </p:spPr>
      </p:pic>
      <p:sp>
        <p:nvSpPr>
          <p:cNvPr id="5" name="Text 2"/>
          <p:cNvSpPr/>
          <p:nvPr/>
        </p:nvSpPr>
        <p:spPr>
          <a:xfrm>
            <a:off x="7863840" y="1463040"/>
            <a:ext cx="2240280" cy="685800"/>
          </a:xfrm>
          <a:prstGeom prst="rect">
            <a:avLst/>
          </a:prstGeom>
          <a:noFill/>
          <a:ln/>
        </p:spPr>
        <p:txBody>
          <a:bodyPr wrap="square" rtlCol="0" anchor="ctr"/>
          <a:lstStyle/>
          <a:p>
            <a:pPr rtl="1" algn="r" indent="0" marL="0">
              <a:buNone/>
            </a:pPr>
            <a:r>
              <a:rPr lang="en-US" sz="1900" b="1" dirty="0">
                <a:solidFill>
                  <a:schemeClr val="tx2"/>
                </a:solidFill>
              </a:rPr>
              <a:t>الجهاز</a:t>
            </a:r>
            <a:endParaRPr lang="en-US" sz="1900" dirty="0"/>
          </a:p>
        </p:txBody>
      </p:sp>
      <p:sp>
        <p:nvSpPr>
          <p:cNvPr id="6" name="Text 3"/>
          <p:cNvSpPr/>
          <p:nvPr/>
        </p:nvSpPr>
        <p:spPr>
          <a:xfrm>
            <a:off x="777240" y="1463040"/>
            <a:ext cx="7040880" cy="685800"/>
          </a:xfrm>
          <a:prstGeom prst="rect">
            <a:avLst/>
          </a:prstGeom>
          <a:noFill/>
          <a:ln/>
        </p:spPr>
        <p:txBody>
          <a:bodyPr wrap="square" rtlCol="0" anchor="ctr"/>
          <a:lstStyle/>
          <a:p>
            <a:pPr rtl="1" algn="r" indent="0" marL="0">
              <a:buNone/>
            </a:pPr>
            <a:r>
              <a:rPr lang="en-US" sz="1500" dirty="0">
                <a:solidFill>
                  <a:schemeClr val="tx1"/>
                </a:solidFill>
              </a:rPr>
              <a:t>C++ على ESP32 عبر Arduino IDE: الحساسات والمشاعر والنغمات والاتصال.</a:t>
            </a:r>
            <a:endParaRPr lang="en-US" sz="1500" dirty="0"/>
          </a:p>
        </p:txBody>
      </p:sp>
      <p:sp>
        <p:nvSpPr>
          <p:cNvPr id="7" name="stack row"/>
          <p:cNvSpPr/>
          <p:nvPr/>
        </p:nvSpPr>
        <p:spPr>
          <a:xfrm>
            <a:off x="548640" y="2350008"/>
            <a:ext cx="11064240" cy="868680"/>
          </a:xfrm>
          <a:prstGeom prst="roundRect">
            <a:avLst>
              <a:gd name="adj" fmla="val 18947"/>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pic>
        <p:nvPicPr>
          <p:cNvPr id="8" name="Image 1" descr="الخادم">    </p:cNvPr>
          <p:cNvPicPr>
            <a:picLocks noChangeAspect="1"/>
          </p:cNvPicPr>
          <p:nvPr/>
        </p:nvPicPr>
        <p:blipFill>
          <a:blip r:embed="rId2"/>
          <a:stretch>
            <a:fillRect/>
          </a:stretch>
        </p:blipFill>
        <p:spPr>
          <a:xfrm>
            <a:off x="10241280" y="2423160"/>
            <a:ext cx="1097280" cy="731520"/>
          </a:xfrm>
          <a:prstGeom prst="rect">
            <a:avLst/>
          </a:prstGeom>
        </p:spPr>
      </p:pic>
      <p:sp>
        <p:nvSpPr>
          <p:cNvPr id="9" name="Text 5"/>
          <p:cNvSpPr/>
          <p:nvPr/>
        </p:nvSpPr>
        <p:spPr>
          <a:xfrm>
            <a:off x="7863840" y="2441448"/>
            <a:ext cx="2240280" cy="685800"/>
          </a:xfrm>
          <a:prstGeom prst="rect">
            <a:avLst/>
          </a:prstGeom>
          <a:noFill/>
          <a:ln/>
        </p:spPr>
        <p:txBody>
          <a:bodyPr wrap="square" rtlCol="0" anchor="ctr"/>
          <a:lstStyle/>
          <a:p>
            <a:pPr rtl="1" algn="r" indent="0" marL="0">
              <a:buNone/>
            </a:pPr>
            <a:r>
              <a:rPr lang="en-US" sz="1900" b="1" dirty="0">
                <a:solidFill>
                  <a:schemeClr val="tx2"/>
                </a:solidFill>
              </a:rPr>
              <a:t>الخادم</a:t>
            </a:r>
            <a:endParaRPr lang="en-US" sz="1900" dirty="0"/>
          </a:p>
        </p:txBody>
      </p:sp>
      <p:sp>
        <p:nvSpPr>
          <p:cNvPr id="10" name="Text 6"/>
          <p:cNvSpPr/>
          <p:nvPr/>
        </p:nvSpPr>
        <p:spPr>
          <a:xfrm>
            <a:off x="777240" y="2441448"/>
            <a:ext cx="7040880" cy="685800"/>
          </a:xfrm>
          <a:prstGeom prst="rect">
            <a:avLst/>
          </a:prstGeom>
          <a:noFill/>
          <a:ln/>
        </p:spPr>
        <p:txBody>
          <a:bodyPr wrap="square" rtlCol="0" anchor="ctr"/>
          <a:lstStyle/>
          <a:p>
            <a:pPr rtl="1" algn="r" indent="0" marL="0">
              <a:buNone/>
            </a:pPr>
            <a:r>
              <a:rPr lang="en-US" sz="1500" dirty="0">
                <a:solidFill>
                  <a:schemeClr val="tx1"/>
                </a:solidFill>
              </a:rPr>
              <a:t>واجهة برمجية PHP على Apache (XAMPP): الحسابات والصلاحيات والزراعات والأجهزة.</a:t>
            </a:r>
            <a:endParaRPr lang="en-US" sz="1500" dirty="0"/>
          </a:p>
        </p:txBody>
      </p:sp>
      <p:sp>
        <p:nvSpPr>
          <p:cNvPr id="11" name="stack row"/>
          <p:cNvSpPr/>
          <p:nvPr/>
        </p:nvSpPr>
        <p:spPr>
          <a:xfrm>
            <a:off x="548640" y="3328416"/>
            <a:ext cx="11064240" cy="868680"/>
          </a:xfrm>
          <a:prstGeom prst="roundRect">
            <a:avLst>
              <a:gd name="adj" fmla="val 18947"/>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pic>
        <p:nvPicPr>
          <p:cNvPr id="12" name="Image 2" descr="قاعدة البيانات">    </p:cNvPr>
          <p:cNvPicPr>
            <a:picLocks noChangeAspect="1"/>
          </p:cNvPicPr>
          <p:nvPr/>
        </p:nvPicPr>
        <p:blipFill>
          <a:blip r:embed="rId3"/>
          <a:stretch>
            <a:fillRect/>
          </a:stretch>
        </p:blipFill>
        <p:spPr>
          <a:xfrm>
            <a:off x="10241280" y="3401568"/>
            <a:ext cx="1097280" cy="731520"/>
          </a:xfrm>
          <a:prstGeom prst="rect">
            <a:avLst/>
          </a:prstGeom>
        </p:spPr>
      </p:pic>
      <p:sp>
        <p:nvSpPr>
          <p:cNvPr id="13" name="Text 8"/>
          <p:cNvSpPr/>
          <p:nvPr/>
        </p:nvSpPr>
        <p:spPr>
          <a:xfrm>
            <a:off x="7863840" y="3419856"/>
            <a:ext cx="2240280" cy="685800"/>
          </a:xfrm>
          <a:prstGeom prst="rect">
            <a:avLst/>
          </a:prstGeom>
          <a:noFill/>
          <a:ln/>
        </p:spPr>
        <p:txBody>
          <a:bodyPr wrap="square" rtlCol="0" anchor="ctr"/>
          <a:lstStyle/>
          <a:p>
            <a:pPr rtl="1" algn="r" indent="0" marL="0">
              <a:buNone/>
            </a:pPr>
            <a:r>
              <a:rPr lang="en-US" sz="1900" b="1" dirty="0">
                <a:solidFill>
                  <a:schemeClr val="tx2"/>
                </a:solidFill>
              </a:rPr>
              <a:t>قاعدة البيانات</a:t>
            </a:r>
            <a:endParaRPr lang="en-US" sz="1900" dirty="0"/>
          </a:p>
        </p:txBody>
      </p:sp>
      <p:sp>
        <p:nvSpPr>
          <p:cNvPr id="14" name="Text 9"/>
          <p:cNvSpPr/>
          <p:nvPr/>
        </p:nvSpPr>
        <p:spPr>
          <a:xfrm>
            <a:off x="777240" y="3419856"/>
            <a:ext cx="7040880" cy="685800"/>
          </a:xfrm>
          <a:prstGeom prst="rect">
            <a:avLst/>
          </a:prstGeom>
          <a:noFill/>
          <a:ln/>
        </p:spPr>
        <p:txBody>
          <a:bodyPr wrap="square" rtlCol="0" anchor="ctr"/>
          <a:lstStyle/>
          <a:p>
            <a:pPr rtl="1" algn="r" indent="0" marL="0">
              <a:buNone/>
            </a:pPr>
            <a:r>
              <a:rPr lang="en-US" sz="1500" dirty="0">
                <a:solidFill>
                  <a:schemeClr val="tx1"/>
                </a:solidFill>
              </a:rPr>
              <a:t>MySQL بـ 12 جدولاً وترميز utf8mb4 للعربية والإيموجي.</a:t>
            </a:r>
            <a:endParaRPr lang="en-US" sz="1500" dirty="0"/>
          </a:p>
        </p:txBody>
      </p:sp>
      <p:sp>
        <p:nvSpPr>
          <p:cNvPr id="15" name="stack row"/>
          <p:cNvSpPr/>
          <p:nvPr/>
        </p:nvSpPr>
        <p:spPr>
          <a:xfrm>
            <a:off x="548640" y="4306824"/>
            <a:ext cx="11064240" cy="868680"/>
          </a:xfrm>
          <a:prstGeom prst="roundRect">
            <a:avLst>
              <a:gd name="adj" fmla="val 18947"/>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pic>
        <p:nvPicPr>
          <p:cNvPr id="16" name="Image 3" descr="تطبيق الويب">    </p:cNvPr>
          <p:cNvPicPr>
            <a:picLocks noChangeAspect="1"/>
          </p:cNvPicPr>
          <p:nvPr/>
        </p:nvPicPr>
        <p:blipFill>
          <a:blip r:embed="rId4"/>
          <a:stretch>
            <a:fillRect/>
          </a:stretch>
        </p:blipFill>
        <p:spPr>
          <a:xfrm>
            <a:off x="10241280" y="4379976"/>
            <a:ext cx="1097280" cy="731520"/>
          </a:xfrm>
          <a:prstGeom prst="rect">
            <a:avLst/>
          </a:prstGeom>
        </p:spPr>
      </p:pic>
      <p:sp>
        <p:nvSpPr>
          <p:cNvPr id="17" name="Text 11"/>
          <p:cNvSpPr/>
          <p:nvPr/>
        </p:nvSpPr>
        <p:spPr>
          <a:xfrm>
            <a:off x="7863840" y="4398264"/>
            <a:ext cx="2240280" cy="685800"/>
          </a:xfrm>
          <a:prstGeom prst="rect">
            <a:avLst/>
          </a:prstGeom>
          <a:noFill/>
          <a:ln/>
        </p:spPr>
        <p:txBody>
          <a:bodyPr wrap="square" rtlCol="0" anchor="ctr"/>
          <a:lstStyle/>
          <a:p>
            <a:pPr rtl="1" algn="r" indent="0" marL="0">
              <a:buNone/>
            </a:pPr>
            <a:r>
              <a:rPr lang="en-US" sz="1900" b="1" dirty="0">
                <a:solidFill>
                  <a:schemeClr val="tx2"/>
                </a:solidFill>
              </a:rPr>
              <a:t>تطبيق الويب</a:t>
            </a:r>
            <a:endParaRPr lang="en-US" sz="1900" dirty="0"/>
          </a:p>
        </p:txBody>
      </p:sp>
      <p:sp>
        <p:nvSpPr>
          <p:cNvPr id="18" name="Text 12"/>
          <p:cNvSpPr/>
          <p:nvPr/>
        </p:nvSpPr>
        <p:spPr>
          <a:xfrm>
            <a:off x="777240" y="4398264"/>
            <a:ext cx="7040880" cy="685800"/>
          </a:xfrm>
          <a:prstGeom prst="rect">
            <a:avLst/>
          </a:prstGeom>
          <a:noFill/>
          <a:ln/>
        </p:spPr>
        <p:txBody>
          <a:bodyPr wrap="square" rtlCol="0" anchor="ctr"/>
          <a:lstStyle/>
          <a:p>
            <a:pPr rtl="1" algn="r" indent="0" marL="0">
              <a:buNone/>
            </a:pPr>
            <a:r>
              <a:rPr lang="en-US" sz="1500" dirty="0">
                <a:solidFill>
                  <a:schemeClr val="tx1"/>
                </a:solidFill>
              </a:rPr>
              <a:t>HTML وCSS وJavaScript ورسم بياني Chart.js، متجاوب مع الجوال.</a:t>
            </a:r>
            <a:endParaRPr lang="en-US" sz="1500" dirty="0"/>
          </a:p>
        </p:txBody>
      </p:sp>
      <p:sp>
        <p:nvSpPr>
          <p:cNvPr id="19" name="stack row"/>
          <p:cNvSpPr/>
          <p:nvPr/>
        </p:nvSpPr>
        <p:spPr>
          <a:xfrm>
            <a:off x="548640" y="5285232"/>
            <a:ext cx="11064240" cy="868680"/>
          </a:xfrm>
          <a:prstGeom prst="roundRect">
            <a:avLst>
              <a:gd name="adj" fmla="val 18947"/>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pic>
        <p:nvPicPr>
          <p:cNvPr id="20" name="Image 4" descr="تطبيق الأندرويد">    </p:cNvPr>
          <p:cNvPicPr>
            <a:picLocks noChangeAspect="1"/>
          </p:cNvPicPr>
          <p:nvPr/>
        </p:nvPicPr>
        <p:blipFill>
          <a:blip r:embed="rId5"/>
          <a:stretch>
            <a:fillRect/>
          </a:stretch>
        </p:blipFill>
        <p:spPr>
          <a:xfrm>
            <a:off x="10241280" y="5358384"/>
            <a:ext cx="1097280" cy="731520"/>
          </a:xfrm>
          <a:prstGeom prst="rect">
            <a:avLst/>
          </a:prstGeom>
        </p:spPr>
      </p:pic>
      <p:sp>
        <p:nvSpPr>
          <p:cNvPr id="21" name="Text 14"/>
          <p:cNvSpPr/>
          <p:nvPr/>
        </p:nvSpPr>
        <p:spPr>
          <a:xfrm>
            <a:off x="7863840" y="5376672"/>
            <a:ext cx="2240280" cy="685800"/>
          </a:xfrm>
          <a:prstGeom prst="rect">
            <a:avLst/>
          </a:prstGeom>
          <a:noFill/>
          <a:ln/>
        </p:spPr>
        <p:txBody>
          <a:bodyPr wrap="square" rtlCol="0" anchor="ctr"/>
          <a:lstStyle/>
          <a:p>
            <a:pPr rtl="1" algn="r" indent="0" marL="0">
              <a:buNone/>
            </a:pPr>
            <a:r>
              <a:rPr lang="en-US" sz="1900" b="1" dirty="0">
                <a:solidFill>
                  <a:schemeClr val="tx2"/>
                </a:solidFill>
              </a:rPr>
              <a:t>تطبيق الأندرويد</a:t>
            </a:r>
            <a:endParaRPr lang="en-US" sz="1900" dirty="0"/>
          </a:p>
        </p:txBody>
      </p:sp>
      <p:sp>
        <p:nvSpPr>
          <p:cNvPr id="22" name="Text 15"/>
          <p:cNvSpPr/>
          <p:nvPr/>
        </p:nvSpPr>
        <p:spPr>
          <a:xfrm>
            <a:off x="777240" y="5376672"/>
            <a:ext cx="7040880" cy="685800"/>
          </a:xfrm>
          <a:prstGeom prst="rect">
            <a:avLst/>
          </a:prstGeom>
          <a:noFill/>
          <a:ln/>
        </p:spPr>
        <p:txBody>
          <a:bodyPr wrap="square" rtlCol="0" anchor="ctr"/>
          <a:lstStyle/>
          <a:p>
            <a:pPr rtl="1" algn="r" indent="0" marL="0">
              <a:buNone/>
            </a:pPr>
            <a:r>
              <a:rPr lang="en-US" sz="1500" dirty="0">
                <a:solidFill>
                  <a:schemeClr val="tx1"/>
                </a:solidFill>
              </a:rPr>
              <a:t>Kotlin وJetpack Compose (Material 3) بالعربية والوضع الداكن.</a:t>
            </a:r>
            <a:endParaRPr lang="en-US" sz="15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تحليل النظام: مخطط حالات الاستخدام</a:t>
            </a:r>
            <a:endParaRPr lang="en-US" sz="3400" dirty="0"/>
          </a:p>
        </p:txBody>
      </p:sp>
      <p:pic>
        <p:nvPicPr>
          <p:cNvPr id="3" name="Image 0" descr="مخطط حالات الاستخدام">    </p:cNvPr>
          <p:cNvPicPr>
            <a:picLocks noChangeAspect="1"/>
          </p:cNvPicPr>
          <p:nvPr/>
        </p:nvPicPr>
        <p:blipFill>
          <a:blip r:embed="rId1"/>
          <a:stretch>
            <a:fillRect/>
          </a:stretch>
        </p:blipFill>
        <p:spPr>
          <a:xfrm>
            <a:off x="5152813" y="1280160"/>
            <a:ext cx="6460067" cy="4983480"/>
          </a:xfrm>
          <a:prstGeom prst="rect">
            <a:avLst/>
          </a:prstGeom>
        </p:spPr>
      </p:pic>
      <p:sp>
        <p:nvSpPr>
          <p:cNvPr id="4" name="Text 1"/>
          <p:cNvSpPr/>
          <p:nvPr/>
        </p:nvSpPr>
        <p:spPr>
          <a:xfrm>
            <a:off x="548640" y="1463040"/>
            <a:ext cx="3520440" cy="4572000"/>
          </a:xfrm>
          <a:prstGeom prst="rect">
            <a:avLst/>
          </a:prstGeom>
          <a:noFill/>
          <a:ln/>
        </p:spPr>
        <p:txBody>
          <a:bodyPr wrap="square" rtlCol="0" anchor="t"/>
          <a:lstStyle/>
          <a:p>
            <a:pPr algn="r" indent="0" marL="0">
              <a:spcAft>
                <a:spcPts val="1000"/>
              </a:spcAft>
              <a:buNone/>
            </a:pPr>
            <a:r>
              <a:rPr lang="en-US" sz="1500" b="1" dirty="0">
                <a:solidFill>
                  <a:srgbClr val="1E6B43"/>
                </a:solidFill>
              </a:rPr>
              <a:t>ثلاثة فاعلين</a:t>
            </a:r>
            <a:endParaRPr lang="en-US" sz="1500" dirty="0"/>
          </a:p>
          <a:p>
            <a:pPr algn="r" marL="342900" indent="-342900">
              <a:spcAft>
                <a:spcPts val="1000"/>
              </a:spcAft>
              <a:buSzPct val="100000"/>
              <a:buChar char="•"/>
            </a:pPr>
            <a:r>
              <a:rPr lang="en-US" sz="1500" dirty="0">
                <a:solidFill>
                  <a:schemeClr val="tx1"/>
                </a:solidFill>
              </a:rPr>
              <a:t>المستخدم: الحساب والزراعات والأجهزة والنغمات.</a:t>
            </a:r>
            <a:endParaRPr lang="en-US" sz="1500" dirty="0"/>
          </a:p>
          <a:p>
            <a:pPr algn="r" marL="342900" indent="-342900">
              <a:spcAft>
                <a:spcPts val="1000"/>
              </a:spcAft>
              <a:buSzPct val="100000"/>
              <a:buChar char="•"/>
            </a:pPr>
            <a:r>
              <a:rPr lang="en-US" sz="1500" dirty="0">
                <a:solidFill>
                  <a:schemeClr val="tx1"/>
                </a:solidFill>
              </a:rPr>
              <a:t>المدير: كل ما يفعله المستخدم + إدارة المستخدمين.</a:t>
            </a:r>
            <a:endParaRPr lang="en-US" sz="1500" dirty="0"/>
          </a:p>
          <a:p>
            <a:pPr algn="r" marL="342900" indent="-342900">
              <a:spcAft>
                <a:spcPts val="1000"/>
              </a:spcAft>
              <a:buSzPct val="100000"/>
              <a:buChar char="•"/>
            </a:pPr>
            <a:r>
              <a:rPr lang="en-US" sz="1500" dirty="0">
                <a:solidFill>
                  <a:schemeClr val="tx1"/>
                </a:solidFill>
              </a:rPr>
              <a:t>جهاز الاستشعار: يقرأ ويحدد الشعور ويرسل البيانات.</a:t>
            </a:r>
            <a:endParaRPr lang="en-US" sz="1500" dirty="0"/>
          </a:p>
          <a:p>
            <a:pPr algn="r" marL="342900" indent="-342900">
              <a:spcAft>
                <a:spcPts val="1000"/>
              </a:spcAft>
              <a:buSzPct val="100000"/>
              <a:buChar char="•"/>
            </a:pPr>
            <a:r>
              <a:rPr lang="en-US" sz="1500" dirty="0">
                <a:solidFill>
                  <a:schemeClr val="tx1"/>
                </a:solidFill>
              </a:rPr>
              <a:t>علاقة include: تحديد الشعور يحتاج قراءة الحساسات.</a:t>
            </a:r>
            <a:endParaRPr lang="en-US" sz="1500" dirty="0"/>
          </a:p>
          <a:p>
            <a:pPr algn="r" marL="342900" indent="-342900">
              <a:spcAft>
                <a:spcPts val="1000"/>
              </a:spcAft>
              <a:buSzPct val="100000"/>
              <a:buChar char="•"/>
            </a:pPr>
            <a:r>
              <a:rPr lang="en-US" sz="1500" dirty="0">
                <a:solidFill>
                  <a:schemeClr val="tx1"/>
                </a:solidFill>
              </a:rPr>
              <a:t>علاقة extend: النغمة تُعزف عند تغيّر الشعور فقط.</a:t>
            </a:r>
            <a:endParaRPr lang="en-US" sz="15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قاعدة البيانات MySQL</a:t>
            </a:r>
            <a:endParaRPr lang="en-US" sz="3400" dirty="0"/>
          </a:p>
        </p:txBody>
      </p:sp>
      <p:pic>
        <p:nvPicPr>
          <p:cNvPr id="3" name="Image 0" descr="النموذج العلائقي">    </p:cNvPr>
          <p:cNvPicPr>
            <a:picLocks noChangeAspect="1"/>
          </p:cNvPicPr>
          <p:nvPr/>
        </p:nvPicPr>
        <p:blipFill>
          <a:blip r:embed="rId1"/>
          <a:stretch>
            <a:fillRect/>
          </a:stretch>
        </p:blipFill>
        <p:spPr>
          <a:xfrm>
            <a:off x="4014307" y="1280160"/>
            <a:ext cx="7598573" cy="4983480"/>
          </a:xfrm>
          <a:prstGeom prst="rect">
            <a:avLst/>
          </a:prstGeom>
        </p:spPr>
      </p:pic>
      <p:sp>
        <p:nvSpPr>
          <p:cNvPr id="4" name="stat card"/>
          <p:cNvSpPr/>
          <p:nvPr/>
        </p:nvSpPr>
        <p:spPr>
          <a:xfrm>
            <a:off x="548640" y="1417320"/>
            <a:ext cx="3200400" cy="1417320"/>
          </a:xfrm>
          <a:prstGeom prst="roundRect">
            <a:avLst>
              <a:gd name="adj" fmla="val 11613"/>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5" name="Text 2"/>
          <p:cNvSpPr/>
          <p:nvPr/>
        </p:nvSpPr>
        <p:spPr>
          <a:xfrm>
            <a:off x="548640" y="1508760"/>
            <a:ext cx="3200400" cy="777240"/>
          </a:xfrm>
          <a:prstGeom prst="rect">
            <a:avLst/>
          </a:prstGeom>
          <a:noFill/>
          <a:ln/>
        </p:spPr>
        <p:txBody>
          <a:bodyPr wrap="square" lIns="0" tIns="0" rIns="0" bIns="0" rtlCol="0" anchor="ctr"/>
          <a:lstStyle/>
          <a:p>
            <a:pPr algn="ctr" indent="0" marL="0">
              <a:buNone/>
            </a:pPr>
            <a:r>
              <a:rPr lang="en-US" sz="4000" b="1" dirty="0">
                <a:solidFill>
                  <a:srgbClr val="2F9E5F"/>
                </a:solidFill>
              </a:rPr>
              <a:t>12</a:t>
            </a:r>
            <a:endParaRPr lang="en-US" sz="4000" dirty="0"/>
          </a:p>
        </p:txBody>
      </p:sp>
      <p:sp>
        <p:nvSpPr>
          <p:cNvPr id="6" name="Text 3"/>
          <p:cNvSpPr/>
          <p:nvPr/>
        </p:nvSpPr>
        <p:spPr>
          <a:xfrm>
            <a:off x="548640" y="2286000"/>
            <a:ext cx="3200400" cy="411480"/>
          </a:xfrm>
          <a:prstGeom prst="rect">
            <a:avLst/>
          </a:prstGeom>
          <a:noFill/>
          <a:ln/>
        </p:spPr>
        <p:txBody>
          <a:bodyPr wrap="square" rtlCol="0" anchor="ctr"/>
          <a:lstStyle/>
          <a:p>
            <a:pPr rtl="1" algn="ctr" indent="0" marL="0">
              <a:buNone/>
            </a:pPr>
            <a:r>
              <a:rPr lang="en-US" sz="1500" dirty="0">
                <a:solidFill>
                  <a:schemeClr val="tx1"/>
                </a:solidFill>
              </a:rPr>
              <a:t>جدولاً</a:t>
            </a:r>
            <a:endParaRPr lang="en-US" sz="1500" dirty="0"/>
          </a:p>
        </p:txBody>
      </p:sp>
      <p:sp>
        <p:nvSpPr>
          <p:cNvPr id="7" name="stat card"/>
          <p:cNvSpPr/>
          <p:nvPr/>
        </p:nvSpPr>
        <p:spPr>
          <a:xfrm>
            <a:off x="548640" y="3017520"/>
            <a:ext cx="3200400" cy="1417320"/>
          </a:xfrm>
          <a:prstGeom prst="roundRect">
            <a:avLst>
              <a:gd name="adj" fmla="val 11613"/>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8" name="Text 5"/>
          <p:cNvSpPr/>
          <p:nvPr/>
        </p:nvSpPr>
        <p:spPr>
          <a:xfrm>
            <a:off x="548640" y="3108960"/>
            <a:ext cx="3200400" cy="777240"/>
          </a:xfrm>
          <a:prstGeom prst="rect">
            <a:avLst/>
          </a:prstGeom>
          <a:noFill/>
          <a:ln/>
        </p:spPr>
        <p:txBody>
          <a:bodyPr wrap="square" lIns="0" tIns="0" rIns="0" bIns="0" rtlCol="0" anchor="ctr"/>
          <a:lstStyle/>
          <a:p>
            <a:pPr algn="ctr" indent="0" marL="0">
              <a:buNone/>
            </a:pPr>
            <a:r>
              <a:rPr lang="en-US" sz="4000" b="1" dirty="0">
                <a:solidFill>
                  <a:srgbClr val="2F9E5F"/>
                </a:solidFill>
              </a:rPr>
              <a:t>3NF</a:t>
            </a:r>
            <a:endParaRPr lang="en-US" sz="4000" dirty="0"/>
          </a:p>
        </p:txBody>
      </p:sp>
      <p:sp>
        <p:nvSpPr>
          <p:cNvPr id="9" name="Text 6"/>
          <p:cNvSpPr/>
          <p:nvPr/>
        </p:nvSpPr>
        <p:spPr>
          <a:xfrm>
            <a:off x="548640" y="3886200"/>
            <a:ext cx="3200400" cy="411480"/>
          </a:xfrm>
          <a:prstGeom prst="rect">
            <a:avLst/>
          </a:prstGeom>
          <a:noFill/>
          <a:ln/>
        </p:spPr>
        <p:txBody>
          <a:bodyPr wrap="square" rtlCol="0" anchor="ctr"/>
          <a:lstStyle/>
          <a:p>
            <a:pPr rtl="1" algn="ctr" indent="0" marL="0">
              <a:buNone/>
            </a:pPr>
            <a:r>
              <a:rPr lang="en-US" sz="1500" dirty="0">
                <a:solidFill>
                  <a:schemeClr val="tx1"/>
                </a:solidFill>
              </a:rPr>
              <a:t>الصيغة الطبيعية الثالثة</a:t>
            </a:r>
            <a:endParaRPr lang="en-US" sz="1500" dirty="0"/>
          </a:p>
        </p:txBody>
      </p:sp>
      <p:sp>
        <p:nvSpPr>
          <p:cNvPr id="10" name="stat card"/>
          <p:cNvSpPr/>
          <p:nvPr/>
        </p:nvSpPr>
        <p:spPr>
          <a:xfrm>
            <a:off x="548640" y="4617720"/>
            <a:ext cx="3200400" cy="1417320"/>
          </a:xfrm>
          <a:prstGeom prst="roundRect">
            <a:avLst>
              <a:gd name="adj" fmla="val 11613"/>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11" name="Text 8"/>
          <p:cNvSpPr/>
          <p:nvPr/>
        </p:nvSpPr>
        <p:spPr>
          <a:xfrm>
            <a:off x="548640" y="4709160"/>
            <a:ext cx="3200400" cy="777240"/>
          </a:xfrm>
          <a:prstGeom prst="rect">
            <a:avLst/>
          </a:prstGeom>
          <a:noFill/>
          <a:ln/>
        </p:spPr>
        <p:txBody>
          <a:bodyPr wrap="square" lIns="0" tIns="0" rIns="0" bIns="0" rtlCol="0" anchor="ctr"/>
          <a:lstStyle/>
          <a:p>
            <a:pPr algn="ctr" indent="0" marL="0">
              <a:buNone/>
            </a:pPr>
            <a:r>
              <a:rPr lang="en-US" sz="3000" b="1" dirty="0">
                <a:solidFill>
                  <a:srgbClr val="2F9E5F"/>
                </a:solidFill>
              </a:rPr>
              <a:t>utf8mb4</a:t>
            </a:r>
            <a:endParaRPr lang="en-US" sz="3000" dirty="0"/>
          </a:p>
        </p:txBody>
      </p:sp>
      <p:sp>
        <p:nvSpPr>
          <p:cNvPr id="12" name="Text 9"/>
          <p:cNvSpPr/>
          <p:nvPr/>
        </p:nvSpPr>
        <p:spPr>
          <a:xfrm>
            <a:off x="548640" y="5486400"/>
            <a:ext cx="3200400" cy="411480"/>
          </a:xfrm>
          <a:prstGeom prst="rect">
            <a:avLst/>
          </a:prstGeom>
          <a:noFill/>
          <a:ln/>
        </p:spPr>
        <p:txBody>
          <a:bodyPr wrap="square" rtlCol="0" anchor="ctr"/>
          <a:lstStyle/>
          <a:p>
            <a:pPr rtl="1" algn="ctr" indent="0" marL="0">
              <a:buNone/>
            </a:pPr>
            <a:r>
              <a:rPr lang="en-US" sz="1500" dirty="0">
                <a:solidFill>
                  <a:schemeClr val="tx1"/>
                </a:solidFill>
              </a:rPr>
              <a:t>العربية والإيموجي</a:t>
            </a:r>
            <a:endParaRPr lang="en-US" sz="15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إطار العمل: Agile بسبرنتات أسبوعية</a:t>
            </a:r>
            <a:endParaRPr lang="en-US" sz="3400" dirty="0"/>
          </a:p>
        </p:txBody>
      </p:sp>
      <p:sp>
        <p:nvSpPr>
          <p:cNvPr id="3" name="Shape 1"/>
          <p:cNvSpPr/>
          <p:nvPr/>
        </p:nvSpPr>
        <p:spPr>
          <a:xfrm>
            <a:off x="822960" y="3246120"/>
            <a:ext cx="10515600" cy="0"/>
          </a:xfrm>
          <a:prstGeom prst="line">
            <a:avLst/>
          </a:prstGeom>
          <a:noFill/>
          <a:ln w="50800">
            <a:solidFill>
              <a:srgbClr val="7FD3A0"/>
            </a:solidFill>
            <a:prstDash val="solid"/>
          </a:ln>
        </p:spPr>
      </p:sp>
      <p:sp>
        <p:nvSpPr>
          <p:cNvPr id="4" name="Shape 2"/>
          <p:cNvSpPr/>
          <p:nvPr/>
        </p:nvSpPr>
        <p:spPr>
          <a:xfrm>
            <a:off x="10938967" y="2862072"/>
            <a:ext cx="768096" cy="768096"/>
          </a:xfrm>
          <a:prstGeom prst="ellipse">
            <a:avLst/>
          </a:prstGeom>
          <a:solidFill>
            <a:srgbClr val="2F9E5F"/>
          </a:solidFill>
          <a:ln w="38100">
            <a:solidFill>
              <a:srgbClr val="FFFFFF"/>
            </a:solidFill>
            <a:prstDash val="solid"/>
          </a:ln>
        </p:spPr>
      </p:sp>
      <p:sp>
        <p:nvSpPr>
          <p:cNvPr id="5" name="Text 3"/>
          <p:cNvSpPr/>
          <p:nvPr/>
        </p:nvSpPr>
        <p:spPr>
          <a:xfrm>
            <a:off x="10938967" y="2862072"/>
            <a:ext cx="768096" cy="768096"/>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6" name="Text 4"/>
          <p:cNvSpPr/>
          <p:nvPr/>
        </p:nvSpPr>
        <p:spPr>
          <a:xfrm>
            <a:off x="10545775" y="1600200"/>
            <a:ext cx="1554480" cy="1005840"/>
          </a:xfrm>
          <a:prstGeom prst="rect">
            <a:avLst/>
          </a:prstGeom>
          <a:noFill/>
          <a:ln/>
        </p:spPr>
        <p:txBody>
          <a:bodyPr wrap="square" rtlCol="0" anchor="b"/>
          <a:lstStyle/>
          <a:p>
            <a:pPr rtl="1" algn="ctr" indent="0" marL="0">
              <a:buNone/>
            </a:pPr>
            <a:r>
              <a:rPr lang="en-US" sz="1400" b="1" dirty="0">
                <a:solidFill>
                  <a:schemeClr val="tx2"/>
                </a:solidFill>
              </a:rPr>
              <a:t>التحليل والتصميم وقاعدة البيانات</a:t>
            </a:r>
            <a:endParaRPr lang="en-US" sz="1400" dirty="0"/>
          </a:p>
        </p:txBody>
      </p:sp>
      <p:sp>
        <p:nvSpPr>
          <p:cNvPr id="7" name="Shape 5"/>
          <p:cNvSpPr/>
          <p:nvPr/>
        </p:nvSpPr>
        <p:spPr>
          <a:xfrm>
            <a:off x="9201607" y="2862072"/>
            <a:ext cx="768096" cy="768096"/>
          </a:xfrm>
          <a:prstGeom prst="ellipse">
            <a:avLst/>
          </a:prstGeom>
          <a:solidFill>
            <a:srgbClr val="2F9E5F"/>
          </a:solidFill>
          <a:ln w="38100">
            <a:solidFill>
              <a:srgbClr val="FFFFFF"/>
            </a:solidFill>
            <a:prstDash val="solid"/>
          </a:ln>
        </p:spPr>
      </p:sp>
      <p:sp>
        <p:nvSpPr>
          <p:cNvPr id="8" name="Text 6"/>
          <p:cNvSpPr/>
          <p:nvPr/>
        </p:nvSpPr>
        <p:spPr>
          <a:xfrm>
            <a:off x="9201607" y="2862072"/>
            <a:ext cx="768096" cy="768096"/>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9" name="Text 7"/>
          <p:cNvSpPr/>
          <p:nvPr/>
        </p:nvSpPr>
        <p:spPr>
          <a:xfrm>
            <a:off x="8808415" y="3840480"/>
            <a:ext cx="1554480" cy="1005840"/>
          </a:xfrm>
          <a:prstGeom prst="rect">
            <a:avLst/>
          </a:prstGeom>
          <a:noFill/>
          <a:ln/>
        </p:spPr>
        <p:txBody>
          <a:bodyPr wrap="square" rtlCol="0" anchor="t"/>
          <a:lstStyle/>
          <a:p>
            <a:pPr rtl="1" algn="ctr" indent="0" marL="0">
              <a:buNone/>
            </a:pPr>
            <a:r>
              <a:rPr lang="en-US" sz="1400" b="1" dirty="0">
                <a:solidFill>
                  <a:schemeClr val="tx2"/>
                </a:solidFill>
              </a:rPr>
              <a:t>شراء القطع وتوصيل الحساسات</a:t>
            </a:r>
            <a:endParaRPr lang="en-US" sz="1400" dirty="0"/>
          </a:p>
        </p:txBody>
      </p:sp>
      <p:sp>
        <p:nvSpPr>
          <p:cNvPr id="10" name="Shape 8"/>
          <p:cNvSpPr/>
          <p:nvPr/>
        </p:nvSpPr>
        <p:spPr>
          <a:xfrm>
            <a:off x="7464247" y="2862072"/>
            <a:ext cx="768096" cy="768096"/>
          </a:xfrm>
          <a:prstGeom prst="ellipse">
            <a:avLst/>
          </a:prstGeom>
          <a:solidFill>
            <a:srgbClr val="2F9E5F"/>
          </a:solidFill>
          <a:ln w="38100">
            <a:solidFill>
              <a:srgbClr val="FFFFFF"/>
            </a:solidFill>
            <a:prstDash val="solid"/>
          </a:ln>
        </p:spPr>
      </p:sp>
      <p:sp>
        <p:nvSpPr>
          <p:cNvPr id="11" name="Text 9"/>
          <p:cNvSpPr/>
          <p:nvPr/>
        </p:nvSpPr>
        <p:spPr>
          <a:xfrm>
            <a:off x="7464247" y="2862072"/>
            <a:ext cx="768096" cy="768096"/>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2" name="Text 10"/>
          <p:cNvSpPr/>
          <p:nvPr/>
        </p:nvSpPr>
        <p:spPr>
          <a:xfrm>
            <a:off x="7071055" y="1600200"/>
            <a:ext cx="1554480" cy="1005840"/>
          </a:xfrm>
          <a:prstGeom prst="rect">
            <a:avLst/>
          </a:prstGeom>
          <a:noFill/>
          <a:ln/>
        </p:spPr>
        <p:txBody>
          <a:bodyPr wrap="square" rtlCol="0" anchor="b"/>
          <a:lstStyle/>
          <a:p>
            <a:pPr rtl="1" algn="ctr" indent="0" marL="0">
              <a:buNone/>
            </a:pPr>
            <a:r>
              <a:rPr lang="en-US" sz="1400" b="1" dirty="0">
                <a:solidFill>
                  <a:schemeClr val="tx2"/>
                </a:solidFill>
              </a:rPr>
              <a:t>برمجة ESP32 والمشاعر والنغمات</a:t>
            </a:r>
            <a:endParaRPr lang="en-US" sz="1400" dirty="0"/>
          </a:p>
        </p:txBody>
      </p:sp>
      <p:sp>
        <p:nvSpPr>
          <p:cNvPr id="13" name="Shape 11"/>
          <p:cNvSpPr/>
          <p:nvPr/>
        </p:nvSpPr>
        <p:spPr>
          <a:xfrm>
            <a:off x="5726887" y="2862072"/>
            <a:ext cx="768096" cy="768096"/>
          </a:xfrm>
          <a:prstGeom prst="ellipse">
            <a:avLst/>
          </a:prstGeom>
          <a:solidFill>
            <a:srgbClr val="2F9E5F"/>
          </a:solidFill>
          <a:ln w="38100">
            <a:solidFill>
              <a:srgbClr val="FFFFFF"/>
            </a:solidFill>
            <a:prstDash val="solid"/>
          </a:ln>
        </p:spPr>
      </p:sp>
      <p:sp>
        <p:nvSpPr>
          <p:cNvPr id="14" name="Text 12"/>
          <p:cNvSpPr/>
          <p:nvPr/>
        </p:nvSpPr>
        <p:spPr>
          <a:xfrm>
            <a:off x="5726887" y="2862072"/>
            <a:ext cx="768096" cy="768096"/>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15" name="Text 13"/>
          <p:cNvSpPr/>
          <p:nvPr/>
        </p:nvSpPr>
        <p:spPr>
          <a:xfrm>
            <a:off x="5333695" y="3840480"/>
            <a:ext cx="1554480" cy="1005840"/>
          </a:xfrm>
          <a:prstGeom prst="rect">
            <a:avLst/>
          </a:prstGeom>
          <a:noFill/>
          <a:ln/>
        </p:spPr>
        <p:txBody>
          <a:bodyPr wrap="square" rtlCol="0" anchor="t"/>
          <a:lstStyle/>
          <a:p>
            <a:pPr rtl="1" algn="ctr" indent="0" marL="0">
              <a:buNone/>
            </a:pPr>
            <a:r>
              <a:rPr lang="en-US" sz="1400" b="1" dirty="0">
                <a:solidFill>
                  <a:schemeClr val="tx2"/>
                </a:solidFill>
              </a:rPr>
              <a:t>الخادم PHP وتطبيق الويب</a:t>
            </a:r>
            <a:endParaRPr lang="en-US" sz="1400" dirty="0"/>
          </a:p>
        </p:txBody>
      </p:sp>
      <p:sp>
        <p:nvSpPr>
          <p:cNvPr id="16" name="Shape 14"/>
          <p:cNvSpPr/>
          <p:nvPr/>
        </p:nvSpPr>
        <p:spPr>
          <a:xfrm>
            <a:off x="3989527" y="2862072"/>
            <a:ext cx="768096" cy="768096"/>
          </a:xfrm>
          <a:prstGeom prst="ellipse">
            <a:avLst/>
          </a:prstGeom>
          <a:solidFill>
            <a:srgbClr val="2F9E5F"/>
          </a:solidFill>
          <a:ln w="38100">
            <a:solidFill>
              <a:srgbClr val="FFFFFF"/>
            </a:solidFill>
            <a:prstDash val="solid"/>
          </a:ln>
        </p:spPr>
      </p:sp>
      <p:sp>
        <p:nvSpPr>
          <p:cNvPr id="17" name="Text 15"/>
          <p:cNvSpPr/>
          <p:nvPr/>
        </p:nvSpPr>
        <p:spPr>
          <a:xfrm>
            <a:off x="3989527" y="2862072"/>
            <a:ext cx="768096" cy="768096"/>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18" name="Text 16"/>
          <p:cNvSpPr/>
          <p:nvPr/>
        </p:nvSpPr>
        <p:spPr>
          <a:xfrm>
            <a:off x="3596335" y="1600200"/>
            <a:ext cx="1554480" cy="1005840"/>
          </a:xfrm>
          <a:prstGeom prst="rect">
            <a:avLst/>
          </a:prstGeom>
          <a:noFill/>
          <a:ln/>
        </p:spPr>
        <p:txBody>
          <a:bodyPr wrap="square" rtlCol="0" anchor="b"/>
          <a:lstStyle/>
          <a:p>
            <a:pPr rtl="1" algn="ctr" indent="0" marL="0">
              <a:buNone/>
            </a:pPr>
            <a:r>
              <a:rPr lang="en-US" sz="1400" b="1" dirty="0">
                <a:solidFill>
                  <a:schemeClr val="tx2"/>
                </a:solidFill>
              </a:rPr>
              <a:t>تطبيق الأندرويد</a:t>
            </a:r>
            <a:endParaRPr lang="en-US" sz="1400" dirty="0"/>
          </a:p>
        </p:txBody>
      </p:sp>
      <p:sp>
        <p:nvSpPr>
          <p:cNvPr id="19" name="Shape 17"/>
          <p:cNvSpPr/>
          <p:nvPr/>
        </p:nvSpPr>
        <p:spPr>
          <a:xfrm>
            <a:off x="2252167" y="2862072"/>
            <a:ext cx="768096" cy="768096"/>
          </a:xfrm>
          <a:prstGeom prst="ellipse">
            <a:avLst/>
          </a:prstGeom>
          <a:solidFill>
            <a:srgbClr val="2F9E5F"/>
          </a:solidFill>
          <a:ln w="38100">
            <a:solidFill>
              <a:srgbClr val="FFFFFF"/>
            </a:solidFill>
            <a:prstDash val="solid"/>
          </a:ln>
        </p:spPr>
      </p:sp>
      <p:sp>
        <p:nvSpPr>
          <p:cNvPr id="20" name="Text 18"/>
          <p:cNvSpPr/>
          <p:nvPr/>
        </p:nvSpPr>
        <p:spPr>
          <a:xfrm>
            <a:off x="2252167" y="2862072"/>
            <a:ext cx="768096" cy="768096"/>
          </a:xfrm>
          <a:prstGeom prst="rect">
            <a:avLst/>
          </a:prstGeom>
          <a:noFill/>
          <a:ln/>
        </p:spPr>
        <p:txBody>
          <a:bodyPr wrap="square" lIns="0" tIns="0" rIns="0" bIns="0" rtlCol="0" anchor="ctr"/>
          <a:lstStyle/>
          <a:p>
            <a:pPr algn="ctr" indent="0" marL="0">
              <a:buNone/>
            </a:pPr>
            <a:r>
              <a:rPr lang="en-US" sz="2200" b="1" dirty="0">
                <a:solidFill>
                  <a:srgbClr val="FFFFFF"/>
                </a:solidFill>
              </a:rPr>
              <a:t>6</a:t>
            </a:r>
            <a:endParaRPr lang="en-US" sz="2200" dirty="0"/>
          </a:p>
        </p:txBody>
      </p:sp>
      <p:sp>
        <p:nvSpPr>
          <p:cNvPr id="21" name="Text 19"/>
          <p:cNvSpPr/>
          <p:nvPr/>
        </p:nvSpPr>
        <p:spPr>
          <a:xfrm>
            <a:off x="1858975" y="3840480"/>
            <a:ext cx="1554480" cy="1005840"/>
          </a:xfrm>
          <a:prstGeom prst="rect">
            <a:avLst/>
          </a:prstGeom>
          <a:noFill/>
          <a:ln/>
        </p:spPr>
        <p:txBody>
          <a:bodyPr wrap="square" rtlCol="0" anchor="t"/>
          <a:lstStyle/>
          <a:p>
            <a:pPr rtl="1" algn="ctr" indent="0" marL="0">
              <a:buNone/>
            </a:pPr>
            <a:r>
              <a:rPr lang="en-US" sz="1400" b="1" dirty="0">
                <a:solidFill>
                  <a:schemeClr val="tx2"/>
                </a:solidFill>
              </a:rPr>
              <a:t>الربط والتكامل والاختبار</a:t>
            </a:r>
            <a:endParaRPr lang="en-US" sz="1400" dirty="0"/>
          </a:p>
        </p:txBody>
      </p:sp>
      <p:sp>
        <p:nvSpPr>
          <p:cNvPr id="22" name="Shape 20"/>
          <p:cNvSpPr/>
          <p:nvPr/>
        </p:nvSpPr>
        <p:spPr>
          <a:xfrm>
            <a:off x="514807" y="2862072"/>
            <a:ext cx="768096" cy="768096"/>
          </a:xfrm>
          <a:prstGeom prst="ellipse">
            <a:avLst/>
          </a:prstGeom>
          <a:solidFill>
            <a:srgbClr val="FFB020"/>
          </a:solidFill>
          <a:ln w="38100">
            <a:solidFill>
              <a:srgbClr val="FFFFFF"/>
            </a:solidFill>
            <a:prstDash val="solid"/>
          </a:ln>
        </p:spPr>
      </p:sp>
      <p:sp>
        <p:nvSpPr>
          <p:cNvPr id="23" name="Text 21"/>
          <p:cNvSpPr/>
          <p:nvPr/>
        </p:nvSpPr>
        <p:spPr>
          <a:xfrm>
            <a:off x="514807" y="2862072"/>
            <a:ext cx="768096" cy="768096"/>
          </a:xfrm>
          <a:prstGeom prst="rect">
            <a:avLst/>
          </a:prstGeom>
          <a:noFill/>
          <a:ln/>
        </p:spPr>
        <p:txBody>
          <a:bodyPr wrap="square" lIns="0" tIns="0" rIns="0" bIns="0" rtlCol="0" anchor="ctr"/>
          <a:lstStyle/>
          <a:p>
            <a:pPr algn="ctr" indent="0" marL="0">
              <a:buNone/>
            </a:pPr>
            <a:r>
              <a:rPr lang="en-US" sz="2200" b="1" dirty="0">
                <a:solidFill>
                  <a:srgbClr val="FFFFFF"/>
                </a:solidFill>
              </a:rPr>
              <a:t>7</a:t>
            </a:r>
            <a:endParaRPr lang="en-US" sz="2200" dirty="0"/>
          </a:p>
        </p:txBody>
      </p:sp>
      <p:sp>
        <p:nvSpPr>
          <p:cNvPr id="24" name="Text 22"/>
          <p:cNvSpPr/>
          <p:nvPr/>
        </p:nvSpPr>
        <p:spPr>
          <a:xfrm>
            <a:off x="121615" y="1600200"/>
            <a:ext cx="1554480" cy="1005840"/>
          </a:xfrm>
          <a:prstGeom prst="rect">
            <a:avLst/>
          </a:prstGeom>
          <a:noFill/>
          <a:ln/>
        </p:spPr>
        <p:txBody>
          <a:bodyPr wrap="square" rtlCol="0" anchor="b"/>
          <a:lstStyle/>
          <a:p>
            <a:pPr rtl="1" algn="ctr" indent="0" marL="0">
              <a:buNone/>
            </a:pPr>
            <a:r>
              <a:rPr lang="en-US" sz="1400" b="1" dirty="0">
                <a:solidFill>
                  <a:schemeClr val="tx2"/>
                </a:solidFill>
              </a:rPr>
              <a:t>التحسينات والتوثيق</a:t>
            </a:r>
            <a:endParaRPr lang="en-US" sz="1400" dirty="0"/>
          </a:p>
        </p:txBody>
      </p:sp>
      <p:sp>
        <p:nvSpPr>
          <p:cNvPr id="25" name="Text 23"/>
          <p:cNvSpPr/>
          <p:nvPr/>
        </p:nvSpPr>
        <p:spPr>
          <a:xfrm>
            <a:off x="914400" y="5303520"/>
            <a:ext cx="10332720" cy="548640"/>
          </a:xfrm>
          <a:prstGeom prst="rect">
            <a:avLst/>
          </a:prstGeom>
          <a:noFill/>
          <a:ln/>
        </p:spPr>
        <p:txBody>
          <a:bodyPr wrap="square" rtlCol="0" anchor="ctr"/>
          <a:lstStyle/>
          <a:p>
            <a:pPr rtl="1" algn="ctr" indent="0" marL="0">
              <a:buNone/>
            </a:pPr>
            <a:r>
              <a:rPr lang="en-US" sz="1700" i="1" dirty="0">
                <a:solidFill>
                  <a:srgbClr val="1E6B43"/>
                </a:solidFill>
              </a:rPr>
              <a:t>اجتماع يومي مختصر · مراجعة أسبوعية مع المشرفة · Git لحفظ الكود ومشاركته</a:t>
            </a:r>
            <a:endParaRPr lang="en-US" sz="17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تطبيق الويب</a:t>
            </a:r>
            <a:endParaRPr lang="en-US" sz="3400" dirty="0"/>
          </a:p>
        </p:txBody>
      </p:sp>
      <p:pic>
        <p:nvPicPr>
          <p:cNvPr id="3" name="Image 0" descr="صفحة زراعاتي">    </p:cNvPr>
          <p:cNvPicPr>
            <a:picLocks noChangeAspect="1"/>
          </p:cNvPicPr>
          <p:nvPr/>
        </p:nvPicPr>
        <p:blipFill>
          <a:blip r:embed="rId1"/>
          <a:stretch>
            <a:fillRect/>
          </a:stretch>
        </p:blipFill>
        <p:spPr>
          <a:xfrm>
            <a:off x="6172200" y="1388745"/>
            <a:ext cx="5440680" cy="4080510"/>
          </a:xfrm>
          <a:prstGeom prst="rect">
            <a:avLst/>
          </a:prstGeom>
        </p:spPr>
      </p:pic>
      <p:pic>
        <p:nvPicPr>
          <p:cNvPr id="4" name="Image 1" descr="صفحة الزراعة">    </p:cNvPr>
          <p:cNvPicPr>
            <a:picLocks noChangeAspect="1"/>
          </p:cNvPicPr>
          <p:nvPr/>
        </p:nvPicPr>
        <p:blipFill>
          <a:blip r:embed="rId2"/>
          <a:stretch>
            <a:fillRect/>
          </a:stretch>
        </p:blipFill>
        <p:spPr>
          <a:xfrm>
            <a:off x="1898125" y="1325880"/>
            <a:ext cx="2741710" cy="4206240"/>
          </a:xfrm>
          <a:prstGeom prst="rect">
            <a:avLst/>
          </a:prstGeom>
        </p:spPr>
      </p:pic>
      <p:sp>
        <p:nvSpPr>
          <p:cNvPr id="5" name="Text 1"/>
          <p:cNvSpPr/>
          <p:nvPr/>
        </p:nvSpPr>
        <p:spPr>
          <a:xfrm>
            <a:off x="6172200" y="5623560"/>
            <a:ext cx="5440680" cy="457200"/>
          </a:xfrm>
          <a:prstGeom prst="rect">
            <a:avLst/>
          </a:prstGeom>
          <a:noFill/>
          <a:ln/>
        </p:spPr>
        <p:txBody>
          <a:bodyPr wrap="square" rtlCol="0" anchor="ctr"/>
          <a:lstStyle/>
          <a:p>
            <a:pPr rtl="1" algn="ctr" indent="0" marL="0">
              <a:buNone/>
            </a:pPr>
            <a:r>
              <a:rPr lang="en-US" sz="1500" b="1" dirty="0">
                <a:solidFill>
                  <a:schemeClr val="tx2"/>
                </a:solidFill>
              </a:rPr>
              <a:t>زراعاتي: بطاقة لكل زراعة بإيموجي حالتها</a:t>
            </a:r>
            <a:endParaRPr lang="en-US" sz="1500" dirty="0"/>
          </a:p>
        </p:txBody>
      </p:sp>
      <p:sp>
        <p:nvSpPr>
          <p:cNvPr id="6" name="Text 2"/>
          <p:cNvSpPr/>
          <p:nvPr/>
        </p:nvSpPr>
        <p:spPr>
          <a:xfrm>
            <a:off x="548640" y="5623560"/>
            <a:ext cx="5440680" cy="457200"/>
          </a:xfrm>
          <a:prstGeom prst="rect">
            <a:avLst/>
          </a:prstGeom>
          <a:noFill/>
          <a:ln/>
        </p:spPr>
        <p:txBody>
          <a:bodyPr wrap="square" rtlCol="0" anchor="ctr"/>
          <a:lstStyle/>
          <a:p>
            <a:pPr rtl="1" algn="ctr" indent="0" marL="0">
              <a:buNone/>
            </a:pPr>
            <a:r>
              <a:rPr lang="en-US" sz="1500" b="1" dirty="0">
                <a:solidFill>
                  <a:schemeClr val="tx2"/>
                </a:solidFill>
              </a:rPr>
              <a:t>صفحة الزراعة: القيم والرسم البياني والنغمات والإعدادات</a:t>
            </a:r>
            <a:endParaRPr lang="en-US" sz="15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تطبيق الأندرويد</a:t>
            </a:r>
            <a:endParaRPr lang="en-US" sz="3400" dirty="0"/>
          </a:p>
        </p:txBody>
      </p:sp>
      <p:pic>
        <p:nvPicPr>
          <p:cNvPr id="3" name="Image 0" descr="شاشات تطبيق الأندرويد">    </p:cNvPr>
          <p:cNvPicPr>
            <a:picLocks noChangeAspect="1"/>
          </p:cNvPicPr>
          <p:nvPr/>
        </p:nvPicPr>
        <p:blipFill>
          <a:blip r:embed="rId1"/>
          <a:stretch>
            <a:fillRect/>
          </a:stretch>
        </p:blipFill>
        <p:spPr>
          <a:xfrm>
            <a:off x="2798298" y="1280160"/>
            <a:ext cx="6564923" cy="4480560"/>
          </a:xfrm>
          <a:prstGeom prst="rect">
            <a:avLst/>
          </a:prstGeom>
        </p:spPr>
      </p:pic>
      <p:sp>
        <p:nvSpPr>
          <p:cNvPr id="4" name="Text 1"/>
          <p:cNvSpPr/>
          <p:nvPr/>
        </p:nvSpPr>
        <p:spPr>
          <a:xfrm>
            <a:off x="548640" y="5806440"/>
            <a:ext cx="11064240" cy="457200"/>
          </a:xfrm>
          <a:prstGeom prst="rect">
            <a:avLst/>
          </a:prstGeom>
          <a:noFill/>
          <a:ln/>
        </p:spPr>
        <p:txBody>
          <a:bodyPr wrap="square" rtlCol="0" anchor="ctr"/>
          <a:lstStyle/>
          <a:p>
            <a:pPr rtl="1" algn="ctr" indent="0" marL="0">
              <a:buNone/>
            </a:pPr>
            <a:r>
              <a:rPr lang="en-US" sz="1600" b="1" dirty="0">
                <a:solidFill>
                  <a:schemeClr val="tx2"/>
                </a:solidFill>
              </a:rPr>
              <a:t>تصميم جذاب: لون الصفحة يتغير حسب شعور الزراعة · عربي وإنجليزي · فاتح وداكن</a:t>
            </a:r>
            <a:endParaRPr lang="en-US" sz="16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جهاز واحد… يتنقل بين الزراعات</a:t>
            </a:r>
            <a:endParaRPr lang="en-US" sz="3400" dirty="0"/>
          </a:p>
        </p:txBody>
      </p:sp>
      <p:sp>
        <p:nvSpPr>
          <p:cNvPr id="3" name="crop card"/>
          <p:cNvSpPr/>
          <p:nvPr/>
        </p:nvSpPr>
        <p:spPr>
          <a:xfrm>
            <a:off x="9037015" y="1737360"/>
            <a:ext cx="2423160" cy="2194560"/>
          </a:xfrm>
          <a:prstGeom prst="roundRect">
            <a:avLst>
              <a:gd name="adj" fmla="val 7500"/>
            </a:avLst>
          </a:prstGeom>
          <a:solidFill>
            <a:srgbClr val="E2F5E9"/>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4" name="Text 2"/>
          <p:cNvSpPr/>
          <p:nvPr/>
        </p:nvSpPr>
        <p:spPr>
          <a:xfrm>
            <a:off x="9037015" y="1874520"/>
            <a:ext cx="2423160" cy="109728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5" name="Text 3"/>
          <p:cNvSpPr/>
          <p:nvPr/>
        </p:nvSpPr>
        <p:spPr>
          <a:xfrm>
            <a:off x="9037015" y="3063240"/>
            <a:ext cx="2423160" cy="548640"/>
          </a:xfrm>
          <a:prstGeom prst="rect">
            <a:avLst/>
          </a:prstGeom>
          <a:noFill/>
          <a:ln/>
        </p:spPr>
        <p:txBody>
          <a:bodyPr wrap="square" rtlCol="0" anchor="ctr"/>
          <a:lstStyle/>
          <a:p>
            <a:pPr rtl="1" algn="ctr" indent="0" marL="0">
              <a:buNone/>
            </a:pPr>
            <a:r>
              <a:rPr lang="en-US" sz="1800" b="1" dirty="0">
                <a:solidFill>
                  <a:schemeClr val="tx2"/>
                </a:solidFill>
              </a:rPr>
              <a:t>حقل الفراولة</a:t>
            </a:r>
            <a:endParaRPr lang="en-US" sz="1800" dirty="0"/>
          </a:p>
        </p:txBody>
      </p:sp>
      <p:sp>
        <p:nvSpPr>
          <p:cNvPr id="6" name="Text 4"/>
          <p:cNvSpPr/>
          <p:nvPr/>
        </p:nvSpPr>
        <p:spPr>
          <a:xfrm>
            <a:off x="8652967" y="2514600"/>
            <a:ext cx="411480" cy="548640"/>
          </a:xfrm>
          <a:prstGeom prst="rect">
            <a:avLst/>
          </a:prstGeom>
          <a:noFill/>
          <a:ln/>
        </p:spPr>
        <p:txBody>
          <a:bodyPr wrap="square" lIns="0" tIns="0" rIns="0" bIns="0" rtlCol="0" anchor="ctr"/>
          <a:lstStyle/>
          <a:p>
            <a:pPr algn="ctr" indent="0" marL="0">
              <a:buNone/>
            </a:pPr>
            <a:r>
              <a:rPr lang="en-US" sz="2600" b="1" dirty="0">
                <a:solidFill>
                  <a:srgbClr val="2F9E5F"/>
                </a:solidFill>
              </a:rPr>
              <a:t>⇄</a:t>
            </a:r>
            <a:endParaRPr lang="en-US" sz="2600" dirty="0"/>
          </a:p>
        </p:txBody>
      </p:sp>
      <p:sp>
        <p:nvSpPr>
          <p:cNvPr id="7" name="crop card"/>
          <p:cNvSpPr/>
          <p:nvPr/>
        </p:nvSpPr>
        <p:spPr>
          <a:xfrm>
            <a:off x="6248095" y="1737360"/>
            <a:ext cx="2423160" cy="2194560"/>
          </a:xfrm>
          <a:prstGeom prst="roundRect">
            <a:avLst>
              <a:gd name="adj" fmla="val 7500"/>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8" name="Text 6"/>
          <p:cNvSpPr/>
          <p:nvPr/>
        </p:nvSpPr>
        <p:spPr>
          <a:xfrm>
            <a:off x="6248095" y="1874520"/>
            <a:ext cx="2423160" cy="109728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9" name="Text 7"/>
          <p:cNvSpPr/>
          <p:nvPr/>
        </p:nvSpPr>
        <p:spPr>
          <a:xfrm>
            <a:off x="6248095" y="3063240"/>
            <a:ext cx="2423160" cy="548640"/>
          </a:xfrm>
          <a:prstGeom prst="rect">
            <a:avLst/>
          </a:prstGeom>
          <a:noFill/>
          <a:ln/>
        </p:spPr>
        <p:txBody>
          <a:bodyPr wrap="square" rtlCol="0" anchor="ctr"/>
          <a:lstStyle/>
          <a:p>
            <a:pPr rtl="1" algn="ctr" indent="0" marL="0">
              <a:buNone/>
            </a:pPr>
            <a:r>
              <a:rPr lang="en-US" sz="1800" b="1" dirty="0">
                <a:solidFill>
                  <a:schemeClr val="tx2"/>
                </a:solidFill>
              </a:rPr>
              <a:t>طماطم السطح</a:t>
            </a:r>
            <a:endParaRPr lang="en-US" sz="1800" dirty="0"/>
          </a:p>
        </p:txBody>
      </p:sp>
      <p:sp>
        <p:nvSpPr>
          <p:cNvPr id="10" name="Text 8"/>
          <p:cNvSpPr/>
          <p:nvPr/>
        </p:nvSpPr>
        <p:spPr>
          <a:xfrm>
            <a:off x="5864047" y="2514600"/>
            <a:ext cx="411480" cy="548640"/>
          </a:xfrm>
          <a:prstGeom prst="rect">
            <a:avLst/>
          </a:prstGeom>
          <a:noFill/>
          <a:ln/>
        </p:spPr>
        <p:txBody>
          <a:bodyPr wrap="square" lIns="0" tIns="0" rIns="0" bIns="0" rtlCol="0" anchor="ctr"/>
          <a:lstStyle/>
          <a:p>
            <a:pPr algn="ctr" indent="0" marL="0">
              <a:buNone/>
            </a:pPr>
            <a:r>
              <a:rPr lang="en-US" sz="2600" b="1" dirty="0">
                <a:solidFill>
                  <a:srgbClr val="2F9E5F"/>
                </a:solidFill>
              </a:rPr>
              <a:t>⇄</a:t>
            </a:r>
            <a:endParaRPr lang="en-US" sz="2600" dirty="0"/>
          </a:p>
        </p:txBody>
      </p:sp>
      <p:sp>
        <p:nvSpPr>
          <p:cNvPr id="11" name="crop card"/>
          <p:cNvSpPr/>
          <p:nvPr/>
        </p:nvSpPr>
        <p:spPr>
          <a:xfrm>
            <a:off x="3459175" y="1737360"/>
            <a:ext cx="2423160" cy="2194560"/>
          </a:xfrm>
          <a:prstGeom prst="roundRect">
            <a:avLst>
              <a:gd name="adj" fmla="val 7500"/>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12" name="Text 10"/>
          <p:cNvSpPr/>
          <p:nvPr/>
        </p:nvSpPr>
        <p:spPr>
          <a:xfrm>
            <a:off x="3459175" y="1874520"/>
            <a:ext cx="2423160" cy="109728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13" name="Text 11"/>
          <p:cNvSpPr/>
          <p:nvPr/>
        </p:nvSpPr>
        <p:spPr>
          <a:xfrm>
            <a:off x="3459175" y="3063240"/>
            <a:ext cx="2423160" cy="548640"/>
          </a:xfrm>
          <a:prstGeom prst="rect">
            <a:avLst/>
          </a:prstGeom>
          <a:noFill/>
          <a:ln/>
        </p:spPr>
        <p:txBody>
          <a:bodyPr wrap="square" rtlCol="0" anchor="ctr"/>
          <a:lstStyle/>
          <a:p>
            <a:pPr rtl="1" algn="ctr" indent="0" marL="0">
              <a:buNone/>
            </a:pPr>
            <a:r>
              <a:rPr lang="en-US" sz="1800" b="1" dirty="0">
                <a:solidFill>
                  <a:schemeClr val="tx2"/>
                </a:solidFill>
              </a:rPr>
              <a:t>نعناع الحديقة</a:t>
            </a:r>
            <a:endParaRPr lang="en-US" sz="1800" dirty="0"/>
          </a:p>
        </p:txBody>
      </p:sp>
      <p:sp>
        <p:nvSpPr>
          <p:cNvPr id="14" name="Text 12"/>
          <p:cNvSpPr/>
          <p:nvPr/>
        </p:nvSpPr>
        <p:spPr>
          <a:xfrm>
            <a:off x="3075127" y="2514600"/>
            <a:ext cx="411480" cy="548640"/>
          </a:xfrm>
          <a:prstGeom prst="rect">
            <a:avLst/>
          </a:prstGeom>
          <a:noFill/>
          <a:ln/>
        </p:spPr>
        <p:txBody>
          <a:bodyPr wrap="square" lIns="0" tIns="0" rIns="0" bIns="0" rtlCol="0" anchor="ctr"/>
          <a:lstStyle/>
          <a:p>
            <a:pPr algn="ctr" indent="0" marL="0">
              <a:buNone/>
            </a:pPr>
            <a:r>
              <a:rPr lang="en-US" sz="2600" b="1" dirty="0">
                <a:solidFill>
                  <a:srgbClr val="2F9E5F"/>
                </a:solidFill>
              </a:rPr>
              <a:t>⇄</a:t>
            </a:r>
            <a:endParaRPr lang="en-US" sz="2600" dirty="0"/>
          </a:p>
        </p:txBody>
      </p:sp>
      <p:sp>
        <p:nvSpPr>
          <p:cNvPr id="15" name="crop card"/>
          <p:cNvSpPr/>
          <p:nvPr/>
        </p:nvSpPr>
        <p:spPr>
          <a:xfrm>
            <a:off x="670255" y="1737360"/>
            <a:ext cx="2423160" cy="2194560"/>
          </a:xfrm>
          <a:prstGeom prst="roundRect">
            <a:avLst>
              <a:gd name="adj" fmla="val 7500"/>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16" name="Text 14"/>
          <p:cNvSpPr/>
          <p:nvPr/>
        </p:nvSpPr>
        <p:spPr>
          <a:xfrm>
            <a:off x="670255" y="1874520"/>
            <a:ext cx="2423160" cy="109728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17" name="Text 15"/>
          <p:cNvSpPr/>
          <p:nvPr/>
        </p:nvSpPr>
        <p:spPr>
          <a:xfrm>
            <a:off x="670255" y="3063240"/>
            <a:ext cx="2423160" cy="548640"/>
          </a:xfrm>
          <a:prstGeom prst="rect">
            <a:avLst/>
          </a:prstGeom>
          <a:noFill/>
          <a:ln/>
        </p:spPr>
        <p:txBody>
          <a:bodyPr wrap="square" rtlCol="0" anchor="ctr"/>
          <a:lstStyle/>
          <a:p>
            <a:pPr rtl="1" algn="ctr" indent="0" marL="0">
              <a:buNone/>
            </a:pPr>
            <a:r>
              <a:rPr lang="en-US" sz="1800" b="1" dirty="0">
                <a:solidFill>
                  <a:schemeClr val="tx2"/>
                </a:solidFill>
              </a:rPr>
              <a:t>الصبار</a:t>
            </a:r>
            <a:endParaRPr lang="en-US" sz="1800" dirty="0"/>
          </a:p>
        </p:txBody>
      </p:sp>
      <p:pic>
        <p:nvPicPr>
          <p:cNvPr id="18" name="Image 0" descr="نقل">    </p:cNvPr>
          <p:cNvPicPr>
            <a:picLocks noChangeAspect="1"/>
          </p:cNvPicPr>
          <p:nvPr/>
        </p:nvPicPr>
        <p:blipFill>
          <a:blip r:embed="rId1"/>
          <a:stretch>
            <a:fillRect/>
          </a:stretch>
        </p:blipFill>
        <p:spPr>
          <a:xfrm>
            <a:off x="5715000" y="4206240"/>
            <a:ext cx="731520" cy="731520"/>
          </a:xfrm>
          <a:prstGeom prst="rect">
            <a:avLst/>
          </a:prstGeom>
        </p:spPr>
      </p:pic>
      <p:sp>
        <p:nvSpPr>
          <p:cNvPr id="19" name="Text 16"/>
          <p:cNvSpPr/>
          <p:nvPr/>
        </p:nvSpPr>
        <p:spPr>
          <a:xfrm>
            <a:off x="914400" y="5029200"/>
            <a:ext cx="10332720" cy="822960"/>
          </a:xfrm>
          <a:prstGeom prst="rect">
            <a:avLst/>
          </a:prstGeom>
          <a:noFill/>
          <a:ln/>
        </p:spPr>
        <p:txBody>
          <a:bodyPr wrap="square" rtlCol="0" anchor="ctr"/>
          <a:lstStyle/>
          <a:p>
            <a:pPr rtl="1" algn="ctr" indent="0" marL="0">
              <a:buNone/>
            </a:pPr>
            <a:r>
              <a:rPr lang="en-US" sz="1800" dirty="0">
                <a:solidFill>
                  <a:schemeClr val="tx1"/>
                </a:solidFill>
              </a:rPr>
              <a:t>من التطبيق: «انقل الجهاز إلى هنا» ← يبدأ الجهاز بقياس الزراعة الجديدة بحدودها خلال 30 ثانية، ويبقى سجل كل زراعة محفوظاً</a:t>
            </a:r>
            <a:endParaRPr lang="en-US" sz="18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الاختبار والنتائج</a:t>
            </a:r>
            <a:endParaRPr lang="en-US" sz="3400" dirty="0"/>
          </a:p>
        </p:txBody>
      </p:sp>
      <p:sp>
        <p:nvSpPr>
          <p:cNvPr id="3" name="test stat"/>
          <p:cNvSpPr/>
          <p:nvPr/>
        </p:nvSpPr>
        <p:spPr>
          <a:xfrm>
            <a:off x="8076895" y="1463040"/>
            <a:ext cx="3520440" cy="2103120"/>
          </a:xfrm>
          <a:prstGeom prst="roundRect">
            <a:avLst>
              <a:gd name="adj" fmla="val 7826"/>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4" name="Text 2"/>
          <p:cNvSpPr/>
          <p:nvPr/>
        </p:nvSpPr>
        <p:spPr>
          <a:xfrm>
            <a:off x="8076895" y="1554480"/>
            <a:ext cx="3520440" cy="1005840"/>
          </a:xfrm>
          <a:prstGeom prst="rect">
            <a:avLst/>
          </a:prstGeom>
          <a:noFill/>
          <a:ln/>
        </p:spPr>
        <p:txBody>
          <a:bodyPr wrap="square" lIns="0" tIns="0" rIns="0" bIns="0" rtlCol="0" anchor="ctr"/>
          <a:lstStyle/>
          <a:p>
            <a:pPr algn="ctr" indent="0" marL="0">
              <a:buNone/>
            </a:pPr>
            <a:r>
              <a:rPr lang="en-US" sz="5400" b="1" dirty="0">
                <a:solidFill>
                  <a:srgbClr val="2F9E5F"/>
                </a:solidFill>
              </a:rPr>
              <a:t>33/33</a:t>
            </a:r>
            <a:endParaRPr lang="en-US" sz="5400" dirty="0"/>
          </a:p>
        </p:txBody>
      </p:sp>
      <p:sp>
        <p:nvSpPr>
          <p:cNvPr id="5" name="Text 3"/>
          <p:cNvSpPr/>
          <p:nvPr/>
        </p:nvSpPr>
        <p:spPr>
          <a:xfrm>
            <a:off x="8076895" y="2560320"/>
            <a:ext cx="3520440" cy="457200"/>
          </a:xfrm>
          <a:prstGeom prst="rect">
            <a:avLst/>
          </a:prstGeom>
          <a:noFill/>
          <a:ln/>
        </p:spPr>
        <p:txBody>
          <a:bodyPr wrap="square" rtlCol="0" anchor="ctr"/>
          <a:lstStyle/>
          <a:p>
            <a:pPr rtl="1" algn="ctr" indent="0" marL="0">
              <a:buNone/>
            </a:pPr>
            <a:r>
              <a:rPr lang="en-US" sz="1700" b="1" dirty="0">
                <a:solidFill>
                  <a:schemeClr val="tx2"/>
                </a:solidFill>
              </a:rPr>
              <a:t>فحصاً لمنطق المشاعر</a:t>
            </a:r>
            <a:endParaRPr lang="en-US" sz="1700" dirty="0"/>
          </a:p>
        </p:txBody>
      </p:sp>
      <p:sp>
        <p:nvSpPr>
          <p:cNvPr id="6" name="Text 4"/>
          <p:cNvSpPr/>
          <p:nvPr/>
        </p:nvSpPr>
        <p:spPr>
          <a:xfrm>
            <a:off x="8076895" y="3017520"/>
            <a:ext cx="3520440" cy="365760"/>
          </a:xfrm>
          <a:prstGeom prst="rect">
            <a:avLst/>
          </a:prstGeom>
          <a:noFill/>
          <a:ln/>
        </p:spPr>
        <p:txBody>
          <a:bodyPr wrap="square" rtlCol="0" anchor="ctr"/>
          <a:lstStyle/>
          <a:p>
            <a:pPr algn="ctr" indent="0" marL="0">
              <a:buNone/>
            </a:pPr>
            <a:r>
              <a:rPr lang="en-US" sz="1300" dirty="0">
                <a:solidFill>
                  <a:srgbClr val="5B6B61"/>
                </a:solidFill>
              </a:rPr>
              <a:t>tests/test_mood.cpp</a:t>
            </a:r>
            <a:endParaRPr lang="en-US" sz="1300" dirty="0"/>
          </a:p>
        </p:txBody>
      </p:sp>
      <p:sp>
        <p:nvSpPr>
          <p:cNvPr id="7" name="test stat"/>
          <p:cNvSpPr/>
          <p:nvPr/>
        </p:nvSpPr>
        <p:spPr>
          <a:xfrm>
            <a:off x="4419295" y="1463040"/>
            <a:ext cx="3520440" cy="2103120"/>
          </a:xfrm>
          <a:prstGeom prst="roundRect">
            <a:avLst>
              <a:gd name="adj" fmla="val 7826"/>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8" name="Text 6"/>
          <p:cNvSpPr/>
          <p:nvPr/>
        </p:nvSpPr>
        <p:spPr>
          <a:xfrm>
            <a:off x="4419295" y="1554480"/>
            <a:ext cx="3520440" cy="1005840"/>
          </a:xfrm>
          <a:prstGeom prst="rect">
            <a:avLst/>
          </a:prstGeom>
          <a:noFill/>
          <a:ln/>
        </p:spPr>
        <p:txBody>
          <a:bodyPr wrap="square" lIns="0" tIns="0" rIns="0" bIns="0" rtlCol="0" anchor="ctr"/>
          <a:lstStyle/>
          <a:p>
            <a:pPr algn="ctr" indent="0" marL="0">
              <a:buNone/>
            </a:pPr>
            <a:r>
              <a:rPr lang="en-US" sz="5400" b="1" dirty="0">
                <a:solidFill>
                  <a:srgbClr val="2F9E5F"/>
                </a:solidFill>
              </a:rPr>
              <a:t>44/44</a:t>
            </a:r>
            <a:endParaRPr lang="en-US" sz="5400" dirty="0"/>
          </a:p>
        </p:txBody>
      </p:sp>
      <p:sp>
        <p:nvSpPr>
          <p:cNvPr id="9" name="Text 7"/>
          <p:cNvSpPr/>
          <p:nvPr/>
        </p:nvSpPr>
        <p:spPr>
          <a:xfrm>
            <a:off x="4419295" y="2560320"/>
            <a:ext cx="3520440" cy="457200"/>
          </a:xfrm>
          <a:prstGeom prst="rect">
            <a:avLst/>
          </a:prstGeom>
          <a:noFill/>
          <a:ln/>
        </p:spPr>
        <p:txBody>
          <a:bodyPr wrap="square" rtlCol="0" anchor="ctr"/>
          <a:lstStyle/>
          <a:p>
            <a:pPr rtl="1" algn="ctr" indent="0" marL="0">
              <a:buNone/>
            </a:pPr>
            <a:r>
              <a:rPr lang="en-US" sz="1700" b="1" dirty="0">
                <a:solidFill>
                  <a:schemeClr val="tx2"/>
                </a:solidFill>
              </a:rPr>
              <a:t>فحصاً للواجهة البرمجية مع MySQL</a:t>
            </a:r>
            <a:endParaRPr lang="en-US" sz="1700" dirty="0"/>
          </a:p>
        </p:txBody>
      </p:sp>
      <p:sp>
        <p:nvSpPr>
          <p:cNvPr id="10" name="Text 8"/>
          <p:cNvSpPr/>
          <p:nvPr/>
        </p:nvSpPr>
        <p:spPr>
          <a:xfrm>
            <a:off x="4419295" y="3017520"/>
            <a:ext cx="3520440" cy="365760"/>
          </a:xfrm>
          <a:prstGeom prst="rect">
            <a:avLst/>
          </a:prstGeom>
          <a:noFill/>
          <a:ln/>
        </p:spPr>
        <p:txBody>
          <a:bodyPr wrap="square" rtlCol="0" anchor="ctr"/>
          <a:lstStyle/>
          <a:p>
            <a:pPr algn="ctr" indent="0" marL="0">
              <a:buNone/>
            </a:pPr>
            <a:r>
              <a:rPr lang="en-US" sz="1300" dirty="0">
                <a:solidFill>
                  <a:srgbClr val="5B6B61"/>
                </a:solidFill>
              </a:rPr>
              <a:t>tests/test_api.sh</a:t>
            </a:r>
            <a:endParaRPr lang="en-US" sz="1300" dirty="0"/>
          </a:p>
        </p:txBody>
      </p:sp>
      <p:sp>
        <p:nvSpPr>
          <p:cNvPr id="11" name="test stat"/>
          <p:cNvSpPr/>
          <p:nvPr/>
        </p:nvSpPr>
        <p:spPr>
          <a:xfrm>
            <a:off x="761695" y="1463040"/>
            <a:ext cx="3520440" cy="2103120"/>
          </a:xfrm>
          <a:prstGeom prst="roundRect">
            <a:avLst>
              <a:gd name="adj" fmla="val 7826"/>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12" name="Text 10"/>
          <p:cNvSpPr/>
          <p:nvPr/>
        </p:nvSpPr>
        <p:spPr>
          <a:xfrm>
            <a:off x="761695" y="1554480"/>
            <a:ext cx="3520440" cy="1005840"/>
          </a:xfrm>
          <a:prstGeom prst="rect">
            <a:avLst/>
          </a:prstGeom>
          <a:noFill/>
          <a:ln/>
        </p:spPr>
        <p:txBody>
          <a:bodyPr wrap="square" lIns="0" tIns="0" rIns="0" bIns="0" rtlCol="0" anchor="ctr"/>
          <a:lstStyle/>
          <a:p>
            <a:pPr algn="ctr" indent="0" marL="0">
              <a:buNone/>
            </a:pPr>
            <a:r>
              <a:rPr lang="en-US" sz="5400" b="1" dirty="0">
                <a:solidFill>
                  <a:srgbClr val="2F9E5F"/>
                </a:solidFill>
              </a:rPr>
              <a:t>26</a:t>
            </a:r>
            <a:endParaRPr lang="en-US" sz="5400" dirty="0"/>
          </a:p>
        </p:txBody>
      </p:sp>
      <p:sp>
        <p:nvSpPr>
          <p:cNvPr id="13" name="Text 11"/>
          <p:cNvSpPr/>
          <p:nvPr/>
        </p:nvSpPr>
        <p:spPr>
          <a:xfrm>
            <a:off x="761695" y="2560320"/>
            <a:ext cx="3520440" cy="457200"/>
          </a:xfrm>
          <a:prstGeom prst="rect">
            <a:avLst/>
          </a:prstGeom>
          <a:noFill/>
          <a:ln/>
        </p:spPr>
        <p:txBody>
          <a:bodyPr wrap="square" rtlCol="0" anchor="ctr"/>
          <a:lstStyle/>
          <a:p>
            <a:pPr rtl="1" algn="ctr" indent="0" marL="0">
              <a:buNone/>
            </a:pPr>
            <a:r>
              <a:rPr lang="en-US" sz="1700" b="1" dirty="0">
                <a:solidFill>
                  <a:schemeClr val="tx2"/>
                </a:solidFill>
              </a:rPr>
              <a:t>سيناريو في خطة الاختبار</a:t>
            </a:r>
            <a:endParaRPr lang="en-US" sz="1700" dirty="0"/>
          </a:p>
        </p:txBody>
      </p:sp>
      <p:sp>
        <p:nvSpPr>
          <p:cNvPr id="14" name="Text 12"/>
          <p:cNvSpPr/>
          <p:nvPr/>
        </p:nvSpPr>
        <p:spPr>
          <a:xfrm>
            <a:off x="761695" y="3017520"/>
            <a:ext cx="3520440" cy="365760"/>
          </a:xfrm>
          <a:prstGeom prst="rect">
            <a:avLst/>
          </a:prstGeom>
          <a:noFill/>
          <a:ln/>
        </p:spPr>
        <p:txBody>
          <a:bodyPr wrap="square" rtlCol="0" anchor="ctr"/>
          <a:lstStyle/>
          <a:p>
            <a:pPr algn="ctr" indent="0" marL="0">
              <a:buNone/>
            </a:pPr>
            <a:r>
              <a:rPr lang="en-US" sz="1300" dirty="0">
                <a:solidFill>
                  <a:srgbClr val="5B6B61"/>
                </a:solidFill>
              </a:rPr>
              <a:t>الجهاز والتطبيقات والصلاحيات</a:t>
            </a:r>
            <a:endParaRPr lang="en-US" sz="1300" dirty="0"/>
          </a:p>
        </p:txBody>
      </p:sp>
      <p:pic>
        <p:nvPicPr>
          <p:cNvPr id="15" name="Image 0" descr="نتيجة اختبار المشاعر">    </p:cNvPr>
          <p:cNvPicPr>
            <a:picLocks noChangeAspect="1"/>
          </p:cNvPicPr>
          <p:nvPr/>
        </p:nvPicPr>
        <p:blipFill>
          <a:blip r:embed="rId1"/>
          <a:stretch>
            <a:fillRect/>
          </a:stretch>
        </p:blipFill>
        <p:spPr>
          <a:xfrm>
            <a:off x="6172200" y="4668137"/>
            <a:ext cx="5440680" cy="722127"/>
          </a:xfrm>
          <a:prstGeom prst="rect">
            <a:avLst/>
          </a:prstGeom>
        </p:spPr>
      </p:pic>
      <p:sp>
        <p:nvSpPr>
          <p:cNvPr id="16" name="Text 13"/>
          <p:cNvSpPr/>
          <p:nvPr/>
        </p:nvSpPr>
        <p:spPr>
          <a:xfrm>
            <a:off x="548640" y="3886200"/>
            <a:ext cx="5394960" cy="2286000"/>
          </a:xfrm>
          <a:prstGeom prst="rect">
            <a:avLst/>
          </a:prstGeom>
          <a:noFill/>
          <a:ln/>
        </p:spPr>
        <p:txBody>
          <a:bodyPr wrap="square" rtlCol="0" anchor="ctr"/>
          <a:lstStyle/>
          <a:p>
            <a:pPr algn="r" marL="342900" indent="-342900">
              <a:spcAft>
                <a:spcPts val="800"/>
              </a:spcAft>
              <a:buSzPct val="100000"/>
              <a:buChar char="•"/>
            </a:pPr>
            <a:r>
              <a:rPr lang="en-US" sz="1600" dirty="0">
                <a:solidFill>
                  <a:schemeClr val="tx1"/>
                </a:solidFill>
              </a:rPr>
              <a:t>اختبار الوحدات للمنطق</a:t>
            </a:r>
            <a:endParaRPr lang="en-US" sz="1600" dirty="0"/>
          </a:p>
          <a:p>
            <a:pPr algn="r" marL="342900" indent="-342900">
              <a:spcAft>
                <a:spcPts val="800"/>
              </a:spcAft>
              <a:buSzPct val="100000"/>
              <a:buChar char="•"/>
            </a:pPr>
            <a:r>
              <a:rPr lang="en-US" sz="1600" dirty="0">
                <a:solidFill>
                  <a:schemeClr val="tx1"/>
                </a:solidFill>
              </a:rPr>
              <a:t>اختبار التكامل الآلي للخادم وقاعدة البيانات</a:t>
            </a:r>
            <a:endParaRPr lang="en-US" sz="1600" dirty="0"/>
          </a:p>
          <a:p>
            <a:pPr algn="r" marL="342900" indent="-342900">
              <a:spcAft>
                <a:spcPts val="800"/>
              </a:spcAft>
              <a:buSzPct val="100000"/>
              <a:buChar char="•"/>
            </a:pPr>
            <a:r>
              <a:rPr lang="en-US" sz="1600" dirty="0">
                <a:solidFill>
                  <a:schemeClr val="tx1"/>
                </a:solidFill>
              </a:rPr>
              <a:t>اختبار وظيفي (صندوق أسود) للجهاز والتطبيقات</a:t>
            </a:r>
            <a:endParaRPr lang="en-US" sz="1600" dirty="0"/>
          </a:p>
          <a:p>
            <a:pPr algn="r" marL="342900" indent="-342900">
              <a:spcAft>
                <a:spcPts val="800"/>
              </a:spcAft>
              <a:buSzPct val="100000"/>
              <a:buChar char="•"/>
            </a:pPr>
            <a:r>
              <a:rPr lang="en-US" sz="1600" dirty="0">
                <a:solidFill>
                  <a:schemeClr val="tx1"/>
                </a:solidFill>
              </a:rPr>
              <a:t>معايرة حساس التربة (جاف / مبلل)</a:t>
            </a:r>
            <a:endParaRPr lang="en-US" sz="16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التكلفة: أقل من 320 ريال</a:t>
            </a:r>
            <a:endParaRPr lang="en-US" sz="3400" dirty="0"/>
          </a:p>
        </p:txBody>
      </p:sp>
      <p:graphicFrame>
        <p:nvGraphicFramePr>
          <p:cNvPr id="3" name="Chart 0" descr=""/>
          <p:cNvGraphicFramePr/>
          <p:nvPr/>
        </p:nvGraphicFramePr>
        <p:xfrm>
          <a:off x="548640" y="1325880"/>
          <a:ext cx="6949440" cy="4892040"/>
        </p:xfrm>
        <a:graphic xmlns:a="http://schemas.openxmlformats.org/drawingml/2006/main">
          <a:graphicData uri="http://schemas.openxmlformats.org/drawingml/2006/chart">
            <c:chart xmlns:c="http://schemas.openxmlformats.org/drawingml/2006/chart" r:id="rId1"/>
          </a:graphicData>
        </a:graphic>
      </p:graphicFrame>
      <p:sp>
        <p:nvSpPr>
          <p:cNvPr id="4" name="total card"/>
          <p:cNvSpPr/>
          <p:nvPr/>
        </p:nvSpPr>
        <p:spPr>
          <a:xfrm>
            <a:off x="7863840" y="1463040"/>
            <a:ext cx="3749040" cy="2194560"/>
          </a:xfrm>
          <a:prstGeom prst="roundRect">
            <a:avLst>
              <a:gd name="adj" fmla="val 7500"/>
            </a:avLst>
          </a:prstGeom>
          <a:solidFill>
            <a:srgbClr val="1E6B43"/>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5" name="Text 2"/>
          <p:cNvSpPr/>
          <p:nvPr/>
        </p:nvSpPr>
        <p:spPr>
          <a:xfrm>
            <a:off x="7863840" y="1600200"/>
            <a:ext cx="3749040" cy="1097280"/>
          </a:xfrm>
          <a:prstGeom prst="rect">
            <a:avLst/>
          </a:prstGeom>
          <a:noFill/>
          <a:ln/>
        </p:spPr>
        <p:txBody>
          <a:bodyPr wrap="square" lIns="0" tIns="0" rIns="0" bIns="0" rtlCol="0" anchor="ctr"/>
          <a:lstStyle/>
          <a:p>
            <a:pPr algn="ctr" indent="0" marL="0">
              <a:buNone/>
            </a:pPr>
            <a:r>
              <a:rPr lang="en-US" sz="4800" b="1" dirty="0">
                <a:solidFill>
                  <a:srgbClr val="FFFFFF"/>
                </a:solidFill>
              </a:rPr>
              <a:t>175 – 312</a:t>
            </a:r>
            <a:endParaRPr lang="en-US" sz="4800" dirty="0"/>
          </a:p>
        </p:txBody>
      </p:sp>
      <p:sp>
        <p:nvSpPr>
          <p:cNvPr id="6" name="Text 3"/>
          <p:cNvSpPr/>
          <p:nvPr/>
        </p:nvSpPr>
        <p:spPr>
          <a:xfrm>
            <a:off x="7863840" y="2697480"/>
            <a:ext cx="3749040" cy="548640"/>
          </a:xfrm>
          <a:prstGeom prst="rect">
            <a:avLst/>
          </a:prstGeom>
          <a:noFill/>
          <a:ln/>
        </p:spPr>
        <p:txBody>
          <a:bodyPr wrap="square" rtlCol="0" anchor="ctr"/>
          <a:lstStyle/>
          <a:p>
            <a:pPr rtl="1" algn="ctr" indent="0" marL="0">
              <a:buNone/>
            </a:pPr>
            <a:r>
              <a:rPr lang="en-US" sz="1800" dirty="0">
                <a:solidFill>
                  <a:srgbClr val="E2F5E9"/>
                </a:solidFill>
              </a:rPr>
              <a:t>ريال تقريباً للجهاز كاملاً</a:t>
            </a:r>
            <a:endParaRPr lang="en-US" sz="1800" dirty="0"/>
          </a:p>
        </p:txBody>
      </p:sp>
      <p:sp>
        <p:nvSpPr>
          <p:cNvPr id="7" name="Text 4"/>
          <p:cNvSpPr/>
          <p:nvPr/>
        </p:nvSpPr>
        <p:spPr>
          <a:xfrm>
            <a:off x="7863840" y="3931920"/>
            <a:ext cx="3749040" cy="2103120"/>
          </a:xfrm>
          <a:prstGeom prst="rect">
            <a:avLst/>
          </a:prstGeom>
          <a:noFill/>
          <a:ln/>
        </p:spPr>
        <p:txBody>
          <a:bodyPr wrap="square" rtlCol="0" anchor="t"/>
          <a:lstStyle/>
          <a:p>
            <a:pPr algn="r" marL="342900" indent="-342900">
              <a:spcAft>
                <a:spcPts val="800"/>
              </a:spcAft>
              <a:buSzPct val="100000"/>
              <a:buChar char="•"/>
            </a:pPr>
            <a:r>
              <a:rPr lang="en-US" sz="1600" dirty="0">
                <a:solidFill>
                  <a:schemeClr val="tx1"/>
                </a:solidFill>
              </a:rPr>
              <a:t>البرمجيات كلها مجانية</a:t>
            </a:r>
            <a:endParaRPr lang="en-US" sz="1600" dirty="0"/>
          </a:p>
          <a:p>
            <a:pPr algn="r" marL="342900" indent="-342900">
              <a:spcAft>
                <a:spcPts val="800"/>
              </a:spcAft>
              <a:buSzPct val="100000"/>
              <a:buChar char="•"/>
            </a:pPr>
            <a:r>
              <a:rPr lang="en-US" sz="1600" dirty="0">
                <a:solidFill>
                  <a:schemeClr val="tx1"/>
                </a:solidFill>
              </a:rPr>
              <a:t>لا تكاليف استضافة: الخادم حاسب في الشبكة</a:t>
            </a:r>
            <a:endParaRPr lang="en-US" sz="1600" dirty="0"/>
          </a:p>
          <a:p>
            <a:pPr algn="r" marL="342900" indent="-342900">
              <a:spcAft>
                <a:spcPts val="800"/>
              </a:spcAft>
              <a:buSzPct val="100000"/>
              <a:buChar char="•"/>
            </a:pPr>
            <a:r>
              <a:rPr lang="en-US" sz="1600" dirty="0">
                <a:solidFill>
                  <a:schemeClr val="tx1"/>
                </a:solidFill>
              </a:rPr>
              <a:t>قطع متوفرة في المتاجر المحلية</a:t>
            </a:r>
            <a:endParaRPr lang="en-US" sz="16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فريق العمل: كلنا شاركنا في البرمجة</a:t>
            </a:r>
            <a:endParaRPr lang="en-US" sz="3400" dirty="0"/>
          </a:p>
        </p:txBody>
      </p:sp>
      <p:sp>
        <p:nvSpPr>
          <p:cNvPr id="3" name="team card"/>
          <p:cNvSpPr/>
          <p:nvPr/>
        </p:nvSpPr>
        <p:spPr>
          <a:xfrm>
            <a:off x="8076895" y="1463040"/>
            <a:ext cx="3520440" cy="2103120"/>
          </a:xfrm>
          <a:prstGeom prst="roundRect">
            <a:avLst>
              <a:gd name="adj" fmla="val 7826"/>
            </a:avLst>
          </a:prstGeom>
          <a:solidFill>
            <a:srgbClr val="E2F5E9"/>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4" name="icon circle"/>
          <p:cNvSpPr/>
          <p:nvPr/>
        </p:nvSpPr>
        <p:spPr>
          <a:xfrm>
            <a:off x="10682935" y="1783080"/>
            <a:ext cx="685800" cy="685800"/>
          </a:xfrm>
          <a:prstGeom prst="ellipse">
            <a:avLst/>
          </a:prstGeom>
          <a:solidFill>
            <a:srgbClr val="FFB020"/>
          </a:solidFill>
          <a:ln w="12700">
            <a:solidFill>
              <a:srgbClr val="FFB020"/>
            </a:solidFill>
            <a:prstDash val="solid"/>
          </a:ln>
        </p:spPr>
      </p:sp>
      <p:pic>
        <p:nvPicPr>
          <p:cNvPr id="5" name="Image 0" descr="FaChalkboardUser">    </p:cNvPr>
          <p:cNvPicPr>
            <a:picLocks noChangeAspect="1"/>
          </p:cNvPicPr>
          <p:nvPr/>
        </p:nvPicPr>
        <p:blipFill>
          <a:blip r:embed="rId1"/>
          <a:stretch>
            <a:fillRect/>
          </a:stretch>
        </p:blipFill>
        <p:spPr>
          <a:xfrm>
            <a:off x="10847527" y="1947672"/>
            <a:ext cx="356616" cy="356616"/>
          </a:xfrm>
          <a:prstGeom prst="rect">
            <a:avLst/>
          </a:prstGeom>
        </p:spPr>
      </p:pic>
      <p:sp>
        <p:nvSpPr>
          <p:cNvPr id="6" name="Text 3"/>
          <p:cNvSpPr/>
          <p:nvPr/>
        </p:nvSpPr>
        <p:spPr>
          <a:xfrm>
            <a:off x="8214055" y="1783080"/>
            <a:ext cx="2423160" cy="685800"/>
          </a:xfrm>
          <a:prstGeom prst="rect">
            <a:avLst/>
          </a:prstGeom>
          <a:noFill/>
          <a:ln/>
        </p:spPr>
        <p:txBody>
          <a:bodyPr wrap="square" rtlCol="0" anchor="ctr"/>
          <a:lstStyle/>
          <a:p>
            <a:pPr rtl="1" algn="r" indent="0" marL="0">
              <a:buNone/>
            </a:pPr>
            <a:r>
              <a:rPr lang="en-US" sz="1700" b="1" dirty="0">
                <a:solidFill>
                  <a:schemeClr val="tx2"/>
                </a:solidFill>
              </a:rPr>
              <a:t>حصه حازم الحازمي</a:t>
            </a:r>
            <a:endParaRPr lang="en-US" sz="1700" dirty="0"/>
          </a:p>
        </p:txBody>
      </p:sp>
      <p:sp>
        <p:nvSpPr>
          <p:cNvPr id="7" name="Text 4"/>
          <p:cNvSpPr/>
          <p:nvPr/>
        </p:nvSpPr>
        <p:spPr>
          <a:xfrm>
            <a:off x="8259775" y="2651760"/>
            <a:ext cx="3154680" cy="731520"/>
          </a:xfrm>
          <a:prstGeom prst="rect">
            <a:avLst/>
          </a:prstGeom>
          <a:noFill/>
          <a:ln/>
        </p:spPr>
        <p:txBody>
          <a:bodyPr wrap="square" rtlCol="0" anchor="t"/>
          <a:lstStyle/>
          <a:p>
            <a:pPr rtl="1" algn="r" indent="0" marL="0">
              <a:buNone/>
            </a:pPr>
            <a:r>
              <a:rPr lang="en-US" sz="1400" dirty="0">
                <a:solidFill>
                  <a:schemeClr val="tx1"/>
                </a:solidFill>
              </a:rPr>
              <a:t>القائدة · ESP32 والاتصال بالخادم</a:t>
            </a:r>
            <a:endParaRPr lang="en-US" sz="1400" dirty="0"/>
          </a:p>
        </p:txBody>
      </p:sp>
      <p:sp>
        <p:nvSpPr>
          <p:cNvPr id="8" name="team card"/>
          <p:cNvSpPr/>
          <p:nvPr/>
        </p:nvSpPr>
        <p:spPr>
          <a:xfrm>
            <a:off x="4419295" y="1463040"/>
            <a:ext cx="3520440" cy="2103120"/>
          </a:xfrm>
          <a:prstGeom prst="roundRect">
            <a:avLst>
              <a:gd name="adj" fmla="val 7826"/>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9" name="icon circle"/>
          <p:cNvSpPr/>
          <p:nvPr/>
        </p:nvSpPr>
        <p:spPr>
          <a:xfrm>
            <a:off x="7025335" y="1783080"/>
            <a:ext cx="685800" cy="685800"/>
          </a:xfrm>
          <a:prstGeom prst="ellipse">
            <a:avLst/>
          </a:prstGeom>
          <a:solidFill>
            <a:srgbClr val="2F9E5F"/>
          </a:solidFill>
          <a:ln w="12700">
            <a:solidFill>
              <a:srgbClr val="2F9E5F"/>
            </a:solidFill>
            <a:prstDash val="solid"/>
          </a:ln>
        </p:spPr>
      </p:sp>
      <p:pic>
        <p:nvPicPr>
          <p:cNvPr id="10" name="Image 1" descr="FaCode">    </p:cNvPr>
          <p:cNvPicPr>
            <a:picLocks noChangeAspect="1"/>
          </p:cNvPicPr>
          <p:nvPr/>
        </p:nvPicPr>
        <p:blipFill>
          <a:blip r:embed="rId2"/>
          <a:stretch>
            <a:fillRect/>
          </a:stretch>
        </p:blipFill>
        <p:spPr>
          <a:xfrm>
            <a:off x="7189927" y="1947672"/>
            <a:ext cx="356616" cy="356616"/>
          </a:xfrm>
          <a:prstGeom prst="rect">
            <a:avLst/>
          </a:prstGeom>
        </p:spPr>
      </p:pic>
      <p:sp>
        <p:nvSpPr>
          <p:cNvPr id="11" name="Text 7"/>
          <p:cNvSpPr/>
          <p:nvPr/>
        </p:nvSpPr>
        <p:spPr>
          <a:xfrm>
            <a:off x="4556455" y="1783080"/>
            <a:ext cx="2423160" cy="685800"/>
          </a:xfrm>
          <a:prstGeom prst="rect">
            <a:avLst/>
          </a:prstGeom>
          <a:noFill/>
          <a:ln/>
        </p:spPr>
        <p:txBody>
          <a:bodyPr wrap="square" rtlCol="0" anchor="ctr"/>
          <a:lstStyle/>
          <a:p>
            <a:pPr rtl="1" algn="r" indent="0" marL="0">
              <a:buNone/>
            </a:pPr>
            <a:r>
              <a:rPr lang="en-US" sz="1700" b="1" dirty="0">
                <a:solidFill>
                  <a:schemeClr val="tx2"/>
                </a:solidFill>
              </a:rPr>
              <a:t>لمياء سعد الحرب</a:t>
            </a:r>
            <a:endParaRPr lang="en-US" sz="1700" dirty="0"/>
          </a:p>
        </p:txBody>
      </p:sp>
      <p:sp>
        <p:nvSpPr>
          <p:cNvPr id="12" name="Text 8"/>
          <p:cNvSpPr/>
          <p:nvPr/>
        </p:nvSpPr>
        <p:spPr>
          <a:xfrm>
            <a:off x="4602175" y="2651760"/>
            <a:ext cx="3154680" cy="731520"/>
          </a:xfrm>
          <a:prstGeom prst="rect">
            <a:avLst/>
          </a:prstGeom>
          <a:noFill/>
          <a:ln/>
        </p:spPr>
        <p:txBody>
          <a:bodyPr wrap="square" rtlCol="0" anchor="t"/>
          <a:lstStyle/>
          <a:p>
            <a:pPr rtl="1" algn="r" indent="0" marL="0">
              <a:buNone/>
            </a:pPr>
            <a:r>
              <a:rPr lang="en-US" sz="1400" dirty="0">
                <a:solidFill>
                  <a:schemeClr val="tx1"/>
                </a:solidFill>
              </a:rPr>
              <a:t>واجهات الويب HTML وCSS · الفيديو</a:t>
            </a:r>
            <a:endParaRPr lang="en-US" sz="1400" dirty="0"/>
          </a:p>
        </p:txBody>
      </p:sp>
      <p:sp>
        <p:nvSpPr>
          <p:cNvPr id="13" name="team card"/>
          <p:cNvSpPr/>
          <p:nvPr/>
        </p:nvSpPr>
        <p:spPr>
          <a:xfrm>
            <a:off x="761695" y="1463040"/>
            <a:ext cx="3520440" cy="2103120"/>
          </a:xfrm>
          <a:prstGeom prst="roundRect">
            <a:avLst>
              <a:gd name="adj" fmla="val 7826"/>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14" name="icon circle"/>
          <p:cNvSpPr/>
          <p:nvPr/>
        </p:nvSpPr>
        <p:spPr>
          <a:xfrm>
            <a:off x="3367735" y="1783080"/>
            <a:ext cx="685800" cy="685800"/>
          </a:xfrm>
          <a:prstGeom prst="ellipse">
            <a:avLst/>
          </a:prstGeom>
          <a:solidFill>
            <a:srgbClr val="2F9E5F"/>
          </a:solidFill>
          <a:ln w="12700">
            <a:solidFill>
              <a:srgbClr val="2F9E5F"/>
            </a:solidFill>
            <a:prstDash val="solid"/>
          </a:ln>
        </p:spPr>
      </p:sp>
      <p:pic>
        <p:nvPicPr>
          <p:cNvPr id="15" name="Image 2" descr="FaCode">    </p:cNvPr>
          <p:cNvPicPr>
            <a:picLocks noChangeAspect="1"/>
          </p:cNvPicPr>
          <p:nvPr/>
        </p:nvPicPr>
        <p:blipFill>
          <a:blip r:embed="rId3"/>
          <a:stretch>
            <a:fillRect/>
          </a:stretch>
        </p:blipFill>
        <p:spPr>
          <a:xfrm>
            <a:off x="3532327" y="1947672"/>
            <a:ext cx="356616" cy="356616"/>
          </a:xfrm>
          <a:prstGeom prst="rect">
            <a:avLst/>
          </a:prstGeom>
        </p:spPr>
      </p:pic>
      <p:sp>
        <p:nvSpPr>
          <p:cNvPr id="16" name="Text 11"/>
          <p:cNvSpPr/>
          <p:nvPr/>
        </p:nvSpPr>
        <p:spPr>
          <a:xfrm>
            <a:off x="898855" y="1783080"/>
            <a:ext cx="2423160" cy="685800"/>
          </a:xfrm>
          <a:prstGeom prst="rect">
            <a:avLst/>
          </a:prstGeom>
          <a:noFill/>
          <a:ln/>
        </p:spPr>
        <p:txBody>
          <a:bodyPr wrap="square" rtlCol="0" anchor="ctr"/>
          <a:lstStyle/>
          <a:p>
            <a:pPr rtl="1" algn="r" indent="0" marL="0">
              <a:buNone/>
            </a:pPr>
            <a:r>
              <a:rPr lang="en-US" sz="1700" b="1" dirty="0">
                <a:solidFill>
                  <a:schemeClr val="tx2"/>
                </a:solidFill>
              </a:rPr>
              <a:t>شهد ناهس فريح الحربي</a:t>
            </a:r>
            <a:endParaRPr lang="en-US" sz="1700" dirty="0"/>
          </a:p>
        </p:txBody>
      </p:sp>
      <p:sp>
        <p:nvSpPr>
          <p:cNvPr id="17" name="Text 12"/>
          <p:cNvSpPr/>
          <p:nvPr/>
        </p:nvSpPr>
        <p:spPr>
          <a:xfrm>
            <a:off x="944575" y="2651760"/>
            <a:ext cx="3154680" cy="731520"/>
          </a:xfrm>
          <a:prstGeom prst="rect">
            <a:avLst/>
          </a:prstGeom>
          <a:noFill/>
          <a:ln/>
        </p:spPr>
        <p:txBody>
          <a:bodyPr wrap="square" rtlCol="0" anchor="t"/>
          <a:lstStyle/>
          <a:p>
            <a:pPr rtl="1" algn="r" indent="0" marL="0">
              <a:buNone/>
            </a:pPr>
            <a:r>
              <a:rPr lang="en-US" sz="1400" dirty="0">
                <a:solidFill>
                  <a:schemeClr val="tx1"/>
                </a:solidFill>
              </a:rPr>
              <a:t>منطق المشاعر والنغمات · البوستر</a:t>
            </a:r>
            <a:endParaRPr lang="en-US" sz="1400" dirty="0"/>
          </a:p>
        </p:txBody>
      </p:sp>
      <p:sp>
        <p:nvSpPr>
          <p:cNvPr id="18" name="team card"/>
          <p:cNvSpPr/>
          <p:nvPr/>
        </p:nvSpPr>
        <p:spPr>
          <a:xfrm>
            <a:off x="8076895" y="3840480"/>
            <a:ext cx="3520440" cy="2103120"/>
          </a:xfrm>
          <a:prstGeom prst="roundRect">
            <a:avLst>
              <a:gd name="adj" fmla="val 7826"/>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19" name="icon circle"/>
          <p:cNvSpPr/>
          <p:nvPr/>
        </p:nvSpPr>
        <p:spPr>
          <a:xfrm>
            <a:off x="10682935" y="4160520"/>
            <a:ext cx="685800" cy="685800"/>
          </a:xfrm>
          <a:prstGeom prst="ellipse">
            <a:avLst/>
          </a:prstGeom>
          <a:solidFill>
            <a:srgbClr val="2F9E5F"/>
          </a:solidFill>
          <a:ln w="12700">
            <a:solidFill>
              <a:srgbClr val="2F9E5F"/>
            </a:solidFill>
            <a:prstDash val="solid"/>
          </a:ln>
        </p:spPr>
      </p:sp>
      <p:pic>
        <p:nvPicPr>
          <p:cNvPr id="20" name="Image 3" descr="FaCode">    </p:cNvPr>
          <p:cNvPicPr>
            <a:picLocks noChangeAspect="1"/>
          </p:cNvPicPr>
          <p:nvPr/>
        </p:nvPicPr>
        <p:blipFill>
          <a:blip r:embed="rId4"/>
          <a:stretch>
            <a:fillRect/>
          </a:stretch>
        </p:blipFill>
        <p:spPr>
          <a:xfrm>
            <a:off x="10847527" y="4325112"/>
            <a:ext cx="356616" cy="356616"/>
          </a:xfrm>
          <a:prstGeom prst="rect">
            <a:avLst/>
          </a:prstGeom>
        </p:spPr>
      </p:pic>
      <p:sp>
        <p:nvSpPr>
          <p:cNvPr id="21" name="Text 15"/>
          <p:cNvSpPr/>
          <p:nvPr/>
        </p:nvSpPr>
        <p:spPr>
          <a:xfrm>
            <a:off x="8214055" y="4160520"/>
            <a:ext cx="2423160" cy="685800"/>
          </a:xfrm>
          <a:prstGeom prst="rect">
            <a:avLst/>
          </a:prstGeom>
          <a:noFill/>
          <a:ln/>
        </p:spPr>
        <p:txBody>
          <a:bodyPr wrap="square" rtlCol="0" anchor="ctr"/>
          <a:lstStyle/>
          <a:p>
            <a:pPr rtl="1" algn="r" indent="0" marL="0">
              <a:buNone/>
            </a:pPr>
            <a:r>
              <a:rPr lang="en-US" sz="1700" b="1" dirty="0">
                <a:solidFill>
                  <a:schemeClr val="tx2"/>
                </a:solidFill>
              </a:rPr>
              <a:t>وجدان إبراهيم الفاضل</a:t>
            </a:r>
            <a:endParaRPr lang="en-US" sz="1700" dirty="0"/>
          </a:p>
        </p:txBody>
      </p:sp>
      <p:sp>
        <p:nvSpPr>
          <p:cNvPr id="22" name="Text 16"/>
          <p:cNvSpPr/>
          <p:nvPr/>
        </p:nvSpPr>
        <p:spPr>
          <a:xfrm>
            <a:off x="8259775" y="5029200"/>
            <a:ext cx="3154680" cy="731520"/>
          </a:xfrm>
          <a:prstGeom prst="rect">
            <a:avLst/>
          </a:prstGeom>
          <a:noFill/>
          <a:ln/>
        </p:spPr>
        <p:txBody>
          <a:bodyPr wrap="square" rtlCol="0" anchor="t"/>
          <a:lstStyle/>
          <a:p>
            <a:pPr rtl="1" algn="r" indent="0" marL="0">
              <a:buNone/>
            </a:pPr>
            <a:r>
              <a:rPr lang="en-US" sz="1400" dirty="0">
                <a:solidFill>
                  <a:schemeClr val="tx1"/>
                </a:solidFill>
              </a:rPr>
              <a:t>خادم XAMPP وMySQL وPHP</a:t>
            </a:r>
            <a:endParaRPr lang="en-US" sz="1400" dirty="0"/>
          </a:p>
        </p:txBody>
      </p:sp>
      <p:sp>
        <p:nvSpPr>
          <p:cNvPr id="23" name="team card"/>
          <p:cNvSpPr/>
          <p:nvPr/>
        </p:nvSpPr>
        <p:spPr>
          <a:xfrm>
            <a:off x="4419295" y="3840480"/>
            <a:ext cx="3520440" cy="2103120"/>
          </a:xfrm>
          <a:prstGeom prst="roundRect">
            <a:avLst>
              <a:gd name="adj" fmla="val 7826"/>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24" name="icon circle"/>
          <p:cNvSpPr/>
          <p:nvPr/>
        </p:nvSpPr>
        <p:spPr>
          <a:xfrm>
            <a:off x="7025335" y="4160520"/>
            <a:ext cx="685800" cy="685800"/>
          </a:xfrm>
          <a:prstGeom prst="ellipse">
            <a:avLst/>
          </a:prstGeom>
          <a:solidFill>
            <a:srgbClr val="2F9E5F"/>
          </a:solidFill>
          <a:ln w="12700">
            <a:solidFill>
              <a:srgbClr val="2F9E5F"/>
            </a:solidFill>
            <a:prstDash val="solid"/>
          </a:ln>
        </p:spPr>
      </p:sp>
      <p:pic>
        <p:nvPicPr>
          <p:cNvPr id="25" name="Image 4" descr="FaCode">    </p:cNvPr>
          <p:cNvPicPr>
            <a:picLocks noChangeAspect="1"/>
          </p:cNvPicPr>
          <p:nvPr/>
        </p:nvPicPr>
        <p:blipFill>
          <a:blip r:embed="rId5"/>
          <a:stretch>
            <a:fillRect/>
          </a:stretch>
        </p:blipFill>
        <p:spPr>
          <a:xfrm>
            <a:off x="7189927" y="4325112"/>
            <a:ext cx="356616" cy="356616"/>
          </a:xfrm>
          <a:prstGeom prst="rect">
            <a:avLst/>
          </a:prstGeom>
        </p:spPr>
      </p:pic>
      <p:sp>
        <p:nvSpPr>
          <p:cNvPr id="26" name="Text 19"/>
          <p:cNvSpPr/>
          <p:nvPr/>
        </p:nvSpPr>
        <p:spPr>
          <a:xfrm>
            <a:off x="4556455" y="4160520"/>
            <a:ext cx="2423160" cy="685800"/>
          </a:xfrm>
          <a:prstGeom prst="rect">
            <a:avLst/>
          </a:prstGeom>
          <a:noFill/>
          <a:ln/>
        </p:spPr>
        <p:txBody>
          <a:bodyPr wrap="square" rtlCol="0" anchor="ctr"/>
          <a:lstStyle/>
          <a:p>
            <a:pPr rtl="1" algn="r" indent="0" marL="0">
              <a:buNone/>
            </a:pPr>
            <a:r>
              <a:rPr lang="en-US" sz="1700" b="1" dirty="0">
                <a:solidFill>
                  <a:schemeClr val="tx2"/>
                </a:solidFill>
              </a:rPr>
              <a:t>دانه عبدالرحمن العلياني</a:t>
            </a:r>
            <a:endParaRPr lang="en-US" sz="1700" dirty="0"/>
          </a:p>
        </p:txBody>
      </p:sp>
      <p:sp>
        <p:nvSpPr>
          <p:cNvPr id="27" name="Text 20"/>
          <p:cNvSpPr/>
          <p:nvPr/>
        </p:nvSpPr>
        <p:spPr>
          <a:xfrm>
            <a:off x="4602175" y="5029200"/>
            <a:ext cx="3154680" cy="731520"/>
          </a:xfrm>
          <a:prstGeom prst="rect">
            <a:avLst/>
          </a:prstGeom>
          <a:noFill/>
          <a:ln/>
        </p:spPr>
        <p:txBody>
          <a:bodyPr wrap="square" rtlCol="0" anchor="t"/>
          <a:lstStyle/>
          <a:p>
            <a:pPr rtl="1" algn="r" indent="0" marL="0">
              <a:buNone/>
            </a:pPr>
            <a:r>
              <a:rPr lang="en-US" sz="1400" dirty="0">
                <a:solidFill>
                  <a:schemeClr val="tx1"/>
                </a:solidFill>
              </a:rPr>
              <a:t>الحساسات والمعايرة · تطبيق الأندرويد</a:t>
            </a:r>
            <a:endParaRPr lang="en-US" sz="1400" dirty="0"/>
          </a:p>
        </p:txBody>
      </p:sp>
      <p:sp>
        <p:nvSpPr>
          <p:cNvPr id="28" name="team card"/>
          <p:cNvSpPr/>
          <p:nvPr/>
        </p:nvSpPr>
        <p:spPr>
          <a:xfrm>
            <a:off x="761695" y="3840480"/>
            <a:ext cx="3520440" cy="2103120"/>
          </a:xfrm>
          <a:prstGeom prst="roundRect">
            <a:avLst>
              <a:gd name="adj" fmla="val 7826"/>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29" name="icon circle"/>
          <p:cNvSpPr/>
          <p:nvPr/>
        </p:nvSpPr>
        <p:spPr>
          <a:xfrm>
            <a:off x="3367735" y="4160520"/>
            <a:ext cx="685800" cy="685800"/>
          </a:xfrm>
          <a:prstGeom prst="ellipse">
            <a:avLst/>
          </a:prstGeom>
          <a:solidFill>
            <a:srgbClr val="2F9E5F"/>
          </a:solidFill>
          <a:ln w="12700">
            <a:solidFill>
              <a:srgbClr val="2F9E5F"/>
            </a:solidFill>
            <a:prstDash val="solid"/>
          </a:ln>
        </p:spPr>
      </p:sp>
      <p:pic>
        <p:nvPicPr>
          <p:cNvPr id="30" name="Image 5" descr="FaCode">    </p:cNvPr>
          <p:cNvPicPr>
            <a:picLocks noChangeAspect="1"/>
          </p:cNvPicPr>
          <p:nvPr/>
        </p:nvPicPr>
        <p:blipFill>
          <a:blip r:embed="rId6"/>
          <a:stretch>
            <a:fillRect/>
          </a:stretch>
        </p:blipFill>
        <p:spPr>
          <a:xfrm>
            <a:off x="3532327" y="4325112"/>
            <a:ext cx="356616" cy="356616"/>
          </a:xfrm>
          <a:prstGeom prst="rect">
            <a:avLst/>
          </a:prstGeom>
        </p:spPr>
      </p:pic>
      <p:sp>
        <p:nvSpPr>
          <p:cNvPr id="31" name="Text 23"/>
          <p:cNvSpPr/>
          <p:nvPr/>
        </p:nvSpPr>
        <p:spPr>
          <a:xfrm>
            <a:off x="898855" y="4160520"/>
            <a:ext cx="2423160" cy="685800"/>
          </a:xfrm>
          <a:prstGeom prst="rect">
            <a:avLst/>
          </a:prstGeom>
          <a:noFill/>
          <a:ln/>
        </p:spPr>
        <p:txBody>
          <a:bodyPr wrap="square" rtlCol="0" anchor="ctr"/>
          <a:lstStyle/>
          <a:p>
            <a:pPr rtl="1" algn="r" indent="0" marL="0">
              <a:buNone/>
            </a:pPr>
            <a:r>
              <a:rPr lang="en-US" sz="1700" b="1" dirty="0">
                <a:solidFill>
                  <a:schemeClr val="tx2"/>
                </a:solidFill>
              </a:rPr>
              <a:t>هدى مسعد العتيبي</a:t>
            </a:r>
            <a:endParaRPr lang="en-US" sz="1700" dirty="0"/>
          </a:p>
        </p:txBody>
      </p:sp>
      <p:sp>
        <p:nvSpPr>
          <p:cNvPr id="32" name="Text 24"/>
          <p:cNvSpPr/>
          <p:nvPr/>
        </p:nvSpPr>
        <p:spPr>
          <a:xfrm>
            <a:off x="944575" y="5029200"/>
            <a:ext cx="3154680" cy="731520"/>
          </a:xfrm>
          <a:prstGeom prst="rect">
            <a:avLst/>
          </a:prstGeom>
          <a:noFill/>
          <a:ln/>
        </p:spPr>
        <p:txBody>
          <a:bodyPr wrap="square" rtlCol="0" anchor="t"/>
          <a:lstStyle/>
          <a:p>
            <a:pPr rtl="1" algn="r" indent="0" marL="0">
              <a:buNone/>
            </a:pPr>
            <a:r>
              <a:rPr lang="en-US" sz="1400" dirty="0">
                <a:solidFill>
                  <a:schemeClr val="tx1"/>
                </a:solidFill>
              </a:rPr>
              <a:t>JavaScript والصلاحيات · الاختبار</a:t>
            </a:r>
            <a:endParaRPr lang="en-US" sz="14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692640" cy="822960"/>
          </a:xfrm>
          <a:prstGeom prst="rect">
            <a:avLst/>
          </a:prstGeom>
          <a:noFill/>
          <a:ln/>
        </p:spPr>
        <p:txBody>
          <a:bodyPr wrap="square" lIns="0" tIns="0" rIns="0" bIns="0" rtlCol="0" anchor="ctr"/>
          <a:lstStyle/>
          <a:p>
            <a:pPr rtl="1" algn="r" indent="0" marL="0">
              <a:buNone/>
            </a:pPr>
            <a:r>
              <a:rPr lang="en-US" sz="3400" b="1" dirty="0">
                <a:solidFill>
                  <a:schemeClr val="tx2"/>
                </a:solidFill>
              </a:rPr>
              <a:t>التطوير المستقبلي</a:t>
            </a:r>
            <a:endParaRPr lang="en-US" sz="3400" dirty="0"/>
          </a:p>
        </p:txBody>
      </p:sp>
      <p:sp>
        <p:nvSpPr>
          <p:cNvPr id="3" name="future card"/>
          <p:cNvSpPr/>
          <p:nvPr/>
        </p:nvSpPr>
        <p:spPr>
          <a:xfrm>
            <a:off x="8076895" y="1463040"/>
            <a:ext cx="3520440" cy="2103120"/>
          </a:xfrm>
          <a:prstGeom prst="roundRect">
            <a:avLst>
              <a:gd name="adj" fmla="val 7826"/>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4" name="icon circle"/>
          <p:cNvSpPr/>
          <p:nvPr/>
        </p:nvSpPr>
        <p:spPr>
          <a:xfrm>
            <a:off x="10591495" y="1737360"/>
            <a:ext cx="777240" cy="777240"/>
          </a:xfrm>
          <a:prstGeom prst="ellipse">
            <a:avLst/>
          </a:prstGeom>
          <a:solidFill>
            <a:srgbClr val="E2F5E9"/>
          </a:solidFill>
          <a:ln w="12700">
            <a:solidFill>
              <a:srgbClr val="E2F5E9"/>
            </a:solidFill>
            <a:prstDash val="solid"/>
          </a:ln>
        </p:spPr>
      </p:sp>
      <p:pic>
        <p:nvPicPr>
          <p:cNvPr id="5" name="Image 0" descr="FaSolarPanel">    </p:cNvPr>
          <p:cNvPicPr>
            <a:picLocks noChangeAspect="1"/>
          </p:cNvPicPr>
          <p:nvPr/>
        </p:nvPicPr>
        <p:blipFill>
          <a:blip r:embed="rId1"/>
          <a:stretch>
            <a:fillRect/>
          </a:stretch>
        </p:blipFill>
        <p:spPr>
          <a:xfrm>
            <a:off x="10778033" y="1923898"/>
            <a:ext cx="404165" cy="404165"/>
          </a:xfrm>
          <a:prstGeom prst="rect">
            <a:avLst/>
          </a:prstGeom>
        </p:spPr>
      </p:pic>
      <p:sp>
        <p:nvSpPr>
          <p:cNvPr id="6" name="Text 3"/>
          <p:cNvSpPr/>
          <p:nvPr/>
        </p:nvSpPr>
        <p:spPr>
          <a:xfrm>
            <a:off x="8259775" y="1783080"/>
            <a:ext cx="2240280" cy="548640"/>
          </a:xfrm>
          <a:prstGeom prst="rect">
            <a:avLst/>
          </a:prstGeom>
          <a:noFill/>
          <a:ln/>
        </p:spPr>
        <p:txBody>
          <a:bodyPr wrap="square" rtlCol="0" anchor="ctr"/>
          <a:lstStyle/>
          <a:p>
            <a:pPr rtl="1" algn="r" indent="0" marL="0">
              <a:buNone/>
            </a:pPr>
            <a:r>
              <a:rPr lang="en-US" sz="1900" b="1" dirty="0">
                <a:solidFill>
                  <a:schemeClr val="tx2"/>
                </a:solidFill>
              </a:rPr>
              <a:t>الطاقة الشمسية</a:t>
            </a:r>
            <a:endParaRPr lang="en-US" sz="1900" dirty="0"/>
          </a:p>
        </p:txBody>
      </p:sp>
      <p:sp>
        <p:nvSpPr>
          <p:cNvPr id="7" name="Text 4"/>
          <p:cNvSpPr/>
          <p:nvPr/>
        </p:nvSpPr>
        <p:spPr>
          <a:xfrm>
            <a:off x="8259775" y="2606040"/>
            <a:ext cx="3154680" cy="822960"/>
          </a:xfrm>
          <a:prstGeom prst="rect">
            <a:avLst/>
          </a:prstGeom>
          <a:noFill/>
          <a:ln/>
        </p:spPr>
        <p:txBody>
          <a:bodyPr wrap="square" rtlCol="0" anchor="t"/>
          <a:lstStyle/>
          <a:p>
            <a:pPr rtl="1" algn="r" indent="0" marL="0">
              <a:buNone/>
            </a:pPr>
            <a:r>
              <a:rPr lang="en-US" sz="1500" dirty="0">
                <a:solidFill>
                  <a:schemeClr val="tx1"/>
                </a:solidFill>
              </a:rPr>
              <a:t>تشغيل الجهاز في الحقل دون باور بانك.</a:t>
            </a:r>
            <a:endParaRPr lang="en-US" sz="1500" dirty="0"/>
          </a:p>
        </p:txBody>
      </p:sp>
      <p:sp>
        <p:nvSpPr>
          <p:cNvPr id="8" name="future card"/>
          <p:cNvSpPr/>
          <p:nvPr/>
        </p:nvSpPr>
        <p:spPr>
          <a:xfrm>
            <a:off x="4419295" y="1463040"/>
            <a:ext cx="3520440" cy="2103120"/>
          </a:xfrm>
          <a:prstGeom prst="roundRect">
            <a:avLst>
              <a:gd name="adj" fmla="val 7826"/>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9" name="icon circle"/>
          <p:cNvSpPr/>
          <p:nvPr/>
        </p:nvSpPr>
        <p:spPr>
          <a:xfrm>
            <a:off x="6933895" y="1737360"/>
            <a:ext cx="777240" cy="777240"/>
          </a:xfrm>
          <a:prstGeom prst="ellipse">
            <a:avLst/>
          </a:prstGeom>
          <a:solidFill>
            <a:srgbClr val="E2F5E9"/>
          </a:solidFill>
          <a:ln w="12700">
            <a:solidFill>
              <a:srgbClr val="E2F5E9"/>
            </a:solidFill>
            <a:prstDash val="solid"/>
          </a:ln>
        </p:spPr>
      </p:sp>
      <p:pic>
        <p:nvPicPr>
          <p:cNvPr id="10" name="Image 1" descr="FaFaucetDrip">    </p:cNvPr>
          <p:cNvPicPr>
            <a:picLocks noChangeAspect="1"/>
          </p:cNvPicPr>
          <p:nvPr/>
        </p:nvPicPr>
        <p:blipFill>
          <a:blip r:embed="rId2"/>
          <a:stretch>
            <a:fillRect/>
          </a:stretch>
        </p:blipFill>
        <p:spPr>
          <a:xfrm>
            <a:off x="7120433" y="1923898"/>
            <a:ext cx="404165" cy="404165"/>
          </a:xfrm>
          <a:prstGeom prst="rect">
            <a:avLst/>
          </a:prstGeom>
        </p:spPr>
      </p:pic>
      <p:sp>
        <p:nvSpPr>
          <p:cNvPr id="11" name="Text 7"/>
          <p:cNvSpPr/>
          <p:nvPr/>
        </p:nvSpPr>
        <p:spPr>
          <a:xfrm>
            <a:off x="4602175" y="1783080"/>
            <a:ext cx="2240280" cy="548640"/>
          </a:xfrm>
          <a:prstGeom prst="rect">
            <a:avLst/>
          </a:prstGeom>
          <a:noFill/>
          <a:ln/>
        </p:spPr>
        <p:txBody>
          <a:bodyPr wrap="square" rtlCol="0" anchor="ctr"/>
          <a:lstStyle/>
          <a:p>
            <a:pPr rtl="1" algn="r" indent="0" marL="0">
              <a:buNone/>
            </a:pPr>
            <a:r>
              <a:rPr lang="en-US" sz="1900" b="1" dirty="0">
                <a:solidFill>
                  <a:schemeClr val="tx2"/>
                </a:solidFill>
              </a:rPr>
              <a:t>ري تلقائي</a:t>
            </a:r>
            <a:endParaRPr lang="en-US" sz="1900" dirty="0"/>
          </a:p>
        </p:txBody>
      </p:sp>
      <p:sp>
        <p:nvSpPr>
          <p:cNvPr id="12" name="Text 8"/>
          <p:cNvSpPr/>
          <p:nvPr/>
        </p:nvSpPr>
        <p:spPr>
          <a:xfrm>
            <a:off x="4602175" y="2606040"/>
            <a:ext cx="3154680" cy="822960"/>
          </a:xfrm>
          <a:prstGeom prst="rect">
            <a:avLst/>
          </a:prstGeom>
          <a:noFill/>
          <a:ln/>
        </p:spPr>
        <p:txBody>
          <a:bodyPr wrap="square" rtlCol="0" anchor="t"/>
          <a:lstStyle/>
          <a:p>
            <a:pPr rtl="1" algn="r" indent="0" marL="0">
              <a:buNone/>
            </a:pPr>
            <a:r>
              <a:rPr lang="en-US" sz="1500" dirty="0">
                <a:solidFill>
                  <a:schemeClr val="tx1"/>
                </a:solidFill>
              </a:rPr>
              <a:t>مضخة تعمل عندما تعطش الزراعة.</a:t>
            </a:r>
            <a:endParaRPr lang="en-US" sz="1500" dirty="0"/>
          </a:p>
        </p:txBody>
      </p:sp>
      <p:sp>
        <p:nvSpPr>
          <p:cNvPr id="13" name="future card"/>
          <p:cNvSpPr/>
          <p:nvPr/>
        </p:nvSpPr>
        <p:spPr>
          <a:xfrm>
            <a:off x="761695" y="1463040"/>
            <a:ext cx="3520440" cy="2103120"/>
          </a:xfrm>
          <a:prstGeom prst="roundRect">
            <a:avLst>
              <a:gd name="adj" fmla="val 7826"/>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14" name="icon circle"/>
          <p:cNvSpPr/>
          <p:nvPr/>
        </p:nvSpPr>
        <p:spPr>
          <a:xfrm>
            <a:off x="3276295" y="1737360"/>
            <a:ext cx="777240" cy="777240"/>
          </a:xfrm>
          <a:prstGeom prst="ellipse">
            <a:avLst/>
          </a:prstGeom>
          <a:solidFill>
            <a:srgbClr val="E2F5E9"/>
          </a:solidFill>
          <a:ln w="12700">
            <a:solidFill>
              <a:srgbClr val="E2F5E9"/>
            </a:solidFill>
            <a:prstDash val="solid"/>
          </a:ln>
        </p:spPr>
      </p:sp>
      <p:pic>
        <p:nvPicPr>
          <p:cNvPr id="15" name="Image 2" descr="FaBrain">    </p:cNvPr>
          <p:cNvPicPr>
            <a:picLocks noChangeAspect="1"/>
          </p:cNvPicPr>
          <p:nvPr/>
        </p:nvPicPr>
        <p:blipFill>
          <a:blip r:embed="rId3"/>
          <a:stretch>
            <a:fillRect/>
          </a:stretch>
        </p:blipFill>
        <p:spPr>
          <a:xfrm>
            <a:off x="3462833" y="1923898"/>
            <a:ext cx="404165" cy="404165"/>
          </a:xfrm>
          <a:prstGeom prst="rect">
            <a:avLst/>
          </a:prstGeom>
        </p:spPr>
      </p:pic>
      <p:sp>
        <p:nvSpPr>
          <p:cNvPr id="16" name="Text 11"/>
          <p:cNvSpPr/>
          <p:nvPr/>
        </p:nvSpPr>
        <p:spPr>
          <a:xfrm>
            <a:off x="944575" y="1783080"/>
            <a:ext cx="2240280" cy="548640"/>
          </a:xfrm>
          <a:prstGeom prst="rect">
            <a:avLst/>
          </a:prstGeom>
          <a:noFill/>
          <a:ln/>
        </p:spPr>
        <p:txBody>
          <a:bodyPr wrap="square" rtlCol="0" anchor="ctr"/>
          <a:lstStyle/>
          <a:p>
            <a:pPr rtl="1" algn="r" indent="0" marL="0">
              <a:buNone/>
            </a:pPr>
            <a:r>
              <a:rPr lang="en-US" sz="1900" b="1" dirty="0">
                <a:solidFill>
                  <a:schemeClr val="tx2"/>
                </a:solidFill>
              </a:rPr>
              <a:t>الذكاء الاصطناعي</a:t>
            </a:r>
            <a:endParaRPr lang="en-US" sz="1900" dirty="0"/>
          </a:p>
        </p:txBody>
      </p:sp>
      <p:sp>
        <p:nvSpPr>
          <p:cNvPr id="17" name="Text 12"/>
          <p:cNvSpPr/>
          <p:nvPr/>
        </p:nvSpPr>
        <p:spPr>
          <a:xfrm>
            <a:off x="944575" y="2606040"/>
            <a:ext cx="3154680" cy="822960"/>
          </a:xfrm>
          <a:prstGeom prst="rect">
            <a:avLst/>
          </a:prstGeom>
          <a:noFill/>
          <a:ln/>
        </p:spPr>
        <p:txBody>
          <a:bodyPr wrap="square" rtlCol="0" anchor="t"/>
          <a:lstStyle/>
          <a:p>
            <a:pPr rtl="1" algn="r" indent="0" marL="0">
              <a:buNone/>
            </a:pPr>
            <a:r>
              <a:rPr lang="en-US" sz="1500" dirty="0">
                <a:solidFill>
                  <a:schemeClr val="tx1"/>
                </a:solidFill>
              </a:rPr>
              <a:t>التنبؤ بالعطش واكتشاف أمراض الأوراق.</a:t>
            </a:r>
            <a:endParaRPr lang="en-US" sz="1500" dirty="0"/>
          </a:p>
        </p:txBody>
      </p:sp>
      <p:sp>
        <p:nvSpPr>
          <p:cNvPr id="18" name="future card"/>
          <p:cNvSpPr/>
          <p:nvPr/>
        </p:nvSpPr>
        <p:spPr>
          <a:xfrm>
            <a:off x="8076895" y="3840480"/>
            <a:ext cx="3520440" cy="2103120"/>
          </a:xfrm>
          <a:prstGeom prst="roundRect">
            <a:avLst>
              <a:gd name="adj" fmla="val 7826"/>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19" name="icon circle"/>
          <p:cNvSpPr/>
          <p:nvPr/>
        </p:nvSpPr>
        <p:spPr>
          <a:xfrm>
            <a:off x="10591495" y="4114800"/>
            <a:ext cx="777240" cy="777240"/>
          </a:xfrm>
          <a:prstGeom prst="ellipse">
            <a:avLst/>
          </a:prstGeom>
          <a:solidFill>
            <a:srgbClr val="E2F5E9"/>
          </a:solidFill>
          <a:ln w="12700">
            <a:solidFill>
              <a:srgbClr val="E2F5E9"/>
            </a:solidFill>
            <a:prstDash val="solid"/>
          </a:ln>
        </p:spPr>
      </p:sp>
      <p:pic>
        <p:nvPicPr>
          <p:cNvPr id="20" name="Image 3" descr="FaBell">    </p:cNvPr>
          <p:cNvPicPr>
            <a:picLocks noChangeAspect="1"/>
          </p:cNvPicPr>
          <p:nvPr/>
        </p:nvPicPr>
        <p:blipFill>
          <a:blip r:embed="rId4"/>
          <a:stretch>
            <a:fillRect/>
          </a:stretch>
        </p:blipFill>
        <p:spPr>
          <a:xfrm>
            <a:off x="10778033" y="4301338"/>
            <a:ext cx="404165" cy="404165"/>
          </a:xfrm>
          <a:prstGeom prst="rect">
            <a:avLst/>
          </a:prstGeom>
        </p:spPr>
      </p:pic>
      <p:sp>
        <p:nvSpPr>
          <p:cNvPr id="21" name="Text 15"/>
          <p:cNvSpPr/>
          <p:nvPr/>
        </p:nvSpPr>
        <p:spPr>
          <a:xfrm>
            <a:off x="8259775" y="4160520"/>
            <a:ext cx="2240280" cy="548640"/>
          </a:xfrm>
          <a:prstGeom prst="rect">
            <a:avLst/>
          </a:prstGeom>
          <a:noFill/>
          <a:ln/>
        </p:spPr>
        <p:txBody>
          <a:bodyPr wrap="square" rtlCol="0" anchor="ctr"/>
          <a:lstStyle/>
          <a:p>
            <a:pPr rtl="1" algn="r" indent="0" marL="0">
              <a:buNone/>
            </a:pPr>
            <a:r>
              <a:rPr lang="en-US" sz="1900" b="1" dirty="0">
                <a:solidFill>
                  <a:schemeClr val="tx2"/>
                </a:solidFill>
              </a:rPr>
              <a:t>إشعارات</a:t>
            </a:r>
            <a:endParaRPr lang="en-US" sz="1900" dirty="0"/>
          </a:p>
        </p:txBody>
      </p:sp>
      <p:sp>
        <p:nvSpPr>
          <p:cNvPr id="22" name="Text 16"/>
          <p:cNvSpPr/>
          <p:nvPr/>
        </p:nvSpPr>
        <p:spPr>
          <a:xfrm>
            <a:off x="8259775" y="4983480"/>
            <a:ext cx="3154680" cy="822960"/>
          </a:xfrm>
          <a:prstGeom prst="rect">
            <a:avLst/>
          </a:prstGeom>
          <a:noFill/>
          <a:ln/>
        </p:spPr>
        <p:txBody>
          <a:bodyPr wrap="square" rtlCol="0" anchor="t"/>
          <a:lstStyle/>
          <a:p>
            <a:pPr rtl="1" algn="r" indent="0" marL="0">
              <a:buNone/>
            </a:pPr>
            <a:r>
              <a:rPr lang="en-US" sz="1500" dirty="0">
                <a:solidFill>
                  <a:schemeClr val="tx1"/>
                </a:solidFill>
              </a:rPr>
              <a:t>تنبيه على الجوال عند الحاجة.</a:t>
            </a:r>
            <a:endParaRPr lang="en-US" sz="1500" dirty="0"/>
          </a:p>
        </p:txBody>
      </p:sp>
      <p:sp>
        <p:nvSpPr>
          <p:cNvPr id="23" name="future card"/>
          <p:cNvSpPr/>
          <p:nvPr/>
        </p:nvSpPr>
        <p:spPr>
          <a:xfrm>
            <a:off x="4419295" y="3840480"/>
            <a:ext cx="3520440" cy="2103120"/>
          </a:xfrm>
          <a:prstGeom prst="roundRect">
            <a:avLst>
              <a:gd name="adj" fmla="val 7826"/>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24" name="icon circle"/>
          <p:cNvSpPr/>
          <p:nvPr/>
        </p:nvSpPr>
        <p:spPr>
          <a:xfrm>
            <a:off x="6933895" y="4114800"/>
            <a:ext cx="777240" cy="777240"/>
          </a:xfrm>
          <a:prstGeom prst="ellipse">
            <a:avLst/>
          </a:prstGeom>
          <a:solidFill>
            <a:srgbClr val="E2F5E9"/>
          </a:solidFill>
          <a:ln w="12700">
            <a:solidFill>
              <a:srgbClr val="E2F5E9"/>
            </a:solidFill>
            <a:prstDash val="solid"/>
          </a:ln>
        </p:spPr>
      </p:sp>
      <p:pic>
        <p:nvPicPr>
          <p:cNvPr id="25" name="Image 4" descr="FaGlobe">    </p:cNvPr>
          <p:cNvPicPr>
            <a:picLocks noChangeAspect="1"/>
          </p:cNvPicPr>
          <p:nvPr/>
        </p:nvPicPr>
        <p:blipFill>
          <a:blip r:embed="rId5"/>
          <a:stretch>
            <a:fillRect/>
          </a:stretch>
        </p:blipFill>
        <p:spPr>
          <a:xfrm>
            <a:off x="7120433" y="4301338"/>
            <a:ext cx="404165" cy="404165"/>
          </a:xfrm>
          <a:prstGeom prst="rect">
            <a:avLst/>
          </a:prstGeom>
        </p:spPr>
      </p:pic>
      <p:sp>
        <p:nvSpPr>
          <p:cNvPr id="26" name="Text 19"/>
          <p:cNvSpPr/>
          <p:nvPr/>
        </p:nvSpPr>
        <p:spPr>
          <a:xfrm>
            <a:off x="4602175" y="4160520"/>
            <a:ext cx="2240280" cy="548640"/>
          </a:xfrm>
          <a:prstGeom prst="rect">
            <a:avLst/>
          </a:prstGeom>
          <a:noFill/>
          <a:ln/>
        </p:spPr>
        <p:txBody>
          <a:bodyPr wrap="square" rtlCol="0" anchor="ctr"/>
          <a:lstStyle/>
          <a:p>
            <a:pPr rtl="1" algn="r" indent="0" marL="0">
              <a:buNone/>
            </a:pPr>
            <a:r>
              <a:rPr lang="en-US" sz="1900" b="1" dirty="0">
                <a:solidFill>
                  <a:schemeClr val="tx2"/>
                </a:solidFill>
              </a:rPr>
              <a:t>النشر على الإنترنت</a:t>
            </a:r>
            <a:endParaRPr lang="en-US" sz="1900" dirty="0"/>
          </a:p>
        </p:txBody>
      </p:sp>
      <p:sp>
        <p:nvSpPr>
          <p:cNvPr id="27" name="Text 20"/>
          <p:cNvSpPr/>
          <p:nvPr/>
        </p:nvSpPr>
        <p:spPr>
          <a:xfrm>
            <a:off x="4602175" y="4983480"/>
            <a:ext cx="3154680" cy="822960"/>
          </a:xfrm>
          <a:prstGeom prst="rect">
            <a:avLst/>
          </a:prstGeom>
          <a:noFill/>
          <a:ln/>
        </p:spPr>
        <p:txBody>
          <a:bodyPr wrap="square" rtlCol="0" anchor="t"/>
          <a:lstStyle/>
          <a:p>
            <a:pPr rtl="1" algn="r" indent="0" marL="0">
              <a:buNone/>
            </a:pPr>
            <a:r>
              <a:rPr lang="en-US" sz="1500" dirty="0">
                <a:solidFill>
                  <a:schemeClr val="tx1"/>
                </a:solidFill>
              </a:rPr>
              <a:t>متابعة الزراعات من أي مكان بأمان.</a:t>
            </a:r>
            <a:endParaRPr lang="en-US" sz="1500" dirty="0"/>
          </a:p>
        </p:txBody>
      </p:sp>
      <p:sp>
        <p:nvSpPr>
          <p:cNvPr id="28" name="future card"/>
          <p:cNvSpPr/>
          <p:nvPr/>
        </p:nvSpPr>
        <p:spPr>
          <a:xfrm>
            <a:off x="761695" y="3840480"/>
            <a:ext cx="3520440" cy="2103120"/>
          </a:xfrm>
          <a:prstGeom prst="roundRect">
            <a:avLst>
              <a:gd name="adj" fmla="val 7826"/>
            </a:avLst>
          </a:prstGeom>
          <a:solidFill>
            <a:srgbClr val="FFFFFF"/>
          </a:solidFill>
          <a:ln w="12700">
            <a:solidFill>
              <a:srgbClr val="E2F5E9"/>
            </a:solidFill>
            <a:prstDash val="solid"/>
          </a:ln>
          <a:effectLst>
            <a:outerShdw sx="100000" sy="100000" kx="0" ky="0" algn="bl" rotWithShape="0" blurRad="101600" dist="25400" dir="5400000">
              <a:srgbClr val="0F3D26">
                <a:alpha val="12000"/>
              </a:srgbClr>
            </a:outerShdw>
          </a:effectLst>
        </p:spPr>
      </p:sp>
      <p:sp>
        <p:nvSpPr>
          <p:cNvPr id="29" name="icon circle"/>
          <p:cNvSpPr/>
          <p:nvPr/>
        </p:nvSpPr>
        <p:spPr>
          <a:xfrm>
            <a:off x="3276295" y="4114800"/>
            <a:ext cx="777240" cy="777240"/>
          </a:xfrm>
          <a:prstGeom prst="ellipse">
            <a:avLst/>
          </a:prstGeom>
          <a:solidFill>
            <a:srgbClr val="E2F5E9"/>
          </a:solidFill>
          <a:ln w="12700">
            <a:solidFill>
              <a:srgbClr val="E2F5E9"/>
            </a:solidFill>
            <a:prstDash val="solid"/>
          </a:ln>
        </p:spPr>
      </p:sp>
      <p:pic>
        <p:nvPicPr>
          <p:cNvPr id="30" name="Image 5" descr="FaApple">    </p:cNvPr>
          <p:cNvPicPr>
            <a:picLocks noChangeAspect="1"/>
          </p:cNvPicPr>
          <p:nvPr/>
        </p:nvPicPr>
        <p:blipFill>
          <a:blip r:embed="rId6"/>
          <a:stretch>
            <a:fillRect/>
          </a:stretch>
        </p:blipFill>
        <p:spPr>
          <a:xfrm>
            <a:off x="3462833" y="4301338"/>
            <a:ext cx="404165" cy="404165"/>
          </a:xfrm>
          <a:prstGeom prst="rect">
            <a:avLst/>
          </a:prstGeom>
        </p:spPr>
      </p:pic>
      <p:sp>
        <p:nvSpPr>
          <p:cNvPr id="31" name="Text 23"/>
          <p:cNvSpPr/>
          <p:nvPr/>
        </p:nvSpPr>
        <p:spPr>
          <a:xfrm>
            <a:off x="944575" y="4160520"/>
            <a:ext cx="2240280" cy="548640"/>
          </a:xfrm>
          <a:prstGeom prst="rect">
            <a:avLst/>
          </a:prstGeom>
          <a:noFill/>
          <a:ln/>
        </p:spPr>
        <p:txBody>
          <a:bodyPr wrap="square" rtlCol="0" anchor="ctr"/>
          <a:lstStyle/>
          <a:p>
            <a:pPr rtl="1" algn="r" indent="0" marL="0">
              <a:buNone/>
            </a:pPr>
            <a:r>
              <a:rPr lang="en-US" sz="1900" b="1" dirty="0">
                <a:solidFill>
                  <a:schemeClr val="tx2"/>
                </a:solidFill>
              </a:rPr>
              <a:t>تطبيق iOS</a:t>
            </a:r>
            <a:endParaRPr lang="en-US" sz="1900" dirty="0"/>
          </a:p>
        </p:txBody>
      </p:sp>
      <p:sp>
        <p:nvSpPr>
          <p:cNvPr id="32" name="Text 24"/>
          <p:cNvSpPr/>
          <p:nvPr/>
        </p:nvSpPr>
        <p:spPr>
          <a:xfrm>
            <a:off x="944575" y="4983480"/>
            <a:ext cx="3154680" cy="822960"/>
          </a:xfrm>
          <a:prstGeom prst="rect">
            <a:avLst/>
          </a:prstGeom>
          <a:noFill/>
          <a:ln/>
        </p:spPr>
        <p:txBody>
          <a:bodyPr wrap="square" rtlCol="0" anchor="t"/>
          <a:lstStyle/>
          <a:p>
            <a:pPr rtl="1" algn="r" indent="0" marL="0">
              <a:buNone/>
            </a:pPr>
            <a:r>
              <a:rPr lang="en-US" sz="1500" dirty="0">
                <a:solidFill>
                  <a:schemeClr val="tx1"/>
                </a:solidFill>
              </a:rPr>
              <a:t>وشاشة صغيرة على الجهاز.</a:t>
            </a:r>
            <a:endParaRPr lang="en-US" sz="15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1"/>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شعار ري">    </p:cNvPr>
          <p:cNvPicPr>
            <a:picLocks noChangeAspect="1"/>
          </p:cNvPicPr>
          <p:nvPr/>
        </p:nvPicPr>
        <p:blipFill>
          <a:blip r:embed="rId1"/>
          <a:stretch>
            <a:fillRect/>
          </a:stretch>
        </p:blipFill>
        <p:spPr>
          <a:xfrm>
            <a:off x="4928616" y="502920"/>
            <a:ext cx="2304288" cy="2743200"/>
          </a:xfrm>
          <a:prstGeom prst="rect">
            <a:avLst/>
          </a:prstGeom>
        </p:spPr>
      </p:pic>
      <p:sp>
        <p:nvSpPr>
          <p:cNvPr id="3" name="Text 0"/>
          <p:cNvSpPr/>
          <p:nvPr/>
        </p:nvSpPr>
        <p:spPr>
          <a:xfrm>
            <a:off x="914400" y="3337560"/>
            <a:ext cx="10332720" cy="914400"/>
          </a:xfrm>
          <a:prstGeom prst="rect">
            <a:avLst/>
          </a:prstGeom>
          <a:noFill/>
          <a:ln/>
        </p:spPr>
        <p:txBody>
          <a:bodyPr wrap="square" rtlCol="0" anchor="ctr"/>
          <a:lstStyle/>
          <a:p>
            <a:pPr rtl="1" algn="ctr" indent="0" marL="0">
              <a:buNone/>
            </a:pPr>
            <a:r>
              <a:rPr lang="en-US" sz="4800" b="1" dirty="0">
                <a:solidFill>
                  <a:srgbClr val="FFFFFF"/>
                </a:solidFill>
              </a:rPr>
              <a:t>شكراً لحسن استماعكم</a:t>
            </a:r>
            <a:endParaRPr lang="en-US" sz="4800" dirty="0"/>
          </a:p>
        </p:txBody>
      </p:sp>
      <p:sp>
        <p:nvSpPr>
          <p:cNvPr id="4" name="Text 1"/>
          <p:cNvSpPr/>
          <p:nvPr/>
        </p:nvSpPr>
        <p:spPr>
          <a:xfrm>
            <a:off x="914400" y="4251960"/>
            <a:ext cx="10332720" cy="640080"/>
          </a:xfrm>
          <a:prstGeom prst="rect">
            <a:avLst/>
          </a:prstGeom>
          <a:noFill/>
          <a:ln/>
        </p:spPr>
        <p:txBody>
          <a:bodyPr wrap="square" rtlCol="0" anchor="ctr"/>
          <a:lstStyle/>
          <a:p>
            <a:pPr rtl="1" algn="ctr" indent="0" marL="0">
              <a:buNone/>
            </a:pPr>
            <a:r>
              <a:rPr lang="en-US" sz="2400" dirty="0">
                <a:solidFill>
                  <a:srgbClr val="E2F5E9"/>
                </a:solidFill>
              </a:rPr>
              <a:t>مع ري تعبر كل زراعة عن مشاعرها 🌱</a:t>
            </a:r>
            <a:endParaRPr lang="en-US" sz="2400" dirty="0"/>
          </a:p>
        </p:txBody>
      </p:sp>
      <p:sp>
        <p:nvSpPr>
          <p:cNvPr id="5" name="Text 2"/>
          <p:cNvSpPr/>
          <p:nvPr/>
        </p:nvSpPr>
        <p:spPr>
          <a:xfrm>
            <a:off x="914400" y="5120640"/>
            <a:ext cx="10332720" cy="548640"/>
          </a:xfrm>
          <a:prstGeom prst="rect">
            <a:avLst/>
          </a:prstGeom>
          <a:noFill/>
          <a:ln/>
        </p:spPr>
        <p:txBody>
          <a:bodyPr wrap="square" rtlCol="0" anchor="ctr"/>
          <a:lstStyle/>
          <a:p>
            <a:pPr rtl="1" algn="ctr" indent="0" marL="0">
              <a:buNone/>
            </a:pPr>
            <a:r>
              <a:rPr lang="en-US" sz="1800" dirty="0">
                <a:solidFill>
                  <a:srgbClr val="CFE9D8"/>
                </a:solidFill>
              </a:rPr>
              <a:t>نسعد بأسئلتكم · وندعوكم لتجربة العرض الحي للجهاز والتطبيقات</a:t>
            </a:r>
            <a:endParaRPr lang="en-US" sz="1800" dirty="0"/>
          </a:p>
        </p:txBody>
      </p:sp>
    </p:spTree>
  </p:cSld>
  <p:clrMapOvr>
    <a:masterClrMapping/>
  </p:clrMapOvr>
</p:sld>
</file>

<file path=ppt/theme/theme1.xml><?xml version="1.0" encoding="utf-8"?>
<a:theme xmlns:a="http://schemas.openxmlformats.org/drawingml/2006/main" name="Rayy">
  <a:themeElements>
    <a:clrScheme name="Rayy">
      <a:dk1>
        <a:srgbClr val="15231B"/>
      </a:dk1>
      <a:lt1>
        <a:srgbClr val="FFFFFF"/>
      </a:lt1>
      <a:dk2>
        <a:srgbClr val="0F3D26"/>
      </a:dk2>
      <a:lt2>
        <a:srgbClr val="F4FAF6"/>
      </a:lt2>
      <a:accent1>
        <a:srgbClr val="2F9E5F"/>
      </a:accent1>
      <a:accent2>
        <a:srgbClr val="1E6B43"/>
      </a:accent2>
      <a:accent3>
        <a:srgbClr val="7FD3A0"/>
      </a:accent3>
      <a:accent4>
        <a:srgbClr val="2D8CFF"/>
      </a:accent4>
      <a:accent5>
        <a:srgbClr val="FFB020"/>
      </a:accent5>
      <a:accent6>
        <a:srgbClr val="E07A00"/>
      </a:accent6>
      <a:hlink>
        <a:srgbClr val="1E6B43"/>
      </a:hlink>
      <a:folHlink>
        <a:srgbClr val="5B5BD6"/>
      </a:folHlink>
    </a:clrScheme>
    <a:fontScheme name="Ray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ري (Rayy) – العرض النهائي</dc:title>
  <dc:subject>PptxGenJS Presentation</dc:subject>
  <dc:creator>فريق ري – الكلية التقنية الرقمية للبنات بالرياض</dc:creator>
  <cp:lastModifiedBy>فريق ري – الكلية التقنية الرقمية للبنات بالرياض</cp:lastModifiedBy>
  <cp:revision>1</cp:revision>
  <dcterms:created xsi:type="dcterms:W3CDTF">2026-10-12T19:02:31Z</dcterms:created>
  <dcterms:modified xsi:type="dcterms:W3CDTF">2026-10-12T19:02:31Z</dcterms:modified>
</cp:coreProperties>
</file>