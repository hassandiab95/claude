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بداية" id="{9832cf4a-5c9a-f29b-17f0-566b412366bf}">
          <p14:sldIdLst>
            <p14:sldId id="256"/>
            <p14:sldId id="257"/>
            <p14:sldId id="258"/>
          </p14:sldIdLst>
        </p14:section>
        <p14:section name="المشكلة والحل" id="{078521d6-9efc-d3cb-ad89-fae1284e2789}">
          <p14:sldIdLst>
            <p14:sldId id="259"/>
            <p14:sldId id="260"/>
            <p14:sldId id="261"/>
            <p14:sldId id="262"/>
          </p14:sldIdLst>
        </p14:section>
        <p14:section name="التصميم والبناء" id="{ea7ba5f6-5887-1b0e-7e74-3ea6f75fd670}">
          <p14:sldIdLst>
            <p14:sldId id="263"/>
            <p14:sldId id="264"/>
            <p14:sldId id="265"/>
            <p14:sldId id="266"/>
          </p14:sldIdLst>
        </p14:section>
        <p14:section name="التطبيقان" id="{0f68714b-2f0d-a1b2-fe09-b4e2da489bf6}">
          <p14:sldIdLst>
            <p14:sldId id="267"/>
            <p14:sldId id="268"/>
            <p14:sldId id="269"/>
            <p14:sldId id="270"/>
            <p14:sldId id="271"/>
            <p14:sldId id="272"/>
          </p14:sldIdLst>
        </p14:section>
        <p14:section name="التقييم والخاتمة" id="{6be5326b-0910-e45a-2889-4c4e089cc79f}">
          <p14:sldIdLst>
            <p14:sldId id="273"/>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السلام عليكم ورحمة الله وبركاته. نرحّب بلجنة المناقشة ونشكر مشرفتنا أ. دانيه الموسى. نقدّم لكم مشروعنا «وِجهة — المرشد الذكي للمكتبة»: تطبيقان لأندرويد يوصلان الزائر إلى الكتاب على رفّه خطوة بخطوة، ويمنحان أمينة المكتبة أدوات حقيقية لإدارة المبنى والفهرس والإعارة.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فريق العمل ستّ طالبات، ولكل واحدة جزء واضح في الشيفرة: منى قادت المشروع وبنت الدخول والصلاحيات ودمجت التطبيقين، وجمانة صمّمت الواجهات والخريطة، ولمى بنت شاشات الزائر ومحرّك حساب الطريق، وهناء صمّمت قاعدة البيانات وقواعد الأمان، وعبير بنت تطبيق المشرف، ولمياء بنت دورة الإعارة والإشعارات وتولّت الاختبار.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نعرض المشروع في ثمانية محاور: نبدأ بالمشكلة والفكرة، ثم الأهداف والفئة المستهدفة، فالأدوات والمعمارية، ثم نموذج المبنى وقاعدة البيانات، ثم نعرض التطبيقين، ونختم بالأمان والاختبار والتحديات والتطوير المستقبلي، يليها العرض العملي.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المشكلة يعرفها كل من دخل مكتبة كبيرة: الفهرس يقول إن الكتاب موجود ويعطيك رمز رف، لكن الرمز وحده لا يقول أين الرف في المبنى. النتيجة وقت ضائع، وضغط على أمينة المكتبة بالأسئلة المتكررة، وإعارة تعتمد على السجلات الورقية.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الحل تطبيقان لأندرويد يشتركان في قاعدة بيانات واحدة على Cloud Firestore. تطبيق الزائر للبحث والوصول والإعارة، وتطبيق المشرف لإدارة كل شيء. والفكرة الجوهرية أن المبنى نفسه — الأدوار والبلوكات والممرات والرفوف — يُخزَّن كبيانات، فالخريطة تُرسم منه ولا تحتاج تعديلًا برمجيًا عند تغيير ترتيب المكتبة.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حدّدنا خمسة أهداف: أن نرشد الزائر حتى مستوى الرف، وأن يكون المبنى قابلًا للتعديل من داخل التطبيق، وأن تكون دورة الإعارة رقمية بالكامل، وأن تكون الصلاحيات محمية على الخادم، وأن تكون الواجهة مناسبة للجميع بلغتين وبمظهرين فاتح وداكن.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يخدم المشروع خمس فئات: طالبات الكلية وهنّ الأكثر استخدامًا، وأعضاء هيئة التدريس، وأمينات المكتبة اللواتي يستخدمن تطبيق المشرف، والزوار من خارج الكلية، وذوو الاحتياجات الخاصة وكبار السن الذين يفيدهم الطريق المباشر.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بنينا التطبيقين بلغة Kotlin وواجهات Jetpack Compose، وقاعدة البيانات Cloud Firestore مع Firebase Authentication، وقواعد الأمان تحمي الصلاحيات على الخادم. والتكلفة صفر ريال: الخطة المجانية تكفي، والصور تُضغط وتُحفظ داخل المستندات فلا نحتاج Cloud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التطبيقان يتصلان بقاعدة بيانات واحدة. Firebase Authentication يجيب عن سؤال «من أنتِ؟»، وقواعد الأمان على الخادم تجيب عن «ماذا يحق لكِ؟» قبل كل عملية. داخل كل تطبيق معمارية طبقية: نماذج البيانات، ثم المستودعات التي تقرأ Firestore قراءة حيّة وتعرضها كـ StateFlow، ثم الواجهات التي تعيد رسم نفسها تلقائيًا عند تغيّر البيانات.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عنوان الكتاب في وِجهة ستّ طبقات: الدور، ثم البلوك على شبكة صفوف وأعمدة، ثم الممر، ثم الرف برمزه، ثم المستوى، ثم الكتاب. القرار الأهم أن الرف وحده مصدر الحقيقة: الكتاب يحمل رمز رفه فقط، وموقعه يُحسب من الرف عند العرض، فلا تتعارض البيانات عند نقل رف.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قاعدة البيانات تسع مجموعات رئيسية. المجموعات الأساسية: books وshelves وfloors لوصف المكتبة، وloans للإعارات، وadmins للصلاحيات، وactivity لسجل النشاط الذي يُضاف إليه فقط ولا يُعدَّل. وكل عملية تغيّر عدد النسخ المتاحة تُنفَّذ داخل Transaction لضمان الدقة عند تزامن طلبين.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تطبيق الزائر يبدأ بشاشة رئيسية تعرض الأعلى تقييمًا والتصنيفات، والبحث فوري بالعنوان أو المؤلف أو التصنيف. صفحة الكتاب تعرض عنوانه الكامل في المكتبة وعدد النسخ المتاحة، ومنها يفتح الطريق أو يطلب الإعارة. وهناك مفضلة وإشعارات للإعارة.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أهم شاشة في المشروع. الخريطة ليست صورة: تُرسم من بيانات الدور، والطريق يُحسب عبر الممرات: من المدخل إلى الممر الرئيسي ثم ممر البلوك ثم الرف، مع المسافة والزمن وخطوات مكتوبة. ولأن التطبيق لا يحدّد موقع الزائر داخل المبنى، أضفنا «نقطة البداية»: يختار الزائر الرف الأقرب إليه فيُرسم الطريق منه، كما في الصورة الوسطى.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دورة الإعارة أربع حالات: الطلب من تطبيق الزائر مع صورة الهوية، ثم الحجز بعد أن تطابق المشرفة الاسم ورقم الهوية، ثم الإعارة عند التسليم، ثم الإرجاع. عدد النسخ المتاحة يُحسب داخل Transaction فلا تُحجز النسخة الأخيرة لشخصين، وصورة الهوية تُحذف تلقائيًا عند إغلاق الإعارة حفاظًا على الخصوصية.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تطبيق المشرف هو لوحة إدارة المكتبة: لوحة تحكم بالأرقام والتنبيهات، ومحرّر للمبنى نفسه يضيف الأدوار والبلوكات على شبكة، وإدارة الكتب والتصنيفات، والأعضاء والصلاحيات، والتقارير وسجل النشاط الذي يحفظ كل عملية باسم من نفّذها.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فصلنا بين المصادقة والصلاحية. المصادقة تثبت الهوية، والصلاحية تحدّدها قواعد الأمان على خادم Google. المشرف هو من له مستند في admins، وأول حساب على قاعدة بيانات فارغة يصبح المالك عبر قفل يُنشأ مرة واحدة. ولو عدّل أحد التطبيق ليتجاوز الواجهة، يرفض الخادم الطلب.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صُمّم التطبيقان للجميع: لغتان عربي وإنجليزي مع قلب اتجاه القراءة فورًا دون أن يتغيّر محتوى المكتبة المخزّن، ومظهر فاتح وداكن أو حسب إعداد الجهاز. في المظهر الداكن لكل لون قيمة مناسبة، وللشعار نسخة خاصة حتى يبقى واضحًا.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وثّقنا 26 حالة اختبار تغطي كل المسارات، ونجحت جميعها. واختبرنا التزامن بطلبين على آخر نسخة في اللحظة نفسها فلم تنجح إلا معاملة واحدة، واختبرنا الأمان بمحاولة كتابة من حساب غير مشرف فرفضها الخادم، واختبرنا على أجهزة حقيقية داخل المكتبة.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واجهنا تحديات تقنية حقيقية: تهيئة أول مشرف كانت يدوية فحوّلناها إلى قفل يُنشأ مرة واحدة، ونسخ الموقع على كل كتاب سبّب تعارضًا فجعلنا الرف مصدر الحقيقة، والواجهة العربية عكست الخريطة فرسمناها باتجاه ثابت، وحدّ حجم المستند فرض علينا ضغط الصور قبل حفظها.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للتطوير المستقبلي: تحديد موقع الزائر الفعلي داخل المبنى بتقنية البلوتوث منخفض الطاقة، ورمز QR على كل رف، وتذكير تلقائي بموعد الإرجاع، والبحث والإرشاد الصوتي، واستيراد الفهرس من Excel، والعمل دون اتصال داخل المكتبة.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نعرض الآن فيديو المشروع (3:37) بتعليق فريق العمل: من البحث عن كتاب في تطبيق الزائر، إلى الطريق حتى رفّه، إلى رحلة الإعارة كاملة في التطبيقين. اضغطي على الفيديو لتشغيله، أو اضغطي المسافة. وبعده يمكن الانتقال إلى العرض العملي على الجهاز إن طلبت اللجنة ذلك.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الختام: بنينا تطبيقين متكاملين يحلّان مشكلة حقيقية، والمبنى فيهما بيانات تُحسب منها الخريطة والطريق، ودورة الإعارة رقمية وآمنة، والصلاحيات محمية على الخادم، والتكلفة صفر. نشكر لجنة المناقشة ومشرفتنا أ. دانيه الموسى، ويسعدنا الإجابة عن أسئلتكم.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tmp/claude-0/-home-user-CLAUDE/0be54b07-c1ba-5b31-958a-45d5f68df334/scratchpad/deck/img/mark.png">    </p:cNvPr>
          <p:cNvPicPr>
            <a:picLocks noChangeAspect="1"/>
          </p:cNvPicPr>
          <p:nvPr/>
        </p:nvPicPr>
        <p:blipFill>
          <a:blip r:embed="rId1"/>
          <a:stretch>
            <a:fillRect/>
          </a:stretch>
        </p:blipFill>
        <p:spPr>
          <a:xfrm>
            <a:off x="548640" y="384048"/>
            <a:ext cx="658368" cy="603504"/>
          </a:xfrm>
          <a:prstGeom prst="rect">
            <a:avLst/>
          </a:prstGeom>
        </p:spPr>
      </p:pic>
      <p:sp>
        <p:nvSpPr>
          <p:cNvPr id="3" name="Text 0"/>
          <p:cNvSpPr txBox="1"/>
          <p:nvPr/>
        </p:nvSpPr>
        <p:spPr>
          <a:xfrm>
            <a:off x="6126480" y="6382512"/>
            <a:ext cx="5513832" cy="292608"/>
          </a:xfrm>
          <a:prstGeom prst="rect">
            <a:avLst/>
          </a:prstGeom>
          <a:noFill/>
          <a:ln/>
        </p:spPr>
        <p:txBody>
          <a:bodyPr wrap="square" lIns="0" tIns="0" rIns="0" bIns="0" rtlCol="0" anchor="ctr"/>
          <a:lstStyle/>
          <a:p>
            <a:pPr algn="r" indent="0" marL="0">
              <a:buNone/>
            </a:pPr>
            <a:r>
              <a:rPr lang="en-US" sz="1000" dirty="0">
                <a:solidFill>
                  <a:schemeClr val="tx2"/>
                </a:solidFill>
              </a:rPr>
              <a:t>وِجهة — المرشد الذكي للمكتبة</a:t>
            </a:r>
            <a:endParaRPr lang="en-US" sz="1000" dirty="0"/>
          </a:p>
        </p:txBody>
      </p:sp>
      <p:sp>
        <p:nvSpPr>
          <p:cNvPr id="4" name="Text 1"/>
          <p:cNvSpPr/>
          <p:nvPr>
            <p:ph idx="102" type="title" hasCustomPrompt="1"/>
          </p:nvPr>
        </p:nvSpPr>
        <p:spPr>
          <a:xfrm>
            <a:off x="1463040" y="347472"/>
            <a:ext cx="10177272" cy="731520"/>
          </a:xfrm>
          <a:prstGeom prst="rect">
            <a:avLst/>
          </a:prstGeom>
          <a:noFill/>
          <a:ln/>
        </p:spPr>
        <p:txBody>
          <a:bodyPr wrap="square" rtlCol="0"/>
          <a:lstStyle>
            <a:lvl1pPr rtl="1" algn="r" indent="0" marL="0">
              <a:buNone/>
              <a:defRPr lang="en-US" sz="3200" b="1" dirty="0">
                <a:solidFill>
                  <a:schemeClr val="tx2"/>
                </a:solidFill>
              </a:defRPr>
            </a:lvl1pPr>
          </a:lstStyle>
          <a:p>
            <a:pPr algn="r" indent="0" marL="0">
              <a:buNone/>
            </a:pPr>
            <a:endParaRPr lang="en-US" sz="3200" dirty="0"/>
          </a:p>
        </p:txBody>
      </p:sp>
      <p:sp>
        <p:nvSpPr>
          <p:cNvPr id="25" name="Slide Number Placeholder 0"/>
          <p:cNvSpPr>
            <a:spLocks noGrp="1"/>
          </p:cNvSpPr>
          <p:nvPr>
            <p:ph type="sldNum" sz="quarter" idx="4294967295"/>
          </p:nvPr>
        </p:nvSpPr>
        <p:spPr>
          <a:xfrm>
            <a:off x="5486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470"/>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47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2.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2.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2.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2.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2.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2.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2.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2.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video" Target="../media/media-21-1.mp4"/><Relationship Id="rId2" Type="http://schemas.microsoft.com/office/2007/relationships/media" Target="../media/media-21-1.mp4"/><Relationship Id="rId3" Type="http://schemas.openxmlformats.org/officeDocument/2006/relationships/image" Target="../media/image-21-3.png"/><Relationship Id="rId4" Type="http://schemas.openxmlformats.org/officeDocument/2006/relationships/slideLayout" Target="../slideLayouts/slideLayout3.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3.xml"/><Relationship Id="rId7"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r circle large"/>
          <p:cNvSpPr/>
          <p:nvPr/>
        </p:nvSpPr>
        <p:spPr>
          <a:xfrm>
            <a:off x="-2011680" y="3291840"/>
            <a:ext cx="6400800" cy="6400800"/>
          </a:xfrm>
          <a:prstGeom prst="ellipse">
            <a:avLst/>
          </a:prstGeom>
          <a:solidFill>
            <a:schemeClr val="accent3">
              <a:alpha val="45000"/>
            </a:schemeClr>
          </a:solidFill>
          <a:ln w="12700">
            <a:solidFill>
              <a:schemeClr val="accent3">
                <a:alpha val="45000"/>
              </a:schemeClr>
            </a:solidFill>
            <a:prstDash val="solid"/>
          </a:ln>
        </p:spPr>
      </p:sp>
      <p:sp>
        <p:nvSpPr>
          <p:cNvPr id="3" name="decor circle gold"/>
          <p:cNvSpPr/>
          <p:nvPr/>
        </p:nvSpPr>
        <p:spPr>
          <a:xfrm>
            <a:off x="2377440" y="-1280160"/>
            <a:ext cx="2377440" cy="2377440"/>
          </a:xfrm>
          <a:prstGeom prst="ellipse">
            <a:avLst/>
          </a:prstGeom>
          <a:solidFill>
            <a:schemeClr val="accent2">
              <a:alpha val="30000"/>
            </a:schemeClr>
          </a:solidFill>
          <a:ln w="12700">
            <a:solidFill>
              <a:schemeClr val="accent2">
                <a:alpha val="30000"/>
              </a:schemeClr>
            </a:solidFill>
            <a:prstDash val="solid"/>
          </a:ln>
        </p:spPr>
      </p:sp>
      <p:sp>
        <p:nvSpPr>
          <p:cNvPr id="4" name="logo card"/>
          <p:cNvSpPr/>
          <p:nvPr/>
        </p:nvSpPr>
        <p:spPr>
          <a:xfrm>
            <a:off x="1005840" y="1143000"/>
            <a:ext cx="3291840" cy="3931920"/>
          </a:xfrm>
          <a:prstGeom prst="roundRect">
            <a:avLst>
              <a:gd name="adj" fmla="val 3333"/>
            </a:avLst>
          </a:prstGeom>
          <a:solidFill>
            <a:schemeClr val="bg2"/>
          </a:solidFill>
          <a:ln w="12700">
            <a:solidFill>
              <a:schemeClr val="bg2"/>
            </a:solidFill>
            <a:prstDash val="solid"/>
          </a:ln>
        </p:spPr>
      </p:sp>
      <p:pic>
        <p:nvPicPr>
          <p:cNvPr id="5" name="WUJHA logo" descr="/tmp/claude-0/-home-user-CLAUDE/0be54b07-c1ba-5b31-958a-45d5f68df334/scratchpad/deck/img/lockup.png">    </p:cNvPr>
          <p:cNvPicPr>
            <a:picLocks noChangeAspect="1"/>
          </p:cNvPicPr>
          <p:nvPr/>
        </p:nvPicPr>
        <p:blipFill>
          <a:blip r:embed="rId1"/>
          <a:stretch>
            <a:fillRect/>
          </a:stretch>
        </p:blipFill>
        <p:spPr>
          <a:xfrm>
            <a:off x="1417320" y="1417320"/>
            <a:ext cx="2468880" cy="2935224"/>
          </a:xfrm>
          <a:prstGeom prst="rect">
            <a:avLst/>
          </a:prstGeom>
        </p:spPr>
      </p:pic>
      <p:sp>
        <p:nvSpPr>
          <p:cNvPr id="6" name="Text 3"/>
          <p:cNvSpPr txBox="1"/>
          <p:nvPr/>
        </p:nvSpPr>
        <p:spPr>
          <a:xfrm>
            <a:off x="4937760" y="1097280"/>
            <a:ext cx="6675120" cy="457200"/>
          </a:xfrm>
          <a:prstGeom prst="rect">
            <a:avLst/>
          </a:prstGeom>
          <a:noFill/>
          <a:ln/>
        </p:spPr>
        <p:txBody>
          <a:bodyPr wrap="square" lIns="0" tIns="0" rIns="0" bIns="0" rtlCol="0" anchor="t"/>
          <a:lstStyle/>
          <a:p>
            <a:pPr rtl="1" algn="r" indent="0" marL="0">
              <a:buNone/>
            </a:pPr>
            <a:r>
              <a:rPr lang="ar-SA" altLang="en-US" sz="1800" b="1" dirty="0">
                <a:solidFill>
                  <a:schemeClr val="accent4"/>
                </a:solidFill>
              </a:rPr>
              <a:t>مناقشة مشروع التخرج</a:t>
            </a:r>
            <a:endParaRPr lang="ar-SA" sz="1800" dirty="0"/>
          </a:p>
        </p:txBody>
      </p:sp>
      <p:sp>
        <p:nvSpPr>
          <p:cNvPr id="7" name="Text 4"/>
          <p:cNvSpPr txBox="1"/>
          <p:nvPr/>
        </p:nvSpPr>
        <p:spPr>
          <a:xfrm>
            <a:off x="4937760" y="1600200"/>
            <a:ext cx="6675120" cy="1097280"/>
          </a:xfrm>
          <a:prstGeom prst="rect">
            <a:avLst/>
          </a:prstGeom>
          <a:noFill/>
          <a:ln/>
        </p:spPr>
        <p:txBody>
          <a:bodyPr wrap="square" lIns="0" tIns="0" rIns="0" bIns="0" rtlCol="0" anchor="t"/>
          <a:lstStyle/>
          <a:p>
            <a:pPr rtl="1" algn="r" indent="0" marL="0">
              <a:buNone/>
            </a:pPr>
            <a:r>
              <a:rPr lang="ar-SA" altLang="en-US" sz="6600" b="1" dirty="0">
                <a:solidFill>
                  <a:schemeClr val="bg1"/>
                </a:solidFill>
              </a:rPr>
              <a:t>وِجهة</a:t>
            </a:r>
            <a:endParaRPr lang="ar-SA" sz="6600" dirty="0"/>
          </a:p>
        </p:txBody>
      </p:sp>
      <p:sp>
        <p:nvSpPr>
          <p:cNvPr id="8" name="Text 5"/>
          <p:cNvSpPr txBox="1"/>
          <p:nvPr/>
        </p:nvSpPr>
        <p:spPr>
          <a:xfrm>
            <a:off x="4937760" y="2697480"/>
            <a:ext cx="6675120" cy="640080"/>
          </a:xfrm>
          <a:prstGeom prst="rect">
            <a:avLst/>
          </a:prstGeom>
          <a:noFill/>
          <a:ln/>
        </p:spPr>
        <p:txBody>
          <a:bodyPr wrap="square" lIns="0" tIns="0" rIns="0" bIns="0" rtlCol="0" anchor="t"/>
          <a:lstStyle/>
          <a:p>
            <a:pPr rtl="1" algn="r" indent="0" marL="0">
              <a:buNone/>
            </a:pPr>
            <a:r>
              <a:rPr lang="ar-SA" altLang="en-US" sz="3000" dirty="0">
                <a:solidFill>
                  <a:schemeClr val="bg1"/>
                </a:solidFill>
              </a:rPr>
              <a:t>المرشد الذكي للمكتبة</a:t>
            </a:r>
            <a:endParaRPr lang="ar-SA" sz="3000" dirty="0"/>
          </a:p>
        </p:txBody>
      </p:sp>
      <p:sp>
        <p:nvSpPr>
          <p:cNvPr id="9" name="Text 6"/>
          <p:cNvSpPr txBox="1"/>
          <p:nvPr/>
        </p:nvSpPr>
        <p:spPr>
          <a:xfrm>
            <a:off x="4937760" y="3337560"/>
            <a:ext cx="6675120" cy="411480"/>
          </a:xfrm>
          <a:prstGeom prst="rect">
            <a:avLst/>
          </a:prstGeom>
          <a:noFill/>
          <a:ln/>
        </p:spPr>
        <p:txBody>
          <a:bodyPr wrap="square" lIns="0" tIns="0" rIns="0" bIns="0" rtlCol="0" anchor="ctr"/>
          <a:lstStyle/>
          <a:p>
            <a:pPr algn="r" indent="0" marL="0">
              <a:buNone/>
            </a:pPr>
            <a:r>
              <a:rPr lang="en-US" sz="1600" dirty="0">
                <a:solidFill>
                  <a:schemeClr val="accent5"/>
                </a:solidFill>
              </a:rPr>
              <a:t>WUJHA · Smart Library Navigator</a:t>
            </a:r>
            <a:endParaRPr lang="en-US" sz="1600" dirty="0"/>
          </a:p>
        </p:txBody>
      </p:sp>
      <p:sp>
        <p:nvSpPr>
          <p:cNvPr id="10" name="Text 7"/>
          <p:cNvSpPr txBox="1"/>
          <p:nvPr/>
        </p:nvSpPr>
        <p:spPr>
          <a:xfrm>
            <a:off x="4937760" y="4206240"/>
            <a:ext cx="6675120" cy="365760"/>
          </a:xfrm>
          <a:prstGeom prst="rect">
            <a:avLst/>
          </a:prstGeom>
          <a:noFill/>
          <a:ln/>
        </p:spPr>
        <p:txBody>
          <a:bodyPr wrap="square" lIns="0" tIns="0" rIns="0" bIns="0" rtlCol="0" anchor="t"/>
          <a:lstStyle/>
          <a:p>
            <a:pPr rtl="1" algn="r" indent="0" marL="0">
              <a:buNone/>
            </a:pPr>
            <a:r>
              <a:rPr lang="ar-SA" altLang="en-US" sz="1400" dirty="0">
                <a:solidFill>
                  <a:schemeClr val="bg1"/>
                </a:solidFill>
              </a:rPr>
              <a:t>الكلية التقنية الرقمية للبنات بالرياض — قسم الحاسب وتقنية المعلومات</a:t>
            </a:r>
            <a:endParaRPr lang="ar-SA" sz="1400" dirty="0"/>
          </a:p>
        </p:txBody>
      </p:sp>
      <p:sp>
        <p:nvSpPr>
          <p:cNvPr id="11" name="Text 8"/>
          <p:cNvSpPr txBox="1"/>
          <p:nvPr/>
        </p:nvSpPr>
        <p:spPr>
          <a:xfrm>
            <a:off x="4937760" y="4617720"/>
            <a:ext cx="6675120" cy="365760"/>
          </a:xfrm>
          <a:prstGeom prst="rect">
            <a:avLst/>
          </a:prstGeom>
          <a:noFill/>
          <a:ln/>
        </p:spPr>
        <p:txBody>
          <a:bodyPr wrap="square" lIns="0" tIns="0" rIns="0" bIns="0" rtlCol="0" anchor="t"/>
          <a:lstStyle/>
          <a:p>
            <a:pPr rtl="1" algn="r" indent="0" marL="0">
              <a:buNone/>
            </a:pPr>
            <a:r>
              <a:rPr lang="ar-SA" altLang="en-US" sz="1400" b="1" dirty="0">
                <a:solidFill>
                  <a:schemeClr val="accent4"/>
                </a:solidFill>
              </a:rPr>
              <a:t>إشراف: أ. دانيه الموسى</a:t>
            </a:r>
            <a:endParaRPr lang="ar-SA" sz="1400" dirty="0"/>
          </a:p>
        </p:txBody>
      </p:sp>
      <p:pic>
        <p:nvPicPr>
          <p:cNvPr id="12" name="TVTC logo" descr="/tmp/claude-0/-home-user-CLAUDE/0be54b07-c1ba-5b31-958a-45d5f68df334/scratchpad/deck/img/tvtc.png">    </p:cNvPr>
          <p:cNvPicPr>
            <a:picLocks noChangeAspect="1"/>
          </p:cNvPicPr>
          <p:nvPr/>
        </p:nvPicPr>
        <p:blipFill>
          <a:blip r:embed="rId2"/>
          <a:stretch>
            <a:fillRect/>
          </a:stretch>
        </p:blipFill>
        <p:spPr>
          <a:xfrm>
            <a:off x="9921240" y="5257800"/>
            <a:ext cx="1691640" cy="9509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1463040" y="347472"/>
            <a:ext cx="10177272" cy="731520"/>
          </a:xfrm>
          <a:prstGeom prst="rect">
            <a:avLst/>
          </a:prstGeom>
          <a:noFill/>
          <a:ln/>
        </p:spPr>
        <p:txBody>
          <a:bodyPr wrap="square" lIns="0" tIns="0" rIns="0" bIns="0" rtlCol="0" anchor="ctr"/>
          <a:lstStyle/>
          <a:p>
            <a:pPr rtl="1" algn="r" indent="0" marL="0">
              <a:buNone/>
            </a:pPr>
            <a:r>
              <a:rPr lang="en-US" sz="3200" b="1" dirty="0">
                <a:solidFill>
                  <a:schemeClr val="tx2"/>
                </a:solidFill>
              </a:rPr>
              <a:t>فريق العمل</a:t>
            </a:r>
            <a:endParaRPr lang="en-US" sz="3200" dirty="0"/>
          </a:p>
        </p:txBody>
      </p:sp>
      <p:sp>
        <p:nvSpPr>
          <p:cNvPr id="3" name="member card 1"/>
          <p:cNvSpPr/>
          <p:nvPr/>
        </p:nvSpPr>
        <p:spPr>
          <a:xfrm>
            <a:off x="8122615" y="1417320"/>
            <a:ext cx="3520440" cy="2148840"/>
          </a:xfrm>
          <a:prstGeom prst="roundRect">
            <a:avLst>
              <a:gd name="adj" fmla="val 5106"/>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4" name="member 1 circle"/>
          <p:cNvSpPr/>
          <p:nvPr/>
        </p:nvSpPr>
        <p:spPr>
          <a:xfrm>
            <a:off x="10774375" y="1691640"/>
            <a:ext cx="640080" cy="640080"/>
          </a:xfrm>
          <a:prstGeom prst="ellipse">
            <a:avLst/>
          </a:prstGeom>
          <a:solidFill>
            <a:schemeClr val="accent2"/>
          </a:solidFill>
          <a:ln w="12700">
            <a:solidFill>
              <a:schemeClr val="accent2"/>
            </a:solidFill>
            <a:prstDash val="solid"/>
          </a:ln>
        </p:spPr>
      </p:sp>
      <p:pic>
        <p:nvPicPr>
          <p:cNvPr id="5" name="member 1 icon" descr="preencoded.png">    </p:cNvPr>
          <p:cNvPicPr>
            <a:picLocks noChangeAspect="1"/>
          </p:cNvPicPr>
          <p:nvPr/>
        </p:nvPicPr>
        <p:blipFill>
          <a:blip r:embed="rId1"/>
          <a:stretch>
            <a:fillRect/>
          </a:stretch>
        </p:blipFill>
        <p:spPr>
          <a:xfrm>
            <a:off x="10940796" y="1858061"/>
            <a:ext cx="307238" cy="307238"/>
          </a:xfrm>
          <a:prstGeom prst="rect">
            <a:avLst/>
          </a:prstGeom>
        </p:spPr>
      </p:pic>
      <p:sp>
        <p:nvSpPr>
          <p:cNvPr id="6" name="Text 3"/>
          <p:cNvSpPr txBox="1"/>
          <p:nvPr/>
        </p:nvSpPr>
        <p:spPr>
          <a:xfrm>
            <a:off x="8351215" y="1709928"/>
            <a:ext cx="2286000" cy="365760"/>
          </a:xfrm>
          <a:prstGeom prst="rect">
            <a:avLst/>
          </a:prstGeom>
          <a:noFill/>
          <a:ln/>
        </p:spPr>
        <p:txBody>
          <a:bodyPr wrap="square" lIns="0" tIns="0" rIns="0" bIns="0" rtlCol="0" anchor="t"/>
          <a:lstStyle/>
          <a:p>
            <a:pPr rtl="1" algn="r" indent="0" marL="0">
              <a:buNone/>
            </a:pPr>
            <a:r>
              <a:rPr lang="ar-SA" altLang="en-US" sz="1700" b="1" dirty="0">
                <a:solidFill>
                  <a:schemeClr val="tx1"/>
                </a:solidFill>
              </a:rPr>
              <a:t>منى بدر العنزي</a:t>
            </a:r>
            <a:endParaRPr lang="ar-SA" sz="1700" dirty="0"/>
          </a:p>
        </p:txBody>
      </p:sp>
      <p:sp>
        <p:nvSpPr>
          <p:cNvPr id="7" name="Text 4"/>
          <p:cNvSpPr txBox="1"/>
          <p:nvPr/>
        </p:nvSpPr>
        <p:spPr>
          <a:xfrm>
            <a:off x="8351215" y="2093976"/>
            <a:ext cx="2286000" cy="274320"/>
          </a:xfrm>
          <a:prstGeom prst="rect">
            <a:avLst/>
          </a:prstGeom>
          <a:noFill/>
          <a:ln/>
        </p:spPr>
        <p:txBody>
          <a:bodyPr wrap="square" lIns="0" tIns="0" rIns="0" bIns="0" rtlCol="0" anchor="t"/>
          <a:lstStyle/>
          <a:p>
            <a:pPr rtl="1" algn="r" indent="0" marL="0">
              <a:buNone/>
            </a:pPr>
            <a:r>
              <a:rPr lang="ar-SA" altLang="en-US" sz="1200" dirty="0">
                <a:solidFill>
                  <a:srgbClr val="6B7470"/>
                </a:solidFill>
              </a:rPr>
              <a:t>445204883</a:t>
            </a:r>
            <a:endParaRPr lang="ar-SA" sz="1200" dirty="0"/>
          </a:p>
        </p:txBody>
      </p:sp>
      <p:sp>
        <p:nvSpPr>
          <p:cNvPr id="8" name="Text 5"/>
          <p:cNvSpPr txBox="1"/>
          <p:nvPr/>
        </p:nvSpPr>
        <p:spPr>
          <a:xfrm>
            <a:off x="8351215" y="2514600"/>
            <a:ext cx="3063240" cy="868680"/>
          </a:xfrm>
          <a:prstGeom prst="rect">
            <a:avLst/>
          </a:prstGeom>
          <a:noFill/>
          <a:ln/>
        </p:spPr>
        <p:txBody>
          <a:bodyPr wrap="square" lIns="0" tIns="0" rIns="0" bIns="0" rtlCol="0" anchor="t"/>
          <a:lstStyle/>
          <a:p>
            <a:pPr rtl="1" algn="r" indent="0" marL="0">
              <a:buNone/>
            </a:pPr>
            <a:r>
              <a:rPr lang="ar-SA" altLang="en-US" sz="1400" dirty="0">
                <a:solidFill>
                  <a:schemeClr val="tx2"/>
                </a:solidFill>
              </a:rPr>
              <a:t>قائدة المشروع — تسجيل الدخول والصلاحيات ودمج التطبيقين</a:t>
            </a:r>
            <a:endParaRPr lang="ar-SA" sz="1400" dirty="0"/>
          </a:p>
        </p:txBody>
      </p:sp>
      <p:sp>
        <p:nvSpPr>
          <p:cNvPr id="9" name="member card 2"/>
          <p:cNvSpPr/>
          <p:nvPr/>
        </p:nvSpPr>
        <p:spPr>
          <a:xfrm>
            <a:off x="4336999" y="1417320"/>
            <a:ext cx="3520440" cy="2148840"/>
          </a:xfrm>
          <a:prstGeom prst="roundRect">
            <a:avLst>
              <a:gd name="adj" fmla="val 5106"/>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10" name="member 2 circle"/>
          <p:cNvSpPr/>
          <p:nvPr/>
        </p:nvSpPr>
        <p:spPr>
          <a:xfrm>
            <a:off x="6988759" y="1691640"/>
            <a:ext cx="640080" cy="640080"/>
          </a:xfrm>
          <a:prstGeom prst="ellipse">
            <a:avLst/>
          </a:prstGeom>
          <a:solidFill>
            <a:schemeClr val="accent1"/>
          </a:solidFill>
          <a:ln w="12700">
            <a:solidFill>
              <a:schemeClr val="accent1"/>
            </a:solidFill>
            <a:prstDash val="solid"/>
          </a:ln>
        </p:spPr>
      </p:sp>
      <p:pic>
        <p:nvPicPr>
          <p:cNvPr id="11" name="member 2 icon" descr="preencoded.png">    </p:cNvPr>
          <p:cNvPicPr>
            <a:picLocks noChangeAspect="1"/>
          </p:cNvPicPr>
          <p:nvPr/>
        </p:nvPicPr>
        <p:blipFill>
          <a:blip r:embed="rId2"/>
          <a:stretch>
            <a:fillRect/>
          </a:stretch>
        </p:blipFill>
        <p:spPr>
          <a:xfrm>
            <a:off x="7155180" y="1858061"/>
            <a:ext cx="307238" cy="307238"/>
          </a:xfrm>
          <a:prstGeom prst="rect">
            <a:avLst/>
          </a:prstGeom>
        </p:spPr>
      </p:pic>
      <p:sp>
        <p:nvSpPr>
          <p:cNvPr id="12" name="Text 8"/>
          <p:cNvSpPr txBox="1"/>
          <p:nvPr/>
        </p:nvSpPr>
        <p:spPr>
          <a:xfrm>
            <a:off x="4565599" y="1709928"/>
            <a:ext cx="2286000" cy="365760"/>
          </a:xfrm>
          <a:prstGeom prst="rect">
            <a:avLst/>
          </a:prstGeom>
          <a:noFill/>
          <a:ln/>
        </p:spPr>
        <p:txBody>
          <a:bodyPr wrap="square" lIns="0" tIns="0" rIns="0" bIns="0" rtlCol="0" anchor="t"/>
          <a:lstStyle/>
          <a:p>
            <a:pPr rtl="1" algn="r" indent="0" marL="0">
              <a:buNone/>
            </a:pPr>
            <a:r>
              <a:rPr lang="ar-SA" altLang="en-US" sz="1700" b="1" dirty="0">
                <a:solidFill>
                  <a:schemeClr val="tx1"/>
                </a:solidFill>
              </a:rPr>
              <a:t>جمانه محمد الزهراني</a:t>
            </a:r>
            <a:endParaRPr lang="ar-SA" sz="1700" dirty="0"/>
          </a:p>
        </p:txBody>
      </p:sp>
      <p:sp>
        <p:nvSpPr>
          <p:cNvPr id="13" name="Text 9"/>
          <p:cNvSpPr txBox="1"/>
          <p:nvPr/>
        </p:nvSpPr>
        <p:spPr>
          <a:xfrm>
            <a:off x="4565599" y="2093976"/>
            <a:ext cx="2286000" cy="274320"/>
          </a:xfrm>
          <a:prstGeom prst="rect">
            <a:avLst/>
          </a:prstGeom>
          <a:noFill/>
          <a:ln/>
        </p:spPr>
        <p:txBody>
          <a:bodyPr wrap="square" lIns="0" tIns="0" rIns="0" bIns="0" rtlCol="0" anchor="t"/>
          <a:lstStyle/>
          <a:p>
            <a:pPr rtl="1" algn="r" indent="0" marL="0">
              <a:buNone/>
            </a:pPr>
            <a:r>
              <a:rPr lang="ar-SA" altLang="en-US" sz="1200" dirty="0">
                <a:solidFill>
                  <a:srgbClr val="6B7470"/>
                </a:solidFill>
              </a:rPr>
              <a:t>445204891</a:t>
            </a:r>
            <a:endParaRPr lang="ar-SA" sz="1200" dirty="0"/>
          </a:p>
        </p:txBody>
      </p:sp>
      <p:sp>
        <p:nvSpPr>
          <p:cNvPr id="14" name="Text 10"/>
          <p:cNvSpPr txBox="1"/>
          <p:nvPr/>
        </p:nvSpPr>
        <p:spPr>
          <a:xfrm>
            <a:off x="4565599" y="2514600"/>
            <a:ext cx="3063240" cy="868680"/>
          </a:xfrm>
          <a:prstGeom prst="rect">
            <a:avLst/>
          </a:prstGeom>
          <a:noFill/>
          <a:ln/>
        </p:spPr>
        <p:txBody>
          <a:bodyPr wrap="square" lIns="0" tIns="0" rIns="0" bIns="0" rtlCol="0" anchor="t"/>
          <a:lstStyle/>
          <a:p>
            <a:pPr rtl="1" algn="r" indent="0" marL="0">
              <a:buNone/>
            </a:pPr>
            <a:r>
              <a:rPr lang="ar-SA" altLang="en-US" sz="1400" dirty="0">
                <a:solidFill>
                  <a:schemeClr val="tx2"/>
                </a:solidFill>
              </a:rPr>
              <a:t>الواجهات والهوية البصرية والخريطة التفاعلية</a:t>
            </a:r>
            <a:endParaRPr lang="ar-SA" sz="1400" dirty="0"/>
          </a:p>
        </p:txBody>
      </p:sp>
      <p:sp>
        <p:nvSpPr>
          <p:cNvPr id="15" name="member card 3"/>
          <p:cNvSpPr/>
          <p:nvPr/>
        </p:nvSpPr>
        <p:spPr>
          <a:xfrm>
            <a:off x="551383" y="1417320"/>
            <a:ext cx="3520440" cy="2148840"/>
          </a:xfrm>
          <a:prstGeom prst="roundRect">
            <a:avLst>
              <a:gd name="adj" fmla="val 5106"/>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16" name="member 3 circle"/>
          <p:cNvSpPr/>
          <p:nvPr/>
        </p:nvSpPr>
        <p:spPr>
          <a:xfrm>
            <a:off x="3203143" y="1691640"/>
            <a:ext cx="640080" cy="640080"/>
          </a:xfrm>
          <a:prstGeom prst="ellipse">
            <a:avLst/>
          </a:prstGeom>
          <a:solidFill>
            <a:schemeClr val="accent1"/>
          </a:solidFill>
          <a:ln w="12700">
            <a:solidFill>
              <a:schemeClr val="accent1"/>
            </a:solidFill>
            <a:prstDash val="solid"/>
          </a:ln>
        </p:spPr>
      </p:sp>
      <p:pic>
        <p:nvPicPr>
          <p:cNvPr id="17" name="member 3 icon" descr="preencoded.png">    </p:cNvPr>
          <p:cNvPicPr>
            <a:picLocks noChangeAspect="1"/>
          </p:cNvPicPr>
          <p:nvPr/>
        </p:nvPicPr>
        <p:blipFill>
          <a:blip r:embed="rId3"/>
          <a:stretch>
            <a:fillRect/>
          </a:stretch>
        </p:blipFill>
        <p:spPr>
          <a:xfrm>
            <a:off x="3369564" y="1858061"/>
            <a:ext cx="307238" cy="307238"/>
          </a:xfrm>
          <a:prstGeom prst="rect">
            <a:avLst/>
          </a:prstGeom>
        </p:spPr>
      </p:pic>
      <p:sp>
        <p:nvSpPr>
          <p:cNvPr id="18" name="Text 13"/>
          <p:cNvSpPr txBox="1"/>
          <p:nvPr/>
        </p:nvSpPr>
        <p:spPr>
          <a:xfrm>
            <a:off x="779983" y="1709928"/>
            <a:ext cx="2286000" cy="365760"/>
          </a:xfrm>
          <a:prstGeom prst="rect">
            <a:avLst/>
          </a:prstGeom>
          <a:noFill/>
          <a:ln/>
        </p:spPr>
        <p:txBody>
          <a:bodyPr wrap="square" lIns="0" tIns="0" rIns="0" bIns="0" rtlCol="0" anchor="t"/>
          <a:lstStyle/>
          <a:p>
            <a:pPr rtl="1" algn="r" indent="0" marL="0">
              <a:buNone/>
            </a:pPr>
            <a:r>
              <a:rPr lang="ar-SA" altLang="en-US" sz="1700" b="1" dirty="0">
                <a:solidFill>
                  <a:schemeClr val="tx1"/>
                </a:solidFill>
              </a:rPr>
              <a:t>لمى غانم العنزي</a:t>
            </a:r>
            <a:endParaRPr lang="ar-SA" sz="1700" dirty="0"/>
          </a:p>
        </p:txBody>
      </p:sp>
      <p:sp>
        <p:nvSpPr>
          <p:cNvPr id="19" name="Text 14"/>
          <p:cNvSpPr txBox="1"/>
          <p:nvPr/>
        </p:nvSpPr>
        <p:spPr>
          <a:xfrm>
            <a:off x="779983" y="2093976"/>
            <a:ext cx="2286000" cy="274320"/>
          </a:xfrm>
          <a:prstGeom prst="rect">
            <a:avLst/>
          </a:prstGeom>
          <a:noFill/>
          <a:ln/>
        </p:spPr>
        <p:txBody>
          <a:bodyPr wrap="square" lIns="0" tIns="0" rIns="0" bIns="0" rtlCol="0" anchor="t"/>
          <a:lstStyle/>
          <a:p>
            <a:pPr rtl="1" algn="r" indent="0" marL="0">
              <a:buNone/>
            </a:pPr>
            <a:r>
              <a:rPr lang="ar-SA" altLang="en-US" sz="1200" dirty="0">
                <a:solidFill>
                  <a:srgbClr val="6B7470"/>
                </a:solidFill>
              </a:rPr>
              <a:t>445248505</a:t>
            </a:r>
            <a:endParaRPr lang="ar-SA" sz="1200" dirty="0"/>
          </a:p>
        </p:txBody>
      </p:sp>
      <p:sp>
        <p:nvSpPr>
          <p:cNvPr id="20" name="Text 15"/>
          <p:cNvSpPr txBox="1"/>
          <p:nvPr/>
        </p:nvSpPr>
        <p:spPr>
          <a:xfrm>
            <a:off x="779983" y="2514600"/>
            <a:ext cx="3063240" cy="868680"/>
          </a:xfrm>
          <a:prstGeom prst="rect">
            <a:avLst/>
          </a:prstGeom>
          <a:noFill/>
          <a:ln/>
        </p:spPr>
        <p:txBody>
          <a:bodyPr wrap="square" lIns="0" tIns="0" rIns="0" bIns="0" rtlCol="0" anchor="t"/>
          <a:lstStyle/>
          <a:p>
            <a:pPr rtl="1" algn="r" indent="0" marL="0">
              <a:buNone/>
            </a:pPr>
            <a:r>
              <a:rPr lang="ar-SA" altLang="en-US" sz="1400" dirty="0">
                <a:solidFill>
                  <a:schemeClr val="tx2"/>
                </a:solidFill>
              </a:rPr>
              <a:t>شاشات تطبيق الزائر ومحرّك حساب الطريق</a:t>
            </a:r>
            <a:endParaRPr lang="ar-SA" sz="1400" dirty="0"/>
          </a:p>
        </p:txBody>
      </p:sp>
      <p:sp>
        <p:nvSpPr>
          <p:cNvPr id="21" name="member card 4"/>
          <p:cNvSpPr/>
          <p:nvPr/>
        </p:nvSpPr>
        <p:spPr>
          <a:xfrm>
            <a:off x="8122615" y="3840480"/>
            <a:ext cx="3520440" cy="2148840"/>
          </a:xfrm>
          <a:prstGeom prst="roundRect">
            <a:avLst>
              <a:gd name="adj" fmla="val 5106"/>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22" name="member 4 circle"/>
          <p:cNvSpPr/>
          <p:nvPr/>
        </p:nvSpPr>
        <p:spPr>
          <a:xfrm>
            <a:off x="10774375" y="4114800"/>
            <a:ext cx="640080" cy="640080"/>
          </a:xfrm>
          <a:prstGeom prst="ellipse">
            <a:avLst/>
          </a:prstGeom>
          <a:solidFill>
            <a:schemeClr val="accent1"/>
          </a:solidFill>
          <a:ln w="12700">
            <a:solidFill>
              <a:schemeClr val="accent1"/>
            </a:solidFill>
            <a:prstDash val="solid"/>
          </a:ln>
        </p:spPr>
      </p:sp>
      <p:pic>
        <p:nvPicPr>
          <p:cNvPr id="23" name="member 4 icon" descr="preencoded.png">    </p:cNvPr>
          <p:cNvPicPr>
            <a:picLocks noChangeAspect="1"/>
          </p:cNvPicPr>
          <p:nvPr/>
        </p:nvPicPr>
        <p:blipFill>
          <a:blip r:embed="rId4"/>
          <a:stretch>
            <a:fillRect/>
          </a:stretch>
        </p:blipFill>
        <p:spPr>
          <a:xfrm>
            <a:off x="10940796" y="4281221"/>
            <a:ext cx="307238" cy="307238"/>
          </a:xfrm>
          <a:prstGeom prst="rect">
            <a:avLst/>
          </a:prstGeom>
        </p:spPr>
      </p:pic>
      <p:sp>
        <p:nvSpPr>
          <p:cNvPr id="24" name="Text 18"/>
          <p:cNvSpPr txBox="1"/>
          <p:nvPr/>
        </p:nvSpPr>
        <p:spPr>
          <a:xfrm>
            <a:off x="8351215" y="4133088"/>
            <a:ext cx="2286000" cy="365760"/>
          </a:xfrm>
          <a:prstGeom prst="rect">
            <a:avLst/>
          </a:prstGeom>
          <a:noFill/>
          <a:ln/>
        </p:spPr>
        <p:txBody>
          <a:bodyPr wrap="square" lIns="0" tIns="0" rIns="0" bIns="0" rtlCol="0" anchor="t"/>
          <a:lstStyle/>
          <a:p>
            <a:pPr rtl="1" algn="r" indent="0" marL="0">
              <a:buNone/>
            </a:pPr>
            <a:r>
              <a:rPr lang="ar-SA" altLang="en-US" sz="1700" b="1" dirty="0">
                <a:solidFill>
                  <a:schemeClr val="tx1"/>
                </a:solidFill>
              </a:rPr>
              <a:t>هناء صالح المدني</a:t>
            </a:r>
            <a:endParaRPr lang="ar-SA" sz="1700" dirty="0"/>
          </a:p>
        </p:txBody>
      </p:sp>
      <p:sp>
        <p:nvSpPr>
          <p:cNvPr id="25" name="Text 19"/>
          <p:cNvSpPr txBox="1"/>
          <p:nvPr/>
        </p:nvSpPr>
        <p:spPr>
          <a:xfrm>
            <a:off x="8351215" y="4517136"/>
            <a:ext cx="2286000" cy="274320"/>
          </a:xfrm>
          <a:prstGeom prst="rect">
            <a:avLst/>
          </a:prstGeom>
          <a:noFill/>
          <a:ln/>
        </p:spPr>
        <p:txBody>
          <a:bodyPr wrap="square" lIns="0" tIns="0" rIns="0" bIns="0" rtlCol="0" anchor="t"/>
          <a:lstStyle/>
          <a:p>
            <a:pPr rtl="1" algn="r" indent="0" marL="0">
              <a:buNone/>
            </a:pPr>
            <a:r>
              <a:rPr lang="ar-SA" altLang="en-US" sz="1200" dirty="0">
                <a:solidFill>
                  <a:srgbClr val="6B7470"/>
                </a:solidFill>
              </a:rPr>
              <a:t>445248364</a:t>
            </a:r>
            <a:endParaRPr lang="ar-SA" sz="1200" dirty="0"/>
          </a:p>
        </p:txBody>
      </p:sp>
      <p:sp>
        <p:nvSpPr>
          <p:cNvPr id="26" name="Text 20"/>
          <p:cNvSpPr txBox="1"/>
          <p:nvPr/>
        </p:nvSpPr>
        <p:spPr>
          <a:xfrm>
            <a:off x="8351215" y="4937760"/>
            <a:ext cx="3063240" cy="868680"/>
          </a:xfrm>
          <a:prstGeom prst="rect">
            <a:avLst/>
          </a:prstGeom>
          <a:noFill/>
          <a:ln/>
        </p:spPr>
        <p:txBody>
          <a:bodyPr wrap="square" lIns="0" tIns="0" rIns="0" bIns="0" rtlCol="0" anchor="t"/>
          <a:lstStyle/>
          <a:p>
            <a:pPr rtl="1" algn="r" indent="0" marL="0">
              <a:buNone/>
            </a:pPr>
            <a:r>
              <a:rPr lang="ar-SA" altLang="en-US" sz="1400" dirty="0">
                <a:solidFill>
                  <a:schemeClr val="tx2"/>
                </a:solidFill>
              </a:rPr>
              <a:t>قاعدة البيانات وقواعد الأمان وطبقة البيانات</a:t>
            </a:r>
            <a:endParaRPr lang="ar-SA" sz="1400" dirty="0"/>
          </a:p>
        </p:txBody>
      </p:sp>
      <p:sp>
        <p:nvSpPr>
          <p:cNvPr id="27" name="member card 5"/>
          <p:cNvSpPr/>
          <p:nvPr/>
        </p:nvSpPr>
        <p:spPr>
          <a:xfrm>
            <a:off x="4336999" y="3840480"/>
            <a:ext cx="3520440" cy="2148840"/>
          </a:xfrm>
          <a:prstGeom prst="roundRect">
            <a:avLst>
              <a:gd name="adj" fmla="val 5106"/>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28" name="member 5 circle"/>
          <p:cNvSpPr/>
          <p:nvPr/>
        </p:nvSpPr>
        <p:spPr>
          <a:xfrm>
            <a:off x="6988759" y="4114800"/>
            <a:ext cx="640080" cy="640080"/>
          </a:xfrm>
          <a:prstGeom prst="ellipse">
            <a:avLst/>
          </a:prstGeom>
          <a:solidFill>
            <a:schemeClr val="accent1"/>
          </a:solidFill>
          <a:ln w="12700">
            <a:solidFill>
              <a:schemeClr val="accent1"/>
            </a:solidFill>
            <a:prstDash val="solid"/>
          </a:ln>
        </p:spPr>
      </p:sp>
      <p:pic>
        <p:nvPicPr>
          <p:cNvPr id="29" name="member 5 icon" descr="preencoded.png">    </p:cNvPr>
          <p:cNvPicPr>
            <a:picLocks noChangeAspect="1"/>
          </p:cNvPicPr>
          <p:nvPr/>
        </p:nvPicPr>
        <p:blipFill>
          <a:blip r:embed="rId5"/>
          <a:stretch>
            <a:fillRect/>
          </a:stretch>
        </p:blipFill>
        <p:spPr>
          <a:xfrm>
            <a:off x="7155180" y="4281221"/>
            <a:ext cx="307238" cy="307238"/>
          </a:xfrm>
          <a:prstGeom prst="rect">
            <a:avLst/>
          </a:prstGeom>
        </p:spPr>
      </p:pic>
      <p:sp>
        <p:nvSpPr>
          <p:cNvPr id="30" name="Text 23"/>
          <p:cNvSpPr txBox="1"/>
          <p:nvPr/>
        </p:nvSpPr>
        <p:spPr>
          <a:xfrm>
            <a:off x="4565599" y="4133088"/>
            <a:ext cx="2286000" cy="365760"/>
          </a:xfrm>
          <a:prstGeom prst="rect">
            <a:avLst/>
          </a:prstGeom>
          <a:noFill/>
          <a:ln/>
        </p:spPr>
        <p:txBody>
          <a:bodyPr wrap="square" lIns="0" tIns="0" rIns="0" bIns="0" rtlCol="0" anchor="t"/>
          <a:lstStyle/>
          <a:p>
            <a:pPr rtl="1" algn="r" indent="0" marL="0">
              <a:buNone/>
            </a:pPr>
            <a:r>
              <a:rPr lang="ar-SA" altLang="en-US" sz="1700" b="1" dirty="0">
                <a:solidFill>
                  <a:schemeClr val="tx1"/>
                </a:solidFill>
              </a:rPr>
              <a:t>عبير عبدالله هزازي</a:t>
            </a:r>
            <a:endParaRPr lang="ar-SA" sz="1700" dirty="0"/>
          </a:p>
        </p:txBody>
      </p:sp>
      <p:sp>
        <p:nvSpPr>
          <p:cNvPr id="31" name="Text 24"/>
          <p:cNvSpPr txBox="1"/>
          <p:nvPr/>
        </p:nvSpPr>
        <p:spPr>
          <a:xfrm>
            <a:off x="4565599" y="4517136"/>
            <a:ext cx="2286000" cy="274320"/>
          </a:xfrm>
          <a:prstGeom prst="rect">
            <a:avLst/>
          </a:prstGeom>
          <a:noFill/>
          <a:ln/>
        </p:spPr>
        <p:txBody>
          <a:bodyPr wrap="square" lIns="0" tIns="0" rIns="0" bIns="0" rtlCol="0" anchor="t"/>
          <a:lstStyle/>
          <a:p>
            <a:pPr rtl="1" algn="r" indent="0" marL="0">
              <a:buNone/>
            </a:pPr>
            <a:r>
              <a:rPr lang="ar-SA" altLang="en-US" sz="1200" dirty="0">
                <a:solidFill>
                  <a:srgbClr val="6B7470"/>
                </a:solidFill>
              </a:rPr>
              <a:t>445204880</a:t>
            </a:r>
            <a:endParaRPr lang="ar-SA" sz="1200" dirty="0"/>
          </a:p>
        </p:txBody>
      </p:sp>
      <p:sp>
        <p:nvSpPr>
          <p:cNvPr id="32" name="Text 25"/>
          <p:cNvSpPr txBox="1"/>
          <p:nvPr/>
        </p:nvSpPr>
        <p:spPr>
          <a:xfrm>
            <a:off x="4565599" y="4937760"/>
            <a:ext cx="3063240" cy="868680"/>
          </a:xfrm>
          <a:prstGeom prst="rect">
            <a:avLst/>
          </a:prstGeom>
          <a:noFill/>
          <a:ln/>
        </p:spPr>
        <p:txBody>
          <a:bodyPr wrap="square" lIns="0" tIns="0" rIns="0" bIns="0" rtlCol="0" anchor="t"/>
          <a:lstStyle/>
          <a:p>
            <a:pPr rtl="1" algn="r" indent="0" marL="0">
              <a:buNone/>
            </a:pPr>
            <a:r>
              <a:rPr lang="ar-SA" altLang="en-US" sz="1400" dirty="0">
                <a:solidFill>
                  <a:schemeClr val="tx2"/>
                </a:solidFill>
              </a:rPr>
              <a:t>تطبيق المشرف: الإدارة والإعارة والتقارير</a:t>
            </a:r>
            <a:endParaRPr lang="ar-SA" sz="1400" dirty="0"/>
          </a:p>
        </p:txBody>
      </p:sp>
      <p:sp>
        <p:nvSpPr>
          <p:cNvPr id="33" name="member card 6"/>
          <p:cNvSpPr/>
          <p:nvPr/>
        </p:nvSpPr>
        <p:spPr>
          <a:xfrm>
            <a:off x="551383" y="3840480"/>
            <a:ext cx="3520440" cy="2148840"/>
          </a:xfrm>
          <a:prstGeom prst="roundRect">
            <a:avLst>
              <a:gd name="adj" fmla="val 5106"/>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34" name="member 6 circle"/>
          <p:cNvSpPr/>
          <p:nvPr/>
        </p:nvSpPr>
        <p:spPr>
          <a:xfrm>
            <a:off x="3203143" y="4114800"/>
            <a:ext cx="640080" cy="640080"/>
          </a:xfrm>
          <a:prstGeom prst="ellipse">
            <a:avLst/>
          </a:prstGeom>
          <a:solidFill>
            <a:schemeClr val="accent1"/>
          </a:solidFill>
          <a:ln w="12700">
            <a:solidFill>
              <a:schemeClr val="accent1"/>
            </a:solidFill>
            <a:prstDash val="solid"/>
          </a:ln>
        </p:spPr>
      </p:sp>
      <p:pic>
        <p:nvPicPr>
          <p:cNvPr id="35" name="member 6 icon" descr="preencoded.png">    </p:cNvPr>
          <p:cNvPicPr>
            <a:picLocks noChangeAspect="1"/>
          </p:cNvPicPr>
          <p:nvPr/>
        </p:nvPicPr>
        <p:blipFill>
          <a:blip r:embed="rId6"/>
          <a:stretch>
            <a:fillRect/>
          </a:stretch>
        </p:blipFill>
        <p:spPr>
          <a:xfrm>
            <a:off x="3369564" y="4281221"/>
            <a:ext cx="307238" cy="307238"/>
          </a:xfrm>
          <a:prstGeom prst="rect">
            <a:avLst/>
          </a:prstGeom>
        </p:spPr>
      </p:pic>
      <p:sp>
        <p:nvSpPr>
          <p:cNvPr id="36" name="Text 28"/>
          <p:cNvSpPr txBox="1"/>
          <p:nvPr/>
        </p:nvSpPr>
        <p:spPr>
          <a:xfrm>
            <a:off x="779983" y="4133088"/>
            <a:ext cx="2286000" cy="365760"/>
          </a:xfrm>
          <a:prstGeom prst="rect">
            <a:avLst/>
          </a:prstGeom>
          <a:noFill/>
          <a:ln/>
        </p:spPr>
        <p:txBody>
          <a:bodyPr wrap="square" lIns="0" tIns="0" rIns="0" bIns="0" rtlCol="0" anchor="t"/>
          <a:lstStyle/>
          <a:p>
            <a:pPr rtl="1" algn="r" indent="0" marL="0">
              <a:buNone/>
            </a:pPr>
            <a:r>
              <a:rPr lang="ar-SA" altLang="en-US" sz="1700" b="1" dirty="0">
                <a:solidFill>
                  <a:schemeClr val="tx1"/>
                </a:solidFill>
              </a:rPr>
              <a:t>لمياء ضاوي العتيبي</a:t>
            </a:r>
            <a:endParaRPr lang="ar-SA" sz="1700" dirty="0"/>
          </a:p>
        </p:txBody>
      </p:sp>
      <p:sp>
        <p:nvSpPr>
          <p:cNvPr id="37" name="Text 29"/>
          <p:cNvSpPr txBox="1"/>
          <p:nvPr/>
        </p:nvSpPr>
        <p:spPr>
          <a:xfrm>
            <a:off x="779983" y="4517136"/>
            <a:ext cx="2286000" cy="274320"/>
          </a:xfrm>
          <a:prstGeom prst="rect">
            <a:avLst/>
          </a:prstGeom>
          <a:noFill/>
          <a:ln/>
        </p:spPr>
        <p:txBody>
          <a:bodyPr wrap="square" lIns="0" tIns="0" rIns="0" bIns="0" rtlCol="0" anchor="t"/>
          <a:lstStyle/>
          <a:p>
            <a:pPr rtl="1" algn="r" indent="0" marL="0">
              <a:buNone/>
            </a:pPr>
            <a:r>
              <a:rPr lang="ar-SA" altLang="en-US" sz="1200" dirty="0">
                <a:solidFill>
                  <a:srgbClr val="6B7470"/>
                </a:solidFill>
              </a:rPr>
              <a:t>445248513</a:t>
            </a:r>
            <a:endParaRPr lang="ar-SA" sz="1200" dirty="0"/>
          </a:p>
        </p:txBody>
      </p:sp>
      <p:sp>
        <p:nvSpPr>
          <p:cNvPr id="38" name="Text 30"/>
          <p:cNvSpPr txBox="1"/>
          <p:nvPr/>
        </p:nvSpPr>
        <p:spPr>
          <a:xfrm>
            <a:off x="779983" y="4937760"/>
            <a:ext cx="3063240" cy="868680"/>
          </a:xfrm>
          <a:prstGeom prst="rect">
            <a:avLst/>
          </a:prstGeom>
          <a:noFill/>
          <a:ln/>
        </p:spPr>
        <p:txBody>
          <a:bodyPr wrap="square" lIns="0" tIns="0" rIns="0" bIns="0" rtlCol="0" anchor="t"/>
          <a:lstStyle/>
          <a:p>
            <a:pPr rtl="1" algn="r" indent="0" marL="0">
              <a:buNone/>
            </a:pPr>
            <a:r>
              <a:rPr lang="ar-SA" altLang="en-US" sz="1400" dirty="0">
                <a:solidFill>
                  <a:schemeClr val="tx2"/>
                </a:solidFill>
              </a:rPr>
              <a:t>دورة الإعارة والإشعارات وسجل النشاط والاختبار</a:t>
            </a:r>
            <a:endParaRPr lang="ar-SA" sz="1400" dirty="0"/>
          </a:p>
        </p:txBody>
      </p:sp>
      <p:sp>
        <p:nvSpPr>
          <p:cNvPr id="25" name="Slide Number Placeholder 0"/>
          <p:cNvSpPr>
            <a:spLocks noGrp="1"/>
          </p:cNvSpPr>
          <p:nvPr>
            <p:ph type="sldNum" sz="quarter" idx="4294967295"/>
          </p:nvPr>
        </p:nvSpPr>
        <p:spPr>
          <a:xfrm>
            <a:off x="5486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47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1463040" y="347472"/>
            <a:ext cx="10177272" cy="731520"/>
          </a:xfrm>
          <a:prstGeom prst="rect">
            <a:avLst/>
          </a:prstGeom>
          <a:noFill/>
          <a:ln/>
        </p:spPr>
        <p:txBody>
          <a:bodyPr wrap="square" lIns="0" tIns="0" rIns="0" bIns="0" rtlCol="0" anchor="ctr"/>
          <a:lstStyle/>
          <a:p>
            <a:pPr rtl="1" algn="r" indent="0" marL="0">
              <a:buNone/>
            </a:pPr>
            <a:r>
              <a:rPr lang="en-US" sz="3200" b="1" dirty="0">
                <a:solidFill>
                  <a:schemeClr val="tx2"/>
                </a:solidFill>
              </a:rPr>
              <a:t>محاور العرض</a:t>
            </a:r>
            <a:endParaRPr lang="en-US" sz="3200" dirty="0"/>
          </a:p>
        </p:txBody>
      </p:sp>
      <p:sp>
        <p:nvSpPr>
          <p:cNvPr id="3" name="agenda item 1"/>
          <p:cNvSpPr/>
          <p:nvPr/>
        </p:nvSpPr>
        <p:spPr>
          <a:xfrm>
            <a:off x="6293815" y="1463040"/>
            <a:ext cx="5349240" cy="914400"/>
          </a:xfrm>
          <a:prstGeom prst="roundRect">
            <a:avLst>
              <a:gd name="adj" fmla="val 12000"/>
            </a:avLst>
          </a:prstGeom>
          <a:solidFill>
            <a:schemeClr val="bg2"/>
          </a:solidFill>
          <a:ln w="12700">
            <a:solidFill>
              <a:schemeClr val="bg2"/>
            </a:solidFill>
            <a:prstDash val="solid"/>
          </a:ln>
        </p:spPr>
      </p:sp>
      <p:sp>
        <p:nvSpPr>
          <p:cNvPr id="4" name="agenda number 1"/>
          <p:cNvSpPr/>
          <p:nvPr/>
        </p:nvSpPr>
        <p:spPr>
          <a:xfrm>
            <a:off x="10865815" y="1618488"/>
            <a:ext cx="603504" cy="603504"/>
          </a:xfrm>
          <a:prstGeom prst="ellipse">
            <a:avLst/>
          </a:prstGeom>
          <a:solidFill>
            <a:schemeClr val="accent1"/>
          </a:solidFill>
          <a:ln w="12700">
            <a:solidFill>
              <a:schemeClr val="accent1"/>
            </a:solidFill>
            <a:prstDash val="solid"/>
          </a:ln>
        </p:spPr>
      </p:sp>
      <p:sp>
        <p:nvSpPr>
          <p:cNvPr id="5" name="Text 3"/>
          <p:cNvSpPr txBox="1"/>
          <p:nvPr/>
        </p:nvSpPr>
        <p:spPr>
          <a:xfrm>
            <a:off x="10865815" y="1618488"/>
            <a:ext cx="603504" cy="603504"/>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4"/>
          <p:cNvSpPr txBox="1"/>
          <p:nvPr/>
        </p:nvSpPr>
        <p:spPr>
          <a:xfrm>
            <a:off x="6568135" y="1572768"/>
            <a:ext cx="4069080" cy="694944"/>
          </a:xfrm>
          <a:prstGeom prst="rect">
            <a:avLst/>
          </a:prstGeom>
          <a:noFill/>
          <a:ln/>
        </p:spPr>
        <p:txBody>
          <a:bodyPr wrap="square" lIns="0" tIns="0" rIns="0" bIns="0" rtlCol="0" anchor="ctr"/>
          <a:lstStyle/>
          <a:p>
            <a:pPr rtl="1" algn="r" indent="0" marL="0">
              <a:buNone/>
            </a:pPr>
            <a:r>
              <a:rPr lang="ar-SA" altLang="en-US" sz="2000" b="1" dirty="0">
                <a:solidFill>
                  <a:schemeClr val="tx1"/>
                </a:solidFill>
              </a:rPr>
              <a:t>المشكلة والفكرة</a:t>
            </a:r>
            <a:endParaRPr lang="ar-SA" sz="2000" dirty="0"/>
          </a:p>
        </p:txBody>
      </p:sp>
      <p:sp>
        <p:nvSpPr>
          <p:cNvPr id="7" name="agenda item 2"/>
          <p:cNvSpPr/>
          <p:nvPr/>
        </p:nvSpPr>
        <p:spPr>
          <a:xfrm>
            <a:off x="6293815" y="2624328"/>
            <a:ext cx="5349240" cy="914400"/>
          </a:xfrm>
          <a:prstGeom prst="roundRect">
            <a:avLst>
              <a:gd name="adj" fmla="val 12000"/>
            </a:avLst>
          </a:prstGeom>
          <a:solidFill>
            <a:schemeClr val="bg2"/>
          </a:solidFill>
          <a:ln w="12700">
            <a:solidFill>
              <a:schemeClr val="bg2"/>
            </a:solidFill>
            <a:prstDash val="solid"/>
          </a:ln>
        </p:spPr>
      </p:sp>
      <p:sp>
        <p:nvSpPr>
          <p:cNvPr id="8" name="agenda number 2"/>
          <p:cNvSpPr/>
          <p:nvPr/>
        </p:nvSpPr>
        <p:spPr>
          <a:xfrm>
            <a:off x="10865815" y="2779776"/>
            <a:ext cx="603504" cy="603504"/>
          </a:xfrm>
          <a:prstGeom prst="ellipse">
            <a:avLst/>
          </a:prstGeom>
          <a:solidFill>
            <a:schemeClr val="accent1"/>
          </a:solidFill>
          <a:ln w="12700">
            <a:solidFill>
              <a:schemeClr val="accent1"/>
            </a:solidFill>
            <a:prstDash val="solid"/>
          </a:ln>
        </p:spPr>
      </p:sp>
      <p:sp>
        <p:nvSpPr>
          <p:cNvPr id="9" name="Text 7"/>
          <p:cNvSpPr txBox="1"/>
          <p:nvPr/>
        </p:nvSpPr>
        <p:spPr>
          <a:xfrm>
            <a:off x="10865815" y="2779776"/>
            <a:ext cx="603504" cy="603504"/>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Text 8"/>
          <p:cNvSpPr txBox="1"/>
          <p:nvPr/>
        </p:nvSpPr>
        <p:spPr>
          <a:xfrm>
            <a:off x="6568135" y="2734056"/>
            <a:ext cx="4069080" cy="694944"/>
          </a:xfrm>
          <a:prstGeom prst="rect">
            <a:avLst/>
          </a:prstGeom>
          <a:noFill/>
          <a:ln/>
        </p:spPr>
        <p:txBody>
          <a:bodyPr wrap="square" lIns="0" tIns="0" rIns="0" bIns="0" rtlCol="0" anchor="ctr"/>
          <a:lstStyle/>
          <a:p>
            <a:pPr rtl="1" algn="r" indent="0" marL="0">
              <a:buNone/>
            </a:pPr>
            <a:r>
              <a:rPr lang="ar-SA" altLang="en-US" sz="2000" b="1" dirty="0">
                <a:solidFill>
                  <a:schemeClr val="tx1"/>
                </a:solidFill>
              </a:rPr>
              <a:t>الأهداف والفئة المستهدفة</a:t>
            </a:r>
            <a:endParaRPr lang="ar-SA" sz="2000" dirty="0"/>
          </a:p>
        </p:txBody>
      </p:sp>
      <p:sp>
        <p:nvSpPr>
          <p:cNvPr id="11" name="agenda item 3"/>
          <p:cNvSpPr/>
          <p:nvPr/>
        </p:nvSpPr>
        <p:spPr>
          <a:xfrm>
            <a:off x="6293815" y="3785616"/>
            <a:ext cx="5349240" cy="914400"/>
          </a:xfrm>
          <a:prstGeom prst="roundRect">
            <a:avLst>
              <a:gd name="adj" fmla="val 12000"/>
            </a:avLst>
          </a:prstGeom>
          <a:solidFill>
            <a:schemeClr val="bg2"/>
          </a:solidFill>
          <a:ln w="12700">
            <a:solidFill>
              <a:schemeClr val="bg2"/>
            </a:solidFill>
            <a:prstDash val="solid"/>
          </a:ln>
        </p:spPr>
      </p:sp>
      <p:sp>
        <p:nvSpPr>
          <p:cNvPr id="12" name="agenda number 3"/>
          <p:cNvSpPr/>
          <p:nvPr/>
        </p:nvSpPr>
        <p:spPr>
          <a:xfrm>
            <a:off x="10865815" y="3941064"/>
            <a:ext cx="603504" cy="603504"/>
          </a:xfrm>
          <a:prstGeom prst="ellipse">
            <a:avLst/>
          </a:prstGeom>
          <a:solidFill>
            <a:schemeClr val="accent1"/>
          </a:solidFill>
          <a:ln w="12700">
            <a:solidFill>
              <a:schemeClr val="accent1"/>
            </a:solidFill>
            <a:prstDash val="solid"/>
          </a:ln>
        </p:spPr>
      </p:sp>
      <p:sp>
        <p:nvSpPr>
          <p:cNvPr id="13" name="Text 11"/>
          <p:cNvSpPr txBox="1"/>
          <p:nvPr/>
        </p:nvSpPr>
        <p:spPr>
          <a:xfrm>
            <a:off x="10865815" y="3941064"/>
            <a:ext cx="603504" cy="603504"/>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4" name="Text 12"/>
          <p:cNvSpPr txBox="1"/>
          <p:nvPr/>
        </p:nvSpPr>
        <p:spPr>
          <a:xfrm>
            <a:off x="6568135" y="3895344"/>
            <a:ext cx="4069080" cy="694944"/>
          </a:xfrm>
          <a:prstGeom prst="rect">
            <a:avLst/>
          </a:prstGeom>
          <a:noFill/>
          <a:ln/>
        </p:spPr>
        <p:txBody>
          <a:bodyPr wrap="square" lIns="0" tIns="0" rIns="0" bIns="0" rtlCol="0" anchor="ctr"/>
          <a:lstStyle/>
          <a:p>
            <a:pPr rtl="1" algn="r" indent="0" marL="0">
              <a:buNone/>
            </a:pPr>
            <a:r>
              <a:rPr lang="ar-SA" altLang="en-US" sz="2000" b="1" dirty="0">
                <a:solidFill>
                  <a:schemeClr val="tx1"/>
                </a:solidFill>
              </a:rPr>
              <a:t>الأدوات والمعمارية</a:t>
            </a:r>
            <a:endParaRPr lang="ar-SA" sz="2000" dirty="0"/>
          </a:p>
        </p:txBody>
      </p:sp>
      <p:sp>
        <p:nvSpPr>
          <p:cNvPr id="15" name="agenda item 4"/>
          <p:cNvSpPr/>
          <p:nvPr/>
        </p:nvSpPr>
        <p:spPr>
          <a:xfrm>
            <a:off x="6293815" y="4946904"/>
            <a:ext cx="5349240" cy="914400"/>
          </a:xfrm>
          <a:prstGeom prst="roundRect">
            <a:avLst>
              <a:gd name="adj" fmla="val 12000"/>
            </a:avLst>
          </a:prstGeom>
          <a:solidFill>
            <a:schemeClr val="bg2"/>
          </a:solidFill>
          <a:ln w="12700">
            <a:solidFill>
              <a:schemeClr val="bg2"/>
            </a:solidFill>
            <a:prstDash val="solid"/>
          </a:ln>
        </p:spPr>
      </p:sp>
      <p:sp>
        <p:nvSpPr>
          <p:cNvPr id="16" name="agenda number 4"/>
          <p:cNvSpPr/>
          <p:nvPr/>
        </p:nvSpPr>
        <p:spPr>
          <a:xfrm>
            <a:off x="10865815" y="5102352"/>
            <a:ext cx="603504" cy="603504"/>
          </a:xfrm>
          <a:prstGeom prst="ellipse">
            <a:avLst/>
          </a:prstGeom>
          <a:solidFill>
            <a:schemeClr val="accent1"/>
          </a:solidFill>
          <a:ln w="12700">
            <a:solidFill>
              <a:schemeClr val="accent1"/>
            </a:solidFill>
            <a:prstDash val="solid"/>
          </a:ln>
        </p:spPr>
      </p:sp>
      <p:sp>
        <p:nvSpPr>
          <p:cNvPr id="17" name="Text 15"/>
          <p:cNvSpPr txBox="1"/>
          <p:nvPr/>
        </p:nvSpPr>
        <p:spPr>
          <a:xfrm>
            <a:off x="10865815" y="5102352"/>
            <a:ext cx="603504" cy="603504"/>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8" name="Text 16"/>
          <p:cNvSpPr txBox="1"/>
          <p:nvPr/>
        </p:nvSpPr>
        <p:spPr>
          <a:xfrm>
            <a:off x="6568135" y="5056632"/>
            <a:ext cx="4069080" cy="694944"/>
          </a:xfrm>
          <a:prstGeom prst="rect">
            <a:avLst/>
          </a:prstGeom>
          <a:noFill/>
          <a:ln/>
        </p:spPr>
        <p:txBody>
          <a:bodyPr wrap="square" lIns="0" tIns="0" rIns="0" bIns="0" rtlCol="0" anchor="ctr"/>
          <a:lstStyle/>
          <a:p>
            <a:pPr rtl="1" algn="r" indent="0" marL="0">
              <a:buNone/>
            </a:pPr>
            <a:r>
              <a:rPr lang="ar-SA" altLang="en-US" sz="2000" b="1" dirty="0">
                <a:solidFill>
                  <a:schemeClr val="tx1"/>
                </a:solidFill>
              </a:rPr>
              <a:t>نموذج المبنى وقاعدة البيانات</a:t>
            </a:r>
            <a:endParaRPr lang="ar-SA" sz="2000" dirty="0"/>
          </a:p>
        </p:txBody>
      </p:sp>
      <p:sp>
        <p:nvSpPr>
          <p:cNvPr id="19" name="agenda item 5"/>
          <p:cNvSpPr/>
          <p:nvPr/>
        </p:nvSpPr>
        <p:spPr>
          <a:xfrm>
            <a:off x="551383" y="1463040"/>
            <a:ext cx="5349240" cy="914400"/>
          </a:xfrm>
          <a:prstGeom prst="roundRect">
            <a:avLst>
              <a:gd name="adj" fmla="val 12000"/>
            </a:avLst>
          </a:prstGeom>
          <a:solidFill>
            <a:schemeClr val="bg2"/>
          </a:solidFill>
          <a:ln w="12700">
            <a:solidFill>
              <a:schemeClr val="bg2"/>
            </a:solidFill>
            <a:prstDash val="solid"/>
          </a:ln>
        </p:spPr>
      </p:sp>
      <p:sp>
        <p:nvSpPr>
          <p:cNvPr id="20" name="agenda number 5"/>
          <p:cNvSpPr/>
          <p:nvPr/>
        </p:nvSpPr>
        <p:spPr>
          <a:xfrm>
            <a:off x="5123383" y="1618488"/>
            <a:ext cx="603504" cy="603504"/>
          </a:xfrm>
          <a:prstGeom prst="ellipse">
            <a:avLst/>
          </a:prstGeom>
          <a:solidFill>
            <a:schemeClr val="accent1"/>
          </a:solidFill>
          <a:ln w="12700">
            <a:solidFill>
              <a:schemeClr val="accent1"/>
            </a:solidFill>
            <a:prstDash val="solid"/>
          </a:ln>
        </p:spPr>
      </p:sp>
      <p:sp>
        <p:nvSpPr>
          <p:cNvPr id="21" name="Text 19"/>
          <p:cNvSpPr txBox="1"/>
          <p:nvPr/>
        </p:nvSpPr>
        <p:spPr>
          <a:xfrm>
            <a:off x="5123383" y="1618488"/>
            <a:ext cx="603504" cy="603504"/>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2" name="Text 20"/>
          <p:cNvSpPr txBox="1"/>
          <p:nvPr/>
        </p:nvSpPr>
        <p:spPr>
          <a:xfrm>
            <a:off x="825703" y="1572768"/>
            <a:ext cx="4069080" cy="694944"/>
          </a:xfrm>
          <a:prstGeom prst="rect">
            <a:avLst/>
          </a:prstGeom>
          <a:noFill/>
          <a:ln/>
        </p:spPr>
        <p:txBody>
          <a:bodyPr wrap="square" lIns="0" tIns="0" rIns="0" bIns="0" rtlCol="0" anchor="ctr"/>
          <a:lstStyle/>
          <a:p>
            <a:pPr rtl="1" algn="r" indent="0" marL="0">
              <a:buNone/>
            </a:pPr>
            <a:r>
              <a:rPr lang="ar-SA" altLang="en-US" sz="2000" b="1" dirty="0">
                <a:solidFill>
                  <a:schemeClr val="tx1"/>
                </a:solidFill>
              </a:rPr>
              <a:t>تطبيق الزائر وطريق الوصول</a:t>
            </a:r>
            <a:endParaRPr lang="ar-SA" sz="2000" dirty="0"/>
          </a:p>
        </p:txBody>
      </p:sp>
      <p:sp>
        <p:nvSpPr>
          <p:cNvPr id="23" name="agenda item 6"/>
          <p:cNvSpPr/>
          <p:nvPr/>
        </p:nvSpPr>
        <p:spPr>
          <a:xfrm>
            <a:off x="551383" y="2624328"/>
            <a:ext cx="5349240" cy="914400"/>
          </a:xfrm>
          <a:prstGeom prst="roundRect">
            <a:avLst>
              <a:gd name="adj" fmla="val 12000"/>
            </a:avLst>
          </a:prstGeom>
          <a:solidFill>
            <a:schemeClr val="bg2"/>
          </a:solidFill>
          <a:ln w="12700">
            <a:solidFill>
              <a:schemeClr val="bg2"/>
            </a:solidFill>
            <a:prstDash val="solid"/>
          </a:ln>
        </p:spPr>
      </p:sp>
      <p:sp>
        <p:nvSpPr>
          <p:cNvPr id="24" name="agenda number 6"/>
          <p:cNvSpPr/>
          <p:nvPr/>
        </p:nvSpPr>
        <p:spPr>
          <a:xfrm>
            <a:off x="5123383" y="2779776"/>
            <a:ext cx="603504" cy="603504"/>
          </a:xfrm>
          <a:prstGeom prst="ellipse">
            <a:avLst/>
          </a:prstGeom>
          <a:solidFill>
            <a:schemeClr val="accent1"/>
          </a:solidFill>
          <a:ln w="12700">
            <a:solidFill>
              <a:schemeClr val="accent1"/>
            </a:solidFill>
            <a:prstDash val="solid"/>
          </a:ln>
        </p:spPr>
      </p:sp>
      <p:sp>
        <p:nvSpPr>
          <p:cNvPr id="25" name="Text 23"/>
          <p:cNvSpPr txBox="1"/>
          <p:nvPr/>
        </p:nvSpPr>
        <p:spPr>
          <a:xfrm>
            <a:off x="5123383" y="2779776"/>
            <a:ext cx="603504" cy="603504"/>
          </a:xfrm>
          <a:prstGeom prst="rect">
            <a:avLst/>
          </a:prstGeom>
          <a:no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26" name="Text 24"/>
          <p:cNvSpPr txBox="1"/>
          <p:nvPr/>
        </p:nvSpPr>
        <p:spPr>
          <a:xfrm>
            <a:off x="825703" y="2734056"/>
            <a:ext cx="4069080" cy="694944"/>
          </a:xfrm>
          <a:prstGeom prst="rect">
            <a:avLst/>
          </a:prstGeom>
          <a:noFill/>
          <a:ln/>
        </p:spPr>
        <p:txBody>
          <a:bodyPr wrap="square" lIns="0" tIns="0" rIns="0" bIns="0" rtlCol="0" anchor="ctr"/>
          <a:lstStyle/>
          <a:p>
            <a:pPr rtl="1" algn="r" indent="0" marL="0">
              <a:buNone/>
            </a:pPr>
            <a:r>
              <a:rPr lang="ar-SA" altLang="en-US" sz="2000" b="1" dirty="0">
                <a:solidFill>
                  <a:schemeClr val="tx1"/>
                </a:solidFill>
              </a:rPr>
              <a:t>دورة الإعارة وتطبيق المشرف</a:t>
            </a:r>
            <a:endParaRPr lang="ar-SA" sz="2000" dirty="0"/>
          </a:p>
        </p:txBody>
      </p:sp>
      <p:sp>
        <p:nvSpPr>
          <p:cNvPr id="27" name="agenda item 7"/>
          <p:cNvSpPr/>
          <p:nvPr/>
        </p:nvSpPr>
        <p:spPr>
          <a:xfrm>
            <a:off x="551383" y="3785616"/>
            <a:ext cx="5349240" cy="914400"/>
          </a:xfrm>
          <a:prstGeom prst="roundRect">
            <a:avLst>
              <a:gd name="adj" fmla="val 12000"/>
            </a:avLst>
          </a:prstGeom>
          <a:solidFill>
            <a:schemeClr val="bg2"/>
          </a:solidFill>
          <a:ln w="12700">
            <a:solidFill>
              <a:schemeClr val="bg2"/>
            </a:solidFill>
            <a:prstDash val="solid"/>
          </a:ln>
        </p:spPr>
      </p:sp>
      <p:sp>
        <p:nvSpPr>
          <p:cNvPr id="28" name="agenda number 7"/>
          <p:cNvSpPr/>
          <p:nvPr/>
        </p:nvSpPr>
        <p:spPr>
          <a:xfrm>
            <a:off x="5123383" y="3941064"/>
            <a:ext cx="603504" cy="603504"/>
          </a:xfrm>
          <a:prstGeom prst="ellipse">
            <a:avLst/>
          </a:prstGeom>
          <a:solidFill>
            <a:schemeClr val="accent1"/>
          </a:solidFill>
          <a:ln w="12700">
            <a:solidFill>
              <a:schemeClr val="accent1"/>
            </a:solidFill>
            <a:prstDash val="solid"/>
          </a:ln>
        </p:spPr>
      </p:sp>
      <p:sp>
        <p:nvSpPr>
          <p:cNvPr id="29" name="Text 27"/>
          <p:cNvSpPr txBox="1"/>
          <p:nvPr/>
        </p:nvSpPr>
        <p:spPr>
          <a:xfrm>
            <a:off x="5123383" y="3941064"/>
            <a:ext cx="603504" cy="603504"/>
          </a:xfrm>
          <a:prstGeom prst="rect">
            <a:avLst/>
          </a:prstGeom>
          <a:noFill/>
          <a:ln/>
        </p:spPr>
        <p:txBody>
          <a:bodyPr wrap="square" lIns="0" tIns="0" rIns="0" bIns="0" rtlCol="0" anchor="ctr"/>
          <a:lstStyle/>
          <a:p>
            <a:pPr algn="ctr" indent="0" marL="0">
              <a:buNone/>
            </a:pPr>
            <a:r>
              <a:rPr lang="en-US" sz="2000" b="1" dirty="0">
                <a:solidFill>
                  <a:schemeClr val="bg1"/>
                </a:solidFill>
              </a:rPr>
              <a:t>7</a:t>
            </a:r>
            <a:endParaRPr lang="en-US" sz="2000" dirty="0"/>
          </a:p>
        </p:txBody>
      </p:sp>
      <p:sp>
        <p:nvSpPr>
          <p:cNvPr id="30" name="Text 28"/>
          <p:cNvSpPr txBox="1"/>
          <p:nvPr/>
        </p:nvSpPr>
        <p:spPr>
          <a:xfrm>
            <a:off x="825703" y="3895344"/>
            <a:ext cx="4069080" cy="694944"/>
          </a:xfrm>
          <a:prstGeom prst="rect">
            <a:avLst/>
          </a:prstGeom>
          <a:noFill/>
          <a:ln/>
        </p:spPr>
        <p:txBody>
          <a:bodyPr wrap="square" lIns="0" tIns="0" rIns="0" bIns="0" rtlCol="0" anchor="ctr"/>
          <a:lstStyle/>
          <a:p>
            <a:pPr rtl="1" algn="r" indent="0" marL="0">
              <a:buNone/>
            </a:pPr>
            <a:r>
              <a:rPr lang="ar-SA" altLang="en-US" sz="2000" b="1" dirty="0">
                <a:solidFill>
                  <a:schemeClr val="tx1"/>
                </a:solidFill>
              </a:rPr>
              <a:t>الأمان والاختبار</a:t>
            </a:r>
            <a:endParaRPr lang="ar-SA" sz="2000" dirty="0"/>
          </a:p>
        </p:txBody>
      </p:sp>
      <p:sp>
        <p:nvSpPr>
          <p:cNvPr id="31" name="agenda item 8"/>
          <p:cNvSpPr/>
          <p:nvPr/>
        </p:nvSpPr>
        <p:spPr>
          <a:xfrm>
            <a:off x="551383" y="4946904"/>
            <a:ext cx="5349240" cy="914400"/>
          </a:xfrm>
          <a:prstGeom prst="roundRect">
            <a:avLst>
              <a:gd name="adj" fmla="val 12000"/>
            </a:avLst>
          </a:prstGeom>
          <a:solidFill>
            <a:schemeClr val="bg2"/>
          </a:solidFill>
          <a:ln w="12700">
            <a:solidFill>
              <a:schemeClr val="bg2"/>
            </a:solidFill>
            <a:prstDash val="solid"/>
          </a:ln>
        </p:spPr>
      </p:sp>
      <p:sp>
        <p:nvSpPr>
          <p:cNvPr id="32" name="agenda number 8"/>
          <p:cNvSpPr/>
          <p:nvPr/>
        </p:nvSpPr>
        <p:spPr>
          <a:xfrm>
            <a:off x="5123383" y="5102352"/>
            <a:ext cx="603504" cy="603504"/>
          </a:xfrm>
          <a:prstGeom prst="ellipse">
            <a:avLst/>
          </a:prstGeom>
          <a:solidFill>
            <a:schemeClr val="accent1"/>
          </a:solidFill>
          <a:ln w="12700">
            <a:solidFill>
              <a:schemeClr val="accent1"/>
            </a:solidFill>
            <a:prstDash val="solid"/>
          </a:ln>
        </p:spPr>
      </p:sp>
      <p:sp>
        <p:nvSpPr>
          <p:cNvPr id="33" name="Text 31"/>
          <p:cNvSpPr txBox="1"/>
          <p:nvPr/>
        </p:nvSpPr>
        <p:spPr>
          <a:xfrm>
            <a:off x="5123383" y="5102352"/>
            <a:ext cx="603504" cy="603504"/>
          </a:xfrm>
          <a:prstGeom prst="rect">
            <a:avLst/>
          </a:prstGeom>
          <a:noFill/>
          <a:ln/>
        </p:spPr>
        <p:txBody>
          <a:bodyPr wrap="square" lIns="0" tIns="0" rIns="0" bIns="0" rtlCol="0" anchor="ctr"/>
          <a:lstStyle/>
          <a:p>
            <a:pPr algn="ctr" indent="0" marL="0">
              <a:buNone/>
            </a:pPr>
            <a:r>
              <a:rPr lang="en-US" sz="2000" b="1" dirty="0">
                <a:solidFill>
                  <a:schemeClr val="bg1"/>
                </a:solidFill>
              </a:rPr>
              <a:t>8</a:t>
            </a:r>
            <a:endParaRPr lang="en-US" sz="2000" dirty="0"/>
          </a:p>
        </p:txBody>
      </p:sp>
      <p:sp>
        <p:nvSpPr>
          <p:cNvPr id="34" name="Text 32"/>
          <p:cNvSpPr txBox="1"/>
          <p:nvPr/>
        </p:nvSpPr>
        <p:spPr>
          <a:xfrm>
            <a:off x="825703" y="5056632"/>
            <a:ext cx="4069080" cy="694944"/>
          </a:xfrm>
          <a:prstGeom prst="rect">
            <a:avLst/>
          </a:prstGeom>
          <a:noFill/>
          <a:ln/>
        </p:spPr>
        <p:txBody>
          <a:bodyPr wrap="square" lIns="0" tIns="0" rIns="0" bIns="0" rtlCol="0" anchor="ctr"/>
          <a:lstStyle/>
          <a:p>
            <a:pPr rtl="1" algn="r" indent="0" marL="0">
              <a:buNone/>
            </a:pPr>
            <a:r>
              <a:rPr lang="ar-SA" altLang="en-US" sz="2000" b="1" dirty="0">
                <a:solidFill>
                  <a:schemeClr val="tx1"/>
                </a:solidFill>
              </a:rPr>
              <a:t>التحديات والتطوير المستقبلي</a:t>
            </a:r>
            <a:endParaRPr lang="ar-SA" sz="2000" dirty="0"/>
          </a:p>
        </p:txBody>
      </p:sp>
      <p:sp>
        <p:nvSpPr>
          <p:cNvPr id="25" name="Slide Number Placeholder 0"/>
          <p:cNvSpPr>
            <a:spLocks noGrp="1"/>
          </p:cNvSpPr>
          <p:nvPr>
            <p:ph type="sldNum" sz="quarter" idx="4294967295"/>
          </p:nvPr>
        </p:nvSpPr>
        <p:spPr>
          <a:xfrm>
            <a:off x="5486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47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1463040" y="347472"/>
            <a:ext cx="10177272" cy="731520"/>
          </a:xfrm>
          <a:prstGeom prst="rect">
            <a:avLst/>
          </a:prstGeom>
          <a:noFill/>
          <a:ln/>
        </p:spPr>
        <p:txBody>
          <a:bodyPr wrap="square" lIns="0" tIns="0" rIns="0" bIns="0" rtlCol="0" anchor="ctr"/>
          <a:lstStyle/>
          <a:p>
            <a:pPr rtl="1" algn="r" indent="0" marL="0">
              <a:buNone/>
            </a:pPr>
            <a:r>
              <a:rPr lang="en-US" sz="3200" b="1" dirty="0">
                <a:solidFill>
                  <a:schemeClr val="tx2"/>
                </a:solidFill>
              </a:rPr>
              <a:t>المشكلة: الكتاب موجود… لكن أين؟</a:t>
            </a:r>
            <a:endParaRPr lang="en-US" sz="3200" dirty="0"/>
          </a:p>
        </p:txBody>
      </p:sp>
      <p:sp>
        <p:nvSpPr>
          <p:cNvPr id="3" name="problem statement"/>
          <p:cNvSpPr/>
          <p:nvPr/>
        </p:nvSpPr>
        <p:spPr>
          <a:xfrm>
            <a:off x="548640" y="1417320"/>
            <a:ext cx="11091672" cy="1325880"/>
          </a:xfrm>
          <a:prstGeom prst="roundRect">
            <a:avLst>
              <a:gd name="adj" fmla="val 8276"/>
            </a:avLst>
          </a:prstGeom>
          <a:solidFill>
            <a:schemeClr val="bg2"/>
          </a:solidFill>
          <a:ln w="12700">
            <a:solidFill>
              <a:schemeClr val="bg2"/>
            </a:solidFill>
            <a:prstDash val="solid"/>
          </a:ln>
        </p:spPr>
      </p:sp>
      <p:sp>
        <p:nvSpPr>
          <p:cNvPr id="4" name="Text 2"/>
          <p:cNvSpPr txBox="1"/>
          <p:nvPr/>
        </p:nvSpPr>
        <p:spPr>
          <a:xfrm>
            <a:off x="914400" y="1600200"/>
            <a:ext cx="10360152" cy="960120"/>
          </a:xfrm>
          <a:prstGeom prst="rect">
            <a:avLst/>
          </a:prstGeom>
          <a:noFill/>
          <a:ln/>
        </p:spPr>
        <p:txBody>
          <a:bodyPr wrap="square" lIns="0" tIns="0" rIns="0" bIns="0" rtlCol="0" anchor="ctr"/>
          <a:lstStyle/>
          <a:p>
            <a:pPr rtl="1" algn="r" indent="0" marL="0">
              <a:buNone/>
            </a:pPr>
            <a:r>
              <a:rPr lang="ar-SA" altLang="en-US" sz="2000" dirty="0">
                <a:solidFill>
                  <a:schemeClr val="tx1"/>
                </a:solidFill>
              </a:rPr>
              <a:t>في المكتبة الكبيرة يعرف الزائر أن الكتاب في الفهرس، لكن الوصول إليه بين مئات الرفوف يستغرق وقتًا طويلًا وينتهي غالبًا بسؤال أمينة المكتبة.</a:t>
            </a:r>
            <a:endParaRPr lang="ar-SA" sz="2000" dirty="0"/>
          </a:p>
        </p:txBody>
      </p:sp>
      <p:sp>
        <p:nvSpPr>
          <p:cNvPr id="5" name="pain card 1"/>
          <p:cNvSpPr/>
          <p:nvPr/>
        </p:nvSpPr>
        <p:spPr>
          <a:xfrm>
            <a:off x="8122615" y="3063240"/>
            <a:ext cx="3520440" cy="2971800"/>
          </a:xfrm>
          <a:prstGeom prst="roundRect">
            <a:avLst>
              <a:gd name="adj" fmla="val 3692"/>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6" name="pain 1 circle"/>
          <p:cNvSpPr/>
          <p:nvPr/>
        </p:nvSpPr>
        <p:spPr>
          <a:xfrm>
            <a:off x="10682935" y="3383280"/>
            <a:ext cx="731520" cy="731520"/>
          </a:xfrm>
          <a:prstGeom prst="ellipse">
            <a:avLst/>
          </a:prstGeom>
          <a:solidFill>
            <a:schemeClr val="accent2"/>
          </a:solidFill>
          <a:ln w="12700">
            <a:solidFill>
              <a:schemeClr val="accent2"/>
            </a:solidFill>
            <a:prstDash val="solid"/>
          </a:ln>
        </p:spPr>
      </p:sp>
      <p:pic>
        <p:nvPicPr>
          <p:cNvPr id="7" name="pain 1 icon" descr="preencoded.png">    </p:cNvPr>
          <p:cNvPicPr>
            <a:picLocks noChangeAspect="1"/>
          </p:cNvPicPr>
          <p:nvPr/>
        </p:nvPicPr>
        <p:blipFill>
          <a:blip r:embed="rId1"/>
          <a:stretch>
            <a:fillRect/>
          </a:stretch>
        </p:blipFill>
        <p:spPr>
          <a:xfrm>
            <a:off x="10873130" y="3573475"/>
            <a:ext cx="351130" cy="351130"/>
          </a:xfrm>
          <a:prstGeom prst="rect">
            <a:avLst/>
          </a:prstGeom>
        </p:spPr>
      </p:pic>
      <p:sp>
        <p:nvSpPr>
          <p:cNvPr id="8" name="Text 5"/>
          <p:cNvSpPr txBox="1"/>
          <p:nvPr/>
        </p:nvSpPr>
        <p:spPr>
          <a:xfrm>
            <a:off x="8396935" y="4297680"/>
            <a:ext cx="2971800" cy="411480"/>
          </a:xfrm>
          <a:prstGeom prst="rect">
            <a:avLst/>
          </a:prstGeom>
          <a:noFill/>
          <a:ln/>
        </p:spPr>
        <p:txBody>
          <a:bodyPr wrap="square" lIns="0" tIns="0" rIns="0" bIns="0" rtlCol="0" anchor="t"/>
          <a:lstStyle/>
          <a:p>
            <a:pPr rtl="1" algn="r" indent="0" marL="0">
              <a:buNone/>
            </a:pPr>
            <a:r>
              <a:rPr lang="ar-SA" altLang="en-US" sz="2000" b="1" dirty="0">
                <a:solidFill>
                  <a:schemeClr val="tx2"/>
                </a:solidFill>
              </a:rPr>
              <a:t>وقت ضائع</a:t>
            </a:r>
            <a:endParaRPr lang="ar-SA" sz="2000" dirty="0"/>
          </a:p>
        </p:txBody>
      </p:sp>
      <p:sp>
        <p:nvSpPr>
          <p:cNvPr id="9" name="Text 6"/>
          <p:cNvSpPr txBox="1"/>
          <p:nvPr/>
        </p:nvSpPr>
        <p:spPr>
          <a:xfrm>
            <a:off x="8396935" y="4800600"/>
            <a:ext cx="2971800" cy="1051560"/>
          </a:xfrm>
          <a:prstGeom prst="rect">
            <a:avLst/>
          </a:prstGeom>
          <a:noFill/>
          <a:ln/>
        </p:spPr>
        <p:txBody>
          <a:bodyPr wrap="square" lIns="0" tIns="0" rIns="0" bIns="0" rtlCol="0" anchor="t"/>
          <a:lstStyle/>
          <a:p>
            <a:pPr rtl="1" algn="r" indent="0" marL="0">
              <a:buNone/>
            </a:pPr>
            <a:r>
              <a:rPr lang="ar-SA" altLang="en-US" sz="1500" dirty="0">
                <a:solidFill>
                  <a:schemeClr val="tx1"/>
                </a:solidFill>
              </a:rPr>
              <a:t>التجوّل بين الممرات بحثًا عن رمز رف لا يدلّ على مكانه الفعلي في المبنى.</a:t>
            </a:r>
            <a:endParaRPr lang="ar-SA" sz="1500" dirty="0"/>
          </a:p>
        </p:txBody>
      </p:sp>
      <p:sp>
        <p:nvSpPr>
          <p:cNvPr id="10" name="pain card 2"/>
          <p:cNvSpPr/>
          <p:nvPr/>
        </p:nvSpPr>
        <p:spPr>
          <a:xfrm>
            <a:off x="4336999" y="3063240"/>
            <a:ext cx="3520440" cy="2971800"/>
          </a:xfrm>
          <a:prstGeom prst="roundRect">
            <a:avLst>
              <a:gd name="adj" fmla="val 3692"/>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11" name="pain 2 circle"/>
          <p:cNvSpPr/>
          <p:nvPr/>
        </p:nvSpPr>
        <p:spPr>
          <a:xfrm>
            <a:off x="6897319" y="3383280"/>
            <a:ext cx="731520" cy="731520"/>
          </a:xfrm>
          <a:prstGeom prst="ellipse">
            <a:avLst/>
          </a:prstGeom>
          <a:solidFill>
            <a:schemeClr val="accent2"/>
          </a:solidFill>
          <a:ln w="12700">
            <a:solidFill>
              <a:schemeClr val="accent2"/>
            </a:solidFill>
            <a:prstDash val="solid"/>
          </a:ln>
        </p:spPr>
      </p:sp>
      <p:pic>
        <p:nvPicPr>
          <p:cNvPr id="12" name="pain 2 icon" descr="preencoded.png">    </p:cNvPr>
          <p:cNvPicPr>
            <a:picLocks noChangeAspect="1"/>
          </p:cNvPicPr>
          <p:nvPr/>
        </p:nvPicPr>
        <p:blipFill>
          <a:blip r:embed="rId2"/>
          <a:stretch>
            <a:fillRect/>
          </a:stretch>
        </p:blipFill>
        <p:spPr>
          <a:xfrm>
            <a:off x="7087514" y="3573475"/>
            <a:ext cx="351130" cy="351130"/>
          </a:xfrm>
          <a:prstGeom prst="rect">
            <a:avLst/>
          </a:prstGeom>
        </p:spPr>
      </p:pic>
      <p:sp>
        <p:nvSpPr>
          <p:cNvPr id="13" name="Text 9"/>
          <p:cNvSpPr txBox="1"/>
          <p:nvPr/>
        </p:nvSpPr>
        <p:spPr>
          <a:xfrm>
            <a:off x="4611319" y="4297680"/>
            <a:ext cx="2971800" cy="411480"/>
          </a:xfrm>
          <a:prstGeom prst="rect">
            <a:avLst/>
          </a:prstGeom>
          <a:noFill/>
          <a:ln/>
        </p:spPr>
        <p:txBody>
          <a:bodyPr wrap="square" lIns="0" tIns="0" rIns="0" bIns="0" rtlCol="0" anchor="t"/>
          <a:lstStyle/>
          <a:p>
            <a:pPr rtl="1" algn="r" indent="0" marL="0">
              <a:buNone/>
            </a:pPr>
            <a:r>
              <a:rPr lang="ar-SA" altLang="en-US" sz="2000" b="1" dirty="0">
                <a:solidFill>
                  <a:schemeClr val="tx2"/>
                </a:solidFill>
              </a:rPr>
              <a:t>ضغط على أمينة المكتبة</a:t>
            </a:r>
            <a:endParaRPr lang="ar-SA" sz="2000" dirty="0"/>
          </a:p>
        </p:txBody>
      </p:sp>
      <p:sp>
        <p:nvSpPr>
          <p:cNvPr id="14" name="Text 10"/>
          <p:cNvSpPr txBox="1"/>
          <p:nvPr/>
        </p:nvSpPr>
        <p:spPr>
          <a:xfrm>
            <a:off x="4611319" y="4800600"/>
            <a:ext cx="2971800" cy="1051560"/>
          </a:xfrm>
          <a:prstGeom prst="rect">
            <a:avLst/>
          </a:prstGeom>
          <a:noFill/>
          <a:ln/>
        </p:spPr>
        <p:txBody>
          <a:bodyPr wrap="square" lIns="0" tIns="0" rIns="0" bIns="0" rtlCol="0" anchor="t"/>
          <a:lstStyle/>
          <a:p>
            <a:pPr rtl="1" algn="r" indent="0" marL="0">
              <a:buNone/>
            </a:pPr>
            <a:r>
              <a:rPr lang="ar-SA" altLang="en-US" sz="1500" dirty="0">
                <a:solidFill>
                  <a:schemeClr val="tx1"/>
                </a:solidFill>
              </a:rPr>
              <a:t>كل سؤال «أين هذا الكتاب؟» يقطع عملها، ويتكرّر عشرات المرات يوميًا.</a:t>
            </a:r>
            <a:endParaRPr lang="ar-SA" sz="1500" dirty="0"/>
          </a:p>
        </p:txBody>
      </p:sp>
      <p:sp>
        <p:nvSpPr>
          <p:cNvPr id="15" name="pain card 3"/>
          <p:cNvSpPr/>
          <p:nvPr/>
        </p:nvSpPr>
        <p:spPr>
          <a:xfrm>
            <a:off x="551383" y="3063240"/>
            <a:ext cx="3520440" cy="2971800"/>
          </a:xfrm>
          <a:prstGeom prst="roundRect">
            <a:avLst>
              <a:gd name="adj" fmla="val 3692"/>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16" name="pain 3 circle"/>
          <p:cNvSpPr/>
          <p:nvPr/>
        </p:nvSpPr>
        <p:spPr>
          <a:xfrm>
            <a:off x="3111703" y="3383280"/>
            <a:ext cx="731520" cy="731520"/>
          </a:xfrm>
          <a:prstGeom prst="ellipse">
            <a:avLst/>
          </a:prstGeom>
          <a:solidFill>
            <a:schemeClr val="accent2"/>
          </a:solidFill>
          <a:ln w="12700">
            <a:solidFill>
              <a:schemeClr val="accent2"/>
            </a:solidFill>
            <a:prstDash val="solid"/>
          </a:ln>
        </p:spPr>
      </p:sp>
      <p:pic>
        <p:nvPicPr>
          <p:cNvPr id="17" name="pain 3 icon" descr="preencoded.png">    </p:cNvPr>
          <p:cNvPicPr>
            <a:picLocks noChangeAspect="1"/>
          </p:cNvPicPr>
          <p:nvPr/>
        </p:nvPicPr>
        <p:blipFill>
          <a:blip r:embed="rId3"/>
          <a:stretch>
            <a:fillRect/>
          </a:stretch>
        </p:blipFill>
        <p:spPr>
          <a:xfrm>
            <a:off x="3301898" y="3573475"/>
            <a:ext cx="351130" cy="351130"/>
          </a:xfrm>
          <a:prstGeom prst="rect">
            <a:avLst/>
          </a:prstGeom>
        </p:spPr>
      </p:pic>
      <p:sp>
        <p:nvSpPr>
          <p:cNvPr id="18" name="Text 13"/>
          <p:cNvSpPr txBox="1"/>
          <p:nvPr/>
        </p:nvSpPr>
        <p:spPr>
          <a:xfrm>
            <a:off x="825703" y="4297680"/>
            <a:ext cx="2971800" cy="411480"/>
          </a:xfrm>
          <a:prstGeom prst="rect">
            <a:avLst/>
          </a:prstGeom>
          <a:noFill/>
          <a:ln/>
        </p:spPr>
        <p:txBody>
          <a:bodyPr wrap="square" lIns="0" tIns="0" rIns="0" bIns="0" rtlCol="0" anchor="t"/>
          <a:lstStyle/>
          <a:p>
            <a:pPr rtl="1" algn="r" indent="0" marL="0">
              <a:buNone/>
            </a:pPr>
            <a:r>
              <a:rPr lang="ar-SA" altLang="en-US" sz="2000" b="1" dirty="0">
                <a:solidFill>
                  <a:schemeClr val="tx2"/>
                </a:solidFill>
              </a:rPr>
              <a:t>إعارة بسجلات ورقية</a:t>
            </a:r>
            <a:endParaRPr lang="ar-SA" sz="2000" dirty="0"/>
          </a:p>
        </p:txBody>
      </p:sp>
      <p:sp>
        <p:nvSpPr>
          <p:cNvPr id="19" name="Text 14"/>
          <p:cNvSpPr txBox="1"/>
          <p:nvPr/>
        </p:nvSpPr>
        <p:spPr>
          <a:xfrm>
            <a:off x="825703" y="4800600"/>
            <a:ext cx="2971800" cy="1051560"/>
          </a:xfrm>
          <a:prstGeom prst="rect">
            <a:avLst/>
          </a:prstGeom>
          <a:noFill/>
          <a:ln/>
        </p:spPr>
        <p:txBody>
          <a:bodyPr wrap="square" lIns="0" tIns="0" rIns="0" bIns="0" rtlCol="0" anchor="t"/>
          <a:lstStyle/>
          <a:p>
            <a:pPr rtl="1" algn="r" indent="0" marL="0">
              <a:buNone/>
            </a:pPr>
            <a:r>
              <a:rPr lang="ar-SA" altLang="en-US" sz="1500" dirty="0">
                <a:solidFill>
                  <a:schemeClr val="tx1"/>
                </a:solidFill>
              </a:rPr>
              <a:t>لا يعرف الزائر هل الكتاب متاح قبل أن يأتي، ولا تُتابع مواعيد الإرجاع بسهولة.</a:t>
            </a:r>
            <a:endParaRPr lang="ar-SA" sz="1500" dirty="0"/>
          </a:p>
        </p:txBody>
      </p:sp>
      <p:sp>
        <p:nvSpPr>
          <p:cNvPr id="25" name="Slide Number Placeholder 0"/>
          <p:cNvSpPr>
            <a:spLocks noGrp="1"/>
          </p:cNvSpPr>
          <p:nvPr>
            <p:ph type="sldNum" sz="quarter" idx="4294967295"/>
          </p:nvPr>
        </p:nvSpPr>
        <p:spPr>
          <a:xfrm>
            <a:off x="5486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47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1463040" y="347472"/>
            <a:ext cx="10177272" cy="731520"/>
          </a:xfrm>
          <a:prstGeom prst="rect">
            <a:avLst/>
          </a:prstGeom>
          <a:noFill/>
          <a:ln/>
        </p:spPr>
        <p:txBody>
          <a:bodyPr wrap="square" lIns="0" tIns="0" rIns="0" bIns="0" rtlCol="0" anchor="ctr"/>
          <a:lstStyle/>
          <a:p>
            <a:pPr rtl="1" algn="r" indent="0" marL="0">
              <a:buNone/>
            </a:pPr>
            <a:r>
              <a:rPr lang="en-US" sz="3200" b="1" dirty="0">
                <a:solidFill>
                  <a:schemeClr val="tx2"/>
                </a:solidFill>
              </a:rPr>
              <a:t>الحل: تطبيقان على قاعدة بيانات واحدة</a:t>
            </a:r>
            <a:endParaRPr lang="en-US" sz="3200" dirty="0"/>
          </a:p>
        </p:txBody>
      </p:sp>
      <p:sp>
        <p:nvSpPr>
          <p:cNvPr id="3" name="app card 1"/>
          <p:cNvSpPr/>
          <p:nvPr/>
        </p:nvSpPr>
        <p:spPr>
          <a:xfrm>
            <a:off x="6263640" y="1417320"/>
            <a:ext cx="5376672" cy="4069080"/>
          </a:xfrm>
          <a:prstGeom prst="roundRect">
            <a:avLst>
              <a:gd name="adj" fmla="val 2697"/>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pic>
        <p:nvPicPr>
          <p:cNvPr id="4" name="تطبيق الزائر screenshot" descr="/tmp/claude-0/-home-user-CLAUDE/0be54b07-c1ba-5b31-958a-45d5f68df334/scratchpad/deck/img/u_route.png">    </p:cNvPr>
          <p:cNvPicPr>
            <a:picLocks noChangeAspect="1"/>
          </p:cNvPicPr>
          <p:nvPr/>
        </p:nvPicPr>
        <p:blipFill>
          <a:blip r:embed="rId1"/>
          <a:stretch>
            <a:fillRect/>
          </a:stretch>
        </p:blipFill>
        <p:spPr>
          <a:xfrm>
            <a:off x="6537960" y="1554480"/>
            <a:ext cx="1707642" cy="3794760"/>
          </a:xfrm>
          <a:prstGeom prst="rect">
            <a:avLst/>
          </a:prstGeom>
        </p:spPr>
      </p:pic>
      <p:sp>
        <p:nvSpPr>
          <p:cNvPr id="5" name="app 1 circle"/>
          <p:cNvSpPr/>
          <p:nvPr/>
        </p:nvSpPr>
        <p:spPr>
          <a:xfrm>
            <a:off x="10725912" y="1691640"/>
            <a:ext cx="640080" cy="640080"/>
          </a:xfrm>
          <a:prstGeom prst="ellipse">
            <a:avLst/>
          </a:prstGeom>
          <a:solidFill>
            <a:schemeClr val="accent1"/>
          </a:solidFill>
          <a:ln w="12700">
            <a:solidFill>
              <a:schemeClr val="accent1"/>
            </a:solidFill>
            <a:prstDash val="solid"/>
          </a:ln>
        </p:spPr>
      </p:sp>
      <p:pic>
        <p:nvPicPr>
          <p:cNvPr id="6" name="app 1 icon" descr="preencoded.png">    </p:cNvPr>
          <p:cNvPicPr>
            <a:picLocks noChangeAspect="1"/>
          </p:cNvPicPr>
          <p:nvPr/>
        </p:nvPicPr>
        <p:blipFill>
          <a:blip r:embed="rId2"/>
          <a:stretch>
            <a:fillRect/>
          </a:stretch>
        </p:blipFill>
        <p:spPr>
          <a:xfrm>
            <a:off x="10892333" y="1858061"/>
            <a:ext cx="307238" cy="307238"/>
          </a:xfrm>
          <a:prstGeom prst="rect">
            <a:avLst/>
          </a:prstGeom>
        </p:spPr>
      </p:pic>
      <p:sp>
        <p:nvSpPr>
          <p:cNvPr id="7" name="Text 3"/>
          <p:cNvSpPr txBox="1"/>
          <p:nvPr/>
        </p:nvSpPr>
        <p:spPr>
          <a:xfrm>
            <a:off x="8366760" y="2423160"/>
            <a:ext cx="3017520" cy="457200"/>
          </a:xfrm>
          <a:prstGeom prst="rect">
            <a:avLst/>
          </a:prstGeom>
          <a:noFill/>
          <a:ln/>
        </p:spPr>
        <p:txBody>
          <a:bodyPr wrap="square" lIns="0" tIns="0" rIns="0" bIns="0" rtlCol="0" anchor="t"/>
          <a:lstStyle/>
          <a:p>
            <a:pPr rtl="1" algn="r" indent="0" marL="0">
              <a:buNone/>
            </a:pPr>
            <a:r>
              <a:rPr lang="ar-SA" altLang="en-US" sz="2200" b="1" dirty="0">
                <a:solidFill>
                  <a:schemeClr val="tx2"/>
                </a:solidFill>
              </a:rPr>
              <a:t>تطبيق الزائر</a:t>
            </a:r>
            <a:endParaRPr lang="ar-SA" sz="2200" dirty="0"/>
          </a:p>
        </p:txBody>
      </p:sp>
      <p:sp>
        <p:nvSpPr>
          <p:cNvPr id="8" name="Text 4"/>
          <p:cNvSpPr txBox="1"/>
          <p:nvPr/>
        </p:nvSpPr>
        <p:spPr>
          <a:xfrm>
            <a:off x="8366760" y="2971800"/>
            <a:ext cx="3017520" cy="2286000"/>
          </a:xfrm>
          <a:prstGeom prst="rect">
            <a:avLst/>
          </a:prstGeom>
          <a:noFill/>
          <a:ln/>
        </p:spPr>
        <p:txBody>
          <a:bodyPr wrap="square" lIns="0" tIns="0" rIns="0" bIns="0" rtlCol="0" anchor="t"/>
          <a:lstStyle/>
          <a:p>
            <a:pPr rtl="1" algn="r" indent="0" marL="0">
              <a:buNone/>
            </a:pPr>
            <a:r>
              <a:rPr lang="ar-SA" altLang="en-US" sz="1500" dirty="0">
                <a:solidFill>
                  <a:schemeClr val="tx1"/>
                </a:solidFill>
              </a:rPr>
              <a:t>يبحث عن الكتاب، ويعرف عنوانه الكامل، ويرى خريطة الدور والطريق إلى الرف، ويطلب إعارته ويتابعها.</a:t>
            </a:r>
            <a:endParaRPr lang="ar-SA" sz="1500" dirty="0"/>
          </a:p>
        </p:txBody>
      </p:sp>
      <p:sp>
        <p:nvSpPr>
          <p:cNvPr id="9" name="app card 2"/>
          <p:cNvSpPr/>
          <p:nvPr/>
        </p:nvSpPr>
        <p:spPr>
          <a:xfrm>
            <a:off x="548640" y="1417320"/>
            <a:ext cx="5376672" cy="4069080"/>
          </a:xfrm>
          <a:prstGeom prst="roundRect">
            <a:avLst>
              <a:gd name="adj" fmla="val 2697"/>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pic>
        <p:nvPicPr>
          <p:cNvPr id="10" name="تطبيق المشرف screenshot" descr="/tmp/claude-0/-home-user-CLAUDE/0be54b07-c1ba-5b31-958a-45d5f68df334/scratchpad/deck/img/a_dash.png">    </p:cNvPr>
          <p:cNvPicPr>
            <a:picLocks noChangeAspect="1"/>
          </p:cNvPicPr>
          <p:nvPr/>
        </p:nvPicPr>
        <p:blipFill>
          <a:blip r:embed="rId3"/>
          <a:stretch>
            <a:fillRect/>
          </a:stretch>
        </p:blipFill>
        <p:spPr>
          <a:xfrm>
            <a:off x="822960" y="1554480"/>
            <a:ext cx="1707642" cy="3794760"/>
          </a:xfrm>
          <a:prstGeom prst="rect">
            <a:avLst/>
          </a:prstGeom>
        </p:spPr>
      </p:pic>
      <p:sp>
        <p:nvSpPr>
          <p:cNvPr id="11" name="app 2 circle"/>
          <p:cNvSpPr/>
          <p:nvPr/>
        </p:nvSpPr>
        <p:spPr>
          <a:xfrm>
            <a:off x="5010912" y="1691640"/>
            <a:ext cx="640080" cy="640080"/>
          </a:xfrm>
          <a:prstGeom prst="ellipse">
            <a:avLst/>
          </a:prstGeom>
          <a:solidFill>
            <a:schemeClr val="accent1"/>
          </a:solidFill>
          <a:ln w="12700">
            <a:solidFill>
              <a:schemeClr val="accent1"/>
            </a:solidFill>
            <a:prstDash val="solid"/>
          </a:ln>
        </p:spPr>
      </p:sp>
      <p:pic>
        <p:nvPicPr>
          <p:cNvPr id="12" name="app 2 icon" descr="preencoded.png">    </p:cNvPr>
          <p:cNvPicPr>
            <a:picLocks noChangeAspect="1"/>
          </p:cNvPicPr>
          <p:nvPr/>
        </p:nvPicPr>
        <p:blipFill>
          <a:blip r:embed="rId4"/>
          <a:stretch>
            <a:fillRect/>
          </a:stretch>
        </p:blipFill>
        <p:spPr>
          <a:xfrm>
            <a:off x="5177333" y="1858061"/>
            <a:ext cx="307238" cy="307238"/>
          </a:xfrm>
          <a:prstGeom prst="rect">
            <a:avLst/>
          </a:prstGeom>
        </p:spPr>
      </p:pic>
      <p:sp>
        <p:nvSpPr>
          <p:cNvPr id="13" name="Text 7"/>
          <p:cNvSpPr txBox="1"/>
          <p:nvPr/>
        </p:nvSpPr>
        <p:spPr>
          <a:xfrm>
            <a:off x="2651760" y="2423160"/>
            <a:ext cx="3017520" cy="457200"/>
          </a:xfrm>
          <a:prstGeom prst="rect">
            <a:avLst/>
          </a:prstGeom>
          <a:noFill/>
          <a:ln/>
        </p:spPr>
        <p:txBody>
          <a:bodyPr wrap="square" lIns="0" tIns="0" rIns="0" bIns="0" rtlCol="0" anchor="t"/>
          <a:lstStyle/>
          <a:p>
            <a:pPr rtl="1" algn="r" indent="0" marL="0">
              <a:buNone/>
            </a:pPr>
            <a:r>
              <a:rPr lang="ar-SA" altLang="en-US" sz="2200" b="1" dirty="0">
                <a:solidFill>
                  <a:schemeClr val="tx2"/>
                </a:solidFill>
              </a:rPr>
              <a:t>تطبيق المشرف</a:t>
            </a:r>
            <a:endParaRPr lang="ar-SA" sz="2200" dirty="0"/>
          </a:p>
        </p:txBody>
      </p:sp>
      <p:sp>
        <p:nvSpPr>
          <p:cNvPr id="14" name="Text 8"/>
          <p:cNvSpPr txBox="1"/>
          <p:nvPr/>
        </p:nvSpPr>
        <p:spPr>
          <a:xfrm>
            <a:off x="2651760" y="2971800"/>
            <a:ext cx="3017520" cy="2286000"/>
          </a:xfrm>
          <a:prstGeom prst="rect">
            <a:avLst/>
          </a:prstGeom>
          <a:noFill/>
          <a:ln/>
        </p:spPr>
        <p:txBody>
          <a:bodyPr wrap="square" lIns="0" tIns="0" rIns="0" bIns="0" rtlCol="0" anchor="t"/>
          <a:lstStyle/>
          <a:p>
            <a:pPr rtl="1" algn="r" indent="0" marL="0">
              <a:buNone/>
            </a:pPr>
            <a:r>
              <a:rPr lang="ar-SA" altLang="en-US" sz="1500" dirty="0">
                <a:solidFill>
                  <a:schemeClr val="tx1"/>
                </a:solidFill>
              </a:rPr>
              <a:t>تعرّف أمينة المكتبة المبنى نفسه، وتدير الكتب والأعضاء والصلاحيات، وتراجع الإعارات وتشاهد التقارير.</a:t>
            </a:r>
            <a:endParaRPr lang="ar-SA" sz="1500" dirty="0"/>
          </a:p>
        </p:txBody>
      </p:sp>
      <p:sp>
        <p:nvSpPr>
          <p:cNvPr id="15" name="key idea"/>
          <p:cNvSpPr/>
          <p:nvPr/>
        </p:nvSpPr>
        <p:spPr>
          <a:xfrm>
            <a:off x="548640" y="5669280"/>
            <a:ext cx="11091672" cy="566928"/>
          </a:xfrm>
          <a:prstGeom prst="roundRect">
            <a:avLst>
              <a:gd name="adj" fmla="val 19355"/>
            </a:avLst>
          </a:prstGeom>
          <a:solidFill>
            <a:schemeClr val="accent1"/>
          </a:solidFill>
          <a:ln w="12700">
            <a:solidFill>
              <a:schemeClr val="accent1"/>
            </a:solidFill>
            <a:prstDash val="solid"/>
          </a:ln>
        </p:spPr>
      </p:sp>
      <p:sp>
        <p:nvSpPr>
          <p:cNvPr id="16" name="Text 10"/>
          <p:cNvSpPr txBox="1"/>
          <p:nvPr/>
        </p:nvSpPr>
        <p:spPr>
          <a:xfrm>
            <a:off x="822960" y="5669280"/>
            <a:ext cx="10543032" cy="566928"/>
          </a:xfrm>
          <a:prstGeom prst="rect">
            <a:avLst/>
          </a:prstGeom>
          <a:noFill/>
          <a:ln/>
        </p:spPr>
        <p:txBody>
          <a:bodyPr wrap="square" lIns="0" tIns="0" rIns="0" bIns="0" rtlCol="0" anchor="ctr"/>
          <a:lstStyle/>
          <a:p>
            <a:pPr rtl="1" algn="r" indent="0" marL="0">
              <a:buNone/>
            </a:pPr>
            <a:r>
              <a:rPr lang="ar-SA" altLang="en-US" sz="1600" b="1" dirty="0">
                <a:solidFill>
                  <a:schemeClr val="bg1"/>
                </a:solidFill>
              </a:rPr>
              <a:t>الفكرة الجوهرية: المبنى يُوصف كبيانات لا كصورة — فأي تغيير تجريه المشرفة يظهر على الخريطة في التطبيقين فورًا</a:t>
            </a:r>
            <a:endParaRPr lang="ar-SA" sz="1600" dirty="0"/>
          </a:p>
        </p:txBody>
      </p:sp>
      <p:sp>
        <p:nvSpPr>
          <p:cNvPr id="25" name="Slide Number Placeholder 0"/>
          <p:cNvSpPr>
            <a:spLocks noGrp="1"/>
          </p:cNvSpPr>
          <p:nvPr>
            <p:ph type="sldNum" sz="quarter" idx="4294967295"/>
          </p:nvPr>
        </p:nvSpPr>
        <p:spPr>
          <a:xfrm>
            <a:off x="5486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470"/>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1463040" y="347472"/>
            <a:ext cx="10177272" cy="731520"/>
          </a:xfrm>
          <a:prstGeom prst="rect">
            <a:avLst/>
          </a:prstGeom>
          <a:noFill/>
          <a:ln/>
        </p:spPr>
        <p:txBody>
          <a:bodyPr wrap="square" lIns="0" tIns="0" rIns="0" bIns="0" rtlCol="0" anchor="ctr"/>
          <a:lstStyle/>
          <a:p>
            <a:pPr rtl="1" algn="r" indent="0" marL="0">
              <a:buNone/>
            </a:pPr>
            <a:r>
              <a:rPr lang="en-US" sz="3200" b="1" dirty="0">
                <a:solidFill>
                  <a:schemeClr val="tx2"/>
                </a:solidFill>
              </a:rPr>
              <a:t>أهداف المشروع</a:t>
            </a:r>
            <a:endParaRPr lang="en-US" sz="3200" dirty="0"/>
          </a:p>
        </p:txBody>
      </p:sp>
      <p:sp>
        <p:nvSpPr>
          <p:cNvPr id="3" name="goal 1 circle"/>
          <p:cNvSpPr/>
          <p:nvPr/>
        </p:nvSpPr>
        <p:spPr>
          <a:xfrm>
            <a:off x="10911535" y="1371600"/>
            <a:ext cx="731520" cy="731520"/>
          </a:xfrm>
          <a:prstGeom prst="ellipse">
            <a:avLst/>
          </a:prstGeom>
          <a:solidFill>
            <a:schemeClr val="accent1"/>
          </a:solidFill>
          <a:ln w="12700">
            <a:solidFill>
              <a:schemeClr val="accent1"/>
            </a:solidFill>
            <a:prstDash val="solid"/>
          </a:ln>
        </p:spPr>
      </p:sp>
      <p:pic>
        <p:nvPicPr>
          <p:cNvPr id="4" name="goal 1 icon" descr="preencoded.png">    </p:cNvPr>
          <p:cNvPicPr>
            <a:picLocks noChangeAspect="1"/>
          </p:cNvPicPr>
          <p:nvPr/>
        </p:nvPicPr>
        <p:blipFill>
          <a:blip r:embed="rId1"/>
          <a:stretch>
            <a:fillRect/>
          </a:stretch>
        </p:blipFill>
        <p:spPr>
          <a:xfrm>
            <a:off x="11101730" y="1561795"/>
            <a:ext cx="351130" cy="351130"/>
          </a:xfrm>
          <a:prstGeom prst="rect">
            <a:avLst/>
          </a:prstGeom>
        </p:spPr>
      </p:pic>
      <p:sp>
        <p:nvSpPr>
          <p:cNvPr id="5" name="Text 2"/>
          <p:cNvSpPr txBox="1"/>
          <p:nvPr/>
        </p:nvSpPr>
        <p:spPr>
          <a:xfrm>
            <a:off x="5394960" y="1389888"/>
            <a:ext cx="5486400" cy="384048"/>
          </a:xfrm>
          <a:prstGeom prst="rect">
            <a:avLst/>
          </a:prstGeom>
          <a:noFill/>
          <a:ln/>
        </p:spPr>
        <p:txBody>
          <a:bodyPr wrap="square" lIns="0" tIns="0" rIns="0" bIns="0" rtlCol="0" anchor="t"/>
          <a:lstStyle/>
          <a:p>
            <a:pPr rtl="1" algn="r" indent="0" marL="0">
              <a:buNone/>
            </a:pPr>
            <a:r>
              <a:rPr lang="ar-SA" altLang="en-US" sz="2000" b="1" dirty="0">
                <a:solidFill>
                  <a:schemeClr val="tx2"/>
                </a:solidFill>
              </a:rPr>
              <a:t>إرشاد حتى مستوى الرف</a:t>
            </a:r>
            <a:endParaRPr lang="ar-SA" sz="2000" dirty="0"/>
          </a:p>
        </p:txBody>
      </p:sp>
      <p:sp>
        <p:nvSpPr>
          <p:cNvPr id="6" name="Text 3"/>
          <p:cNvSpPr txBox="1"/>
          <p:nvPr/>
        </p:nvSpPr>
        <p:spPr>
          <a:xfrm>
            <a:off x="5394960" y="1773936"/>
            <a:ext cx="5486400" cy="365760"/>
          </a:xfrm>
          <a:prstGeom prst="rect">
            <a:avLst/>
          </a:prstGeom>
          <a:noFill/>
          <a:ln/>
        </p:spPr>
        <p:txBody>
          <a:bodyPr wrap="square" lIns="0" tIns="0" rIns="0" bIns="0" rtlCol="0" anchor="t"/>
          <a:lstStyle/>
          <a:p>
            <a:pPr rtl="1" algn="r" indent="0" marL="0">
              <a:buNone/>
            </a:pPr>
            <a:r>
              <a:rPr lang="ar-SA" altLang="en-US" sz="1500" dirty="0">
                <a:solidFill>
                  <a:schemeClr val="tx1"/>
                </a:solidFill>
              </a:rPr>
              <a:t>عنوان كامل للكتاب وخريطة وطريق وصول بخطوات مكتوبة</a:t>
            </a:r>
            <a:endParaRPr lang="ar-SA" sz="1500" dirty="0"/>
          </a:p>
        </p:txBody>
      </p:sp>
      <p:sp>
        <p:nvSpPr>
          <p:cNvPr id="7" name="goal 2 circle"/>
          <p:cNvSpPr/>
          <p:nvPr/>
        </p:nvSpPr>
        <p:spPr>
          <a:xfrm>
            <a:off x="10911535" y="2322576"/>
            <a:ext cx="731520" cy="731520"/>
          </a:xfrm>
          <a:prstGeom prst="ellipse">
            <a:avLst/>
          </a:prstGeom>
          <a:solidFill>
            <a:schemeClr val="accent2"/>
          </a:solidFill>
          <a:ln w="12700">
            <a:solidFill>
              <a:schemeClr val="accent2"/>
            </a:solidFill>
            <a:prstDash val="solid"/>
          </a:ln>
        </p:spPr>
      </p:sp>
      <p:pic>
        <p:nvPicPr>
          <p:cNvPr id="8" name="goal 2 icon" descr="preencoded.png">    </p:cNvPr>
          <p:cNvPicPr>
            <a:picLocks noChangeAspect="1"/>
          </p:cNvPicPr>
          <p:nvPr/>
        </p:nvPicPr>
        <p:blipFill>
          <a:blip r:embed="rId2"/>
          <a:stretch>
            <a:fillRect/>
          </a:stretch>
        </p:blipFill>
        <p:spPr>
          <a:xfrm>
            <a:off x="11101730" y="2512771"/>
            <a:ext cx="351130" cy="351130"/>
          </a:xfrm>
          <a:prstGeom prst="rect">
            <a:avLst/>
          </a:prstGeom>
        </p:spPr>
      </p:pic>
      <p:sp>
        <p:nvSpPr>
          <p:cNvPr id="9" name="Text 5"/>
          <p:cNvSpPr txBox="1"/>
          <p:nvPr/>
        </p:nvSpPr>
        <p:spPr>
          <a:xfrm>
            <a:off x="5394960" y="2340864"/>
            <a:ext cx="5486400" cy="384048"/>
          </a:xfrm>
          <a:prstGeom prst="rect">
            <a:avLst/>
          </a:prstGeom>
          <a:noFill/>
          <a:ln/>
        </p:spPr>
        <p:txBody>
          <a:bodyPr wrap="square" lIns="0" tIns="0" rIns="0" bIns="0" rtlCol="0" anchor="t"/>
          <a:lstStyle/>
          <a:p>
            <a:pPr rtl="1" algn="r" indent="0" marL="0">
              <a:buNone/>
            </a:pPr>
            <a:r>
              <a:rPr lang="ar-SA" altLang="en-US" sz="2000" b="1" dirty="0">
                <a:solidFill>
                  <a:schemeClr val="tx2"/>
                </a:solidFill>
              </a:rPr>
              <a:t>مبنى قابل للتعديل</a:t>
            </a:r>
            <a:endParaRPr lang="ar-SA" sz="2000" dirty="0"/>
          </a:p>
        </p:txBody>
      </p:sp>
      <p:sp>
        <p:nvSpPr>
          <p:cNvPr id="10" name="Text 6"/>
          <p:cNvSpPr txBox="1"/>
          <p:nvPr/>
        </p:nvSpPr>
        <p:spPr>
          <a:xfrm>
            <a:off x="5394960" y="2724912"/>
            <a:ext cx="5486400" cy="365760"/>
          </a:xfrm>
          <a:prstGeom prst="rect">
            <a:avLst/>
          </a:prstGeom>
          <a:noFill/>
          <a:ln/>
        </p:spPr>
        <p:txBody>
          <a:bodyPr wrap="square" lIns="0" tIns="0" rIns="0" bIns="0" rtlCol="0" anchor="t"/>
          <a:lstStyle/>
          <a:p>
            <a:pPr rtl="1" algn="r" indent="0" marL="0">
              <a:buNone/>
            </a:pPr>
            <a:r>
              <a:rPr lang="ar-SA" altLang="en-US" sz="1500" dirty="0">
                <a:solidFill>
                  <a:schemeClr val="tx1"/>
                </a:solidFill>
              </a:rPr>
              <a:t>تعريف الأدوار والبلوكات والممرات والرفوف من داخل التطبيق</a:t>
            </a:r>
            <a:endParaRPr lang="ar-SA" sz="1500" dirty="0"/>
          </a:p>
        </p:txBody>
      </p:sp>
      <p:sp>
        <p:nvSpPr>
          <p:cNvPr id="11" name="goal 3 circle"/>
          <p:cNvSpPr/>
          <p:nvPr/>
        </p:nvSpPr>
        <p:spPr>
          <a:xfrm>
            <a:off x="10911535" y="3273552"/>
            <a:ext cx="731520" cy="731520"/>
          </a:xfrm>
          <a:prstGeom prst="ellipse">
            <a:avLst/>
          </a:prstGeom>
          <a:solidFill>
            <a:schemeClr val="accent1"/>
          </a:solidFill>
          <a:ln w="12700">
            <a:solidFill>
              <a:schemeClr val="accent1"/>
            </a:solidFill>
            <a:prstDash val="solid"/>
          </a:ln>
        </p:spPr>
      </p:sp>
      <p:pic>
        <p:nvPicPr>
          <p:cNvPr id="12" name="goal 3 icon" descr="preencoded.png">    </p:cNvPr>
          <p:cNvPicPr>
            <a:picLocks noChangeAspect="1"/>
          </p:cNvPicPr>
          <p:nvPr/>
        </p:nvPicPr>
        <p:blipFill>
          <a:blip r:embed="rId3"/>
          <a:stretch>
            <a:fillRect/>
          </a:stretch>
        </p:blipFill>
        <p:spPr>
          <a:xfrm>
            <a:off x="11101730" y="3463747"/>
            <a:ext cx="351130" cy="351130"/>
          </a:xfrm>
          <a:prstGeom prst="rect">
            <a:avLst/>
          </a:prstGeom>
        </p:spPr>
      </p:pic>
      <p:sp>
        <p:nvSpPr>
          <p:cNvPr id="13" name="Text 8"/>
          <p:cNvSpPr txBox="1"/>
          <p:nvPr/>
        </p:nvSpPr>
        <p:spPr>
          <a:xfrm>
            <a:off x="5394960" y="3291840"/>
            <a:ext cx="5486400" cy="384048"/>
          </a:xfrm>
          <a:prstGeom prst="rect">
            <a:avLst/>
          </a:prstGeom>
          <a:noFill/>
          <a:ln/>
        </p:spPr>
        <p:txBody>
          <a:bodyPr wrap="square" lIns="0" tIns="0" rIns="0" bIns="0" rtlCol="0" anchor="t"/>
          <a:lstStyle/>
          <a:p>
            <a:pPr rtl="1" algn="r" indent="0" marL="0">
              <a:buNone/>
            </a:pPr>
            <a:r>
              <a:rPr lang="ar-SA" altLang="en-US" sz="2000" b="1" dirty="0">
                <a:solidFill>
                  <a:schemeClr val="tx2"/>
                </a:solidFill>
              </a:rPr>
              <a:t>إعارة رقمية كاملة</a:t>
            </a:r>
            <a:endParaRPr lang="ar-SA" sz="2000" dirty="0"/>
          </a:p>
        </p:txBody>
      </p:sp>
      <p:sp>
        <p:nvSpPr>
          <p:cNvPr id="14" name="Text 9"/>
          <p:cNvSpPr txBox="1"/>
          <p:nvPr/>
        </p:nvSpPr>
        <p:spPr>
          <a:xfrm>
            <a:off x="5394960" y="3675888"/>
            <a:ext cx="5486400" cy="365760"/>
          </a:xfrm>
          <a:prstGeom prst="rect">
            <a:avLst/>
          </a:prstGeom>
          <a:noFill/>
          <a:ln/>
        </p:spPr>
        <p:txBody>
          <a:bodyPr wrap="square" lIns="0" tIns="0" rIns="0" bIns="0" rtlCol="0" anchor="t"/>
          <a:lstStyle/>
          <a:p>
            <a:pPr rtl="1" algn="r" indent="0" marL="0">
              <a:buNone/>
            </a:pPr>
            <a:r>
              <a:rPr lang="ar-SA" altLang="en-US" sz="1500" dirty="0">
                <a:solidFill>
                  <a:schemeClr val="tx1"/>
                </a:solidFill>
              </a:rPr>
              <a:t>من الطلب مع صورة الهوية حتى الإرجاع، مع تحكّم دقيق في التوفّر</a:t>
            </a:r>
            <a:endParaRPr lang="ar-SA" sz="1500" dirty="0"/>
          </a:p>
        </p:txBody>
      </p:sp>
      <p:sp>
        <p:nvSpPr>
          <p:cNvPr id="15" name="goal 4 circle"/>
          <p:cNvSpPr/>
          <p:nvPr/>
        </p:nvSpPr>
        <p:spPr>
          <a:xfrm>
            <a:off x="10911535" y="4224528"/>
            <a:ext cx="731520" cy="731520"/>
          </a:xfrm>
          <a:prstGeom prst="ellipse">
            <a:avLst/>
          </a:prstGeom>
          <a:solidFill>
            <a:schemeClr val="accent2"/>
          </a:solidFill>
          <a:ln w="12700">
            <a:solidFill>
              <a:schemeClr val="accent2"/>
            </a:solidFill>
            <a:prstDash val="solid"/>
          </a:ln>
        </p:spPr>
      </p:sp>
      <p:pic>
        <p:nvPicPr>
          <p:cNvPr id="16" name="goal 4 icon" descr="preencoded.png">    </p:cNvPr>
          <p:cNvPicPr>
            <a:picLocks noChangeAspect="1"/>
          </p:cNvPicPr>
          <p:nvPr/>
        </p:nvPicPr>
        <p:blipFill>
          <a:blip r:embed="rId4"/>
          <a:stretch>
            <a:fillRect/>
          </a:stretch>
        </p:blipFill>
        <p:spPr>
          <a:xfrm>
            <a:off x="11101730" y="4414723"/>
            <a:ext cx="351130" cy="351130"/>
          </a:xfrm>
          <a:prstGeom prst="rect">
            <a:avLst/>
          </a:prstGeom>
        </p:spPr>
      </p:pic>
      <p:sp>
        <p:nvSpPr>
          <p:cNvPr id="17" name="Text 11"/>
          <p:cNvSpPr txBox="1"/>
          <p:nvPr/>
        </p:nvSpPr>
        <p:spPr>
          <a:xfrm>
            <a:off x="5394960" y="4242816"/>
            <a:ext cx="5486400" cy="384048"/>
          </a:xfrm>
          <a:prstGeom prst="rect">
            <a:avLst/>
          </a:prstGeom>
          <a:noFill/>
          <a:ln/>
        </p:spPr>
        <p:txBody>
          <a:bodyPr wrap="square" lIns="0" tIns="0" rIns="0" bIns="0" rtlCol="0" anchor="t"/>
          <a:lstStyle/>
          <a:p>
            <a:pPr rtl="1" algn="r" indent="0" marL="0">
              <a:buNone/>
            </a:pPr>
            <a:r>
              <a:rPr lang="ar-SA" altLang="en-US" sz="2000" b="1" dirty="0">
                <a:solidFill>
                  <a:schemeClr val="tx2"/>
                </a:solidFill>
              </a:rPr>
              <a:t>صلاحيات آمنة</a:t>
            </a:r>
            <a:endParaRPr lang="ar-SA" sz="2000" dirty="0"/>
          </a:p>
        </p:txBody>
      </p:sp>
      <p:sp>
        <p:nvSpPr>
          <p:cNvPr id="18" name="Text 12"/>
          <p:cNvSpPr txBox="1"/>
          <p:nvPr/>
        </p:nvSpPr>
        <p:spPr>
          <a:xfrm>
            <a:off x="5394960" y="4626864"/>
            <a:ext cx="5486400" cy="365760"/>
          </a:xfrm>
          <a:prstGeom prst="rect">
            <a:avLst/>
          </a:prstGeom>
          <a:noFill/>
          <a:ln/>
        </p:spPr>
        <p:txBody>
          <a:bodyPr wrap="square" lIns="0" tIns="0" rIns="0" bIns="0" rtlCol="0" anchor="t"/>
          <a:lstStyle/>
          <a:p>
            <a:pPr rtl="1" algn="r" indent="0" marL="0">
              <a:buNone/>
            </a:pPr>
            <a:r>
              <a:rPr lang="ar-SA" altLang="en-US" sz="1500" dirty="0">
                <a:solidFill>
                  <a:schemeClr val="tx1"/>
                </a:solidFill>
              </a:rPr>
              <a:t>قواعد أمان على الخادم تمنع أي تعديل من غير المشرفين</a:t>
            </a:r>
            <a:endParaRPr lang="ar-SA" sz="1500" dirty="0"/>
          </a:p>
        </p:txBody>
      </p:sp>
      <p:sp>
        <p:nvSpPr>
          <p:cNvPr id="19" name="goal 5 circle"/>
          <p:cNvSpPr/>
          <p:nvPr/>
        </p:nvSpPr>
        <p:spPr>
          <a:xfrm>
            <a:off x="10911535" y="5175504"/>
            <a:ext cx="731520" cy="731520"/>
          </a:xfrm>
          <a:prstGeom prst="ellipse">
            <a:avLst/>
          </a:prstGeom>
          <a:solidFill>
            <a:schemeClr val="accent1"/>
          </a:solidFill>
          <a:ln w="12700">
            <a:solidFill>
              <a:schemeClr val="accent1"/>
            </a:solidFill>
            <a:prstDash val="solid"/>
          </a:ln>
        </p:spPr>
      </p:sp>
      <p:pic>
        <p:nvPicPr>
          <p:cNvPr id="20" name="goal 5 icon" descr="preencoded.png">    </p:cNvPr>
          <p:cNvPicPr>
            <a:picLocks noChangeAspect="1"/>
          </p:cNvPicPr>
          <p:nvPr/>
        </p:nvPicPr>
        <p:blipFill>
          <a:blip r:embed="rId5"/>
          <a:stretch>
            <a:fillRect/>
          </a:stretch>
        </p:blipFill>
        <p:spPr>
          <a:xfrm>
            <a:off x="11101730" y="5365699"/>
            <a:ext cx="351130" cy="351130"/>
          </a:xfrm>
          <a:prstGeom prst="rect">
            <a:avLst/>
          </a:prstGeom>
        </p:spPr>
      </p:pic>
      <p:sp>
        <p:nvSpPr>
          <p:cNvPr id="21" name="Text 14"/>
          <p:cNvSpPr txBox="1"/>
          <p:nvPr/>
        </p:nvSpPr>
        <p:spPr>
          <a:xfrm>
            <a:off x="5394960" y="5193792"/>
            <a:ext cx="5486400" cy="384048"/>
          </a:xfrm>
          <a:prstGeom prst="rect">
            <a:avLst/>
          </a:prstGeom>
          <a:noFill/>
          <a:ln/>
        </p:spPr>
        <p:txBody>
          <a:bodyPr wrap="square" lIns="0" tIns="0" rIns="0" bIns="0" rtlCol="0" anchor="t"/>
          <a:lstStyle/>
          <a:p>
            <a:pPr rtl="1" algn="r" indent="0" marL="0">
              <a:buNone/>
            </a:pPr>
            <a:r>
              <a:rPr lang="ar-SA" altLang="en-US" sz="2000" b="1" dirty="0">
                <a:solidFill>
                  <a:schemeClr val="tx2"/>
                </a:solidFill>
              </a:rPr>
              <a:t>واجهة لكل المستخدمين</a:t>
            </a:r>
            <a:endParaRPr lang="ar-SA" sz="2000" dirty="0"/>
          </a:p>
        </p:txBody>
      </p:sp>
      <p:sp>
        <p:nvSpPr>
          <p:cNvPr id="22" name="Text 15"/>
          <p:cNvSpPr txBox="1"/>
          <p:nvPr/>
        </p:nvSpPr>
        <p:spPr>
          <a:xfrm>
            <a:off x="5394960" y="5577840"/>
            <a:ext cx="5486400" cy="365760"/>
          </a:xfrm>
          <a:prstGeom prst="rect">
            <a:avLst/>
          </a:prstGeom>
          <a:noFill/>
          <a:ln/>
        </p:spPr>
        <p:txBody>
          <a:bodyPr wrap="square" lIns="0" tIns="0" rIns="0" bIns="0" rtlCol="0" anchor="t"/>
          <a:lstStyle/>
          <a:p>
            <a:pPr rtl="1" algn="r" indent="0" marL="0">
              <a:buNone/>
            </a:pPr>
            <a:r>
              <a:rPr lang="ar-SA" altLang="en-US" sz="1500" dirty="0">
                <a:solidFill>
                  <a:schemeClr val="tx1"/>
                </a:solidFill>
              </a:rPr>
              <a:t>عربي وإنجليزي، وفاتح وداكن، وتصميم واضح وسهل</a:t>
            </a:r>
            <a:endParaRPr lang="ar-SA" sz="1500" dirty="0"/>
          </a:p>
        </p:txBody>
      </p:sp>
      <p:pic>
        <p:nvPicPr>
          <p:cNvPr id="23" name="book detail screenshot" descr="/tmp/claude-0/-home-user-CLAUDE/0be54b07-c1ba-5b31-958a-45d5f68df334/scratchpad/deck/img/u_detail.png">    </p:cNvPr>
          <p:cNvPicPr>
            <a:picLocks noChangeAspect="1"/>
          </p:cNvPicPr>
          <p:nvPr/>
        </p:nvPicPr>
        <p:blipFill>
          <a:blip r:embed="rId6"/>
          <a:stretch>
            <a:fillRect/>
          </a:stretch>
        </p:blipFill>
        <p:spPr>
          <a:xfrm>
            <a:off x="1005840" y="1234440"/>
            <a:ext cx="2242566" cy="4983480"/>
          </a:xfrm>
          <a:prstGeom prst="rect">
            <a:avLst/>
          </a:prstGeom>
        </p:spPr>
      </p:pic>
      <p:pic>
        <p:nvPicPr>
          <p:cNvPr id="24" name="home screenshot" descr="/tmp/claude-0/-home-user-CLAUDE/0be54b07-c1ba-5b31-958a-45d5f68df334/scratchpad/deck/img/u_home.png">    </p:cNvPr>
          <p:cNvPicPr>
            <a:picLocks noChangeAspect="1"/>
          </p:cNvPicPr>
          <p:nvPr/>
        </p:nvPicPr>
        <p:blipFill>
          <a:blip r:embed="rId7"/>
          <a:stretch>
            <a:fillRect/>
          </a:stretch>
        </p:blipFill>
        <p:spPr>
          <a:xfrm>
            <a:off x="2743200" y="1600200"/>
            <a:ext cx="2036826" cy="4526280"/>
          </a:xfrm>
          <a:prstGeom prst="rect">
            <a:avLst/>
          </a:prstGeom>
        </p:spPr>
      </p:pic>
      <p:sp>
        <p:nvSpPr>
          <p:cNvPr id="25" name="Slide Number Placeholder 0"/>
          <p:cNvSpPr>
            <a:spLocks noGrp="1"/>
          </p:cNvSpPr>
          <p:nvPr>
            <p:ph type="sldNum" sz="quarter" idx="4294967295"/>
          </p:nvPr>
        </p:nvSpPr>
        <p:spPr>
          <a:xfrm>
            <a:off x="5486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470"/>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1463040" y="347472"/>
            <a:ext cx="10177272" cy="731520"/>
          </a:xfrm>
          <a:prstGeom prst="rect">
            <a:avLst/>
          </a:prstGeom>
          <a:noFill/>
          <a:ln/>
        </p:spPr>
        <p:txBody>
          <a:bodyPr wrap="square" lIns="0" tIns="0" rIns="0" bIns="0" rtlCol="0" anchor="ctr"/>
          <a:lstStyle/>
          <a:p>
            <a:pPr rtl="1" algn="r" indent="0" marL="0">
              <a:buNone/>
            </a:pPr>
            <a:r>
              <a:rPr lang="en-US" sz="3200" b="1" dirty="0">
                <a:solidFill>
                  <a:schemeClr val="tx2"/>
                </a:solidFill>
              </a:rPr>
              <a:t>الفئة المستهدفة</a:t>
            </a:r>
            <a:endParaRPr lang="en-US" sz="3200" dirty="0"/>
          </a:p>
        </p:txBody>
      </p:sp>
      <p:sp>
        <p:nvSpPr>
          <p:cNvPr id="3" name="audience card 1"/>
          <p:cNvSpPr/>
          <p:nvPr/>
        </p:nvSpPr>
        <p:spPr>
          <a:xfrm>
            <a:off x="9585655" y="1600200"/>
            <a:ext cx="2057400" cy="3657600"/>
          </a:xfrm>
          <a:prstGeom prst="roundRect">
            <a:avLst>
              <a:gd name="adj" fmla="val 5333"/>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4" name="audience 1 circle"/>
          <p:cNvSpPr/>
          <p:nvPr/>
        </p:nvSpPr>
        <p:spPr>
          <a:xfrm>
            <a:off x="10157155" y="1920240"/>
            <a:ext cx="914400" cy="914400"/>
          </a:xfrm>
          <a:prstGeom prst="ellipse">
            <a:avLst/>
          </a:prstGeom>
          <a:solidFill>
            <a:schemeClr val="accent1"/>
          </a:solidFill>
          <a:ln w="12700">
            <a:solidFill>
              <a:schemeClr val="accent1"/>
            </a:solidFill>
            <a:prstDash val="solid"/>
          </a:ln>
        </p:spPr>
      </p:sp>
      <p:pic>
        <p:nvPicPr>
          <p:cNvPr id="5" name="audience 1 icon" descr="preencoded.png">    </p:cNvPr>
          <p:cNvPicPr>
            <a:picLocks noChangeAspect="1"/>
          </p:cNvPicPr>
          <p:nvPr/>
        </p:nvPicPr>
        <p:blipFill>
          <a:blip r:embed="rId1"/>
          <a:stretch>
            <a:fillRect/>
          </a:stretch>
        </p:blipFill>
        <p:spPr>
          <a:xfrm>
            <a:off x="10394899" y="2157984"/>
            <a:ext cx="438912" cy="438912"/>
          </a:xfrm>
          <a:prstGeom prst="rect">
            <a:avLst/>
          </a:prstGeom>
        </p:spPr>
      </p:pic>
      <p:sp>
        <p:nvSpPr>
          <p:cNvPr id="6" name="Text 3"/>
          <p:cNvSpPr txBox="1"/>
          <p:nvPr/>
        </p:nvSpPr>
        <p:spPr>
          <a:xfrm>
            <a:off x="9722815" y="3017520"/>
            <a:ext cx="1783080" cy="731520"/>
          </a:xfrm>
          <a:prstGeom prst="rect">
            <a:avLst/>
          </a:prstGeom>
          <a:noFill/>
          <a:ln/>
        </p:spPr>
        <p:txBody>
          <a:bodyPr wrap="square" lIns="0" tIns="0" rIns="0" bIns="0" rtlCol="0" anchor="ctr"/>
          <a:lstStyle/>
          <a:p>
            <a:pPr rtl="1" algn="ctr" indent="0" marL="0">
              <a:buNone/>
            </a:pPr>
            <a:r>
              <a:rPr lang="en-US" sz="1700" b="1" dirty="0">
                <a:solidFill>
                  <a:schemeClr val="tx2"/>
                </a:solidFill>
              </a:rPr>
              <a:t>طالبات الكلية</a:t>
            </a:r>
            <a:endParaRPr lang="en-US" sz="1700" dirty="0"/>
          </a:p>
        </p:txBody>
      </p:sp>
      <p:sp>
        <p:nvSpPr>
          <p:cNvPr id="7" name="Text 4"/>
          <p:cNvSpPr txBox="1"/>
          <p:nvPr/>
        </p:nvSpPr>
        <p:spPr>
          <a:xfrm>
            <a:off x="9722815" y="3794760"/>
            <a:ext cx="1783080" cy="1325880"/>
          </a:xfrm>
          <a:prstGeom prst="rect">
            <a:avLst/>
          </a:prstGeom>
          <a:noFill/>
          <a:ln/>
        </p:spPr>
        <p:txBody>
          <a:bodyPr wrap="square" lIns="0" tIns="0" rIns="0" bIns="0" rtlCol="0" anchor="t"/>
          <a:lstStyle/>
          <a:p>
            <a:pPr rtl="1" algn="ctr" indent="0" marL="0">
              <a:buNone/>
            </a:pPr>
            <a:r>
              <a:rPr lang="en-US" sz="1400" dirty="0">
                <a:solidFill>
                  <a:schemeClr val="tx1"/>
                </a:solidFill>
              </a:rPr>
              <a:t>البحث عن كتاب محدّد بين مئات الرفوف دون معرفة مسبقة بترتيب المكتبة</a:t>
            </a:r>
            <a:endParaRPr lang="en-US" sz="1400" dirty="0"/>
          </a:p>
        </p:txBody>
      </p:sp>
      <p:sp>
        <p:nvSpPr>
          <p:cNvPr id="8" name="audience card 2"/>
          <p:cNvSpPr/>
          <p:nvPr/>
        </p:nvSpPr>
        <p:spPr>
          <a:xfrm>
            <a:off x="7327087" y="1600200"/>
            <a:ext cx="2057400" cy="3657600"/>
          </a:xfrm>
          <a:prstGeom prst="roundRect">
            <a:avLst>
              <a:gd name="adj" fmla="val 5333"/>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9" name="audience 2 circle"/>
          <p:cNvSpPr/>
          <p:nvPr/>
        </p:nvSpPr>
        <p:spPr>
          <a:xfrm>
            <a:off x="7898587" y="1920240"/>
            <a:ext cx="914400" cy="914400"/>
          </a:xfrm>
          <a:prstGeom prst="ellipse">
            <a:avLst/>
          </a:prstGeom>
          <a:solidFill>
            <a:schemeClr val="accent1"/>
          </a:solidFill>
          <a:ln w="12700">
            <a:solidFill>
              <a:schemeClr val="accent1"/>
            </a:solidFill>
            <a:prstDash val="solid"/>
          </a:ln>
        </p:spPr>
      </p:sp>
      <p:pic>
        <p:nvPicPr>
          <p:cNvPr id="10" name="audience 2 icon" descr="preencoded.png">    </p:cNvPr>
          <p:cNvPicPr>
            <a:picLocks noChangeAspect="1"/>
          </p:cNvPicPr>
          <p:nvPr/>
        </p:nvPicPr>
        <p:blipFill>
          <a:blip r:embed="rId2"/>
          <a:stretch>
            <a:fillRect/>
          </a:stretch>
        </p:blipFill>
        <p:spPr>
          <a:xfrm>
            <a:off x="8136331" y="2157984"/>
            <a:ext cx="438912" cy="438912"/>
          </a:xfrm>
          <a:prstGeom prst="rect">
            <a:avLst/>
          </a:prstGeom>
        </p:spPr>
      </p:pic>
      <p:sp>
        <p:nvSpPr>
          <p:cNvPr id="11" name="Text 7"/>
          <p:cNvSpPr txBox="1"/>
          <p:nvPr/>
        </p:nvSpPr>
        <p:spPr>
          <a:xfrm>
            <a:off x="7464247" y="3017520"/>
            <a:ext cx="1783080" cy="731520"/>
          </a:xfrm>
          <a:prstGeom prst="rect">
            <a:avLst/>
          </a:prstGeom>
          <a:noFill/>
          <a:ln/>
        </p:spPr>
        <p:txBody>
          <a:bodyPr wrap="square" lIns="0" tIns="0" rIns="0" bIns="0" rtlCol="0" anchor="ctr"/>
          <a:lstStyle/>
          <a:p>
            <a:pPr rtl="1" algn="ctr" indent="0" marL="0">
              <a:buNone/>
            </a:pPr>
            <a:r>
              <a:rPr lang="en-US" sz="1700" b="1" dirty="0">
                <a:solidFill>
                  <a:schemeClr val="tx2"/>
                </a:solidFill>
              </a:rPr>
              <a:t>أعضاء هيئة التدريس</a:t>
            </a:r>
            <a:endParaRPr lang="en-US" sz="1700" dirty="0"/>
          </a:p>
        </p:txBody>
      </p:sp>
      <p:sp>
        <p:nvSpPr>
          <p:cNvPr id="12" name="Text 8"/>
          <p:cNvSpPr txBox="1"/>
          <p:nvPr/>
        </p:nvSpPr>
        <p:spPr>
          <a:xfrm>
            <a:off x="7464247" y="3794760"/>
            <a:ext cx="1783080" cy="1325880"/>
          </a:xfrm>
          <a:prstGeom prst="rect">
            <a:avLst/>
          </a:prstGeom>
          <a:noFill/>
          <a:ln/>
        </p:spPr>
        <p:txBody>
          <a:bodyPr wrap="square" lIns="0" tIns="0" rIns="0" bIns="0" rtlCol="0" anchor="t"/>
          <a:lstStyle/>
          <a:p>
            <a:pPr rtl="1" algn="ctr" indent="0" marL="0">
              <a:buNone/>
            </a:pPr>
            <a:r>
              <a:rPr lang="en-US" sz="1400" dirty="0">
                <a:solidFill>
                  <a:schemeClr val="tx1"/>
                </a:solidFill>
              </a:rPr>
              <a:t>الوصول السريع لمرجع أثناء التحضير أو البحث</a:t>
            </a:r>
            <a:endParaRPr lang="en-US" sz="1400" dirty="0"/>
          </a:p>
        </p:txBody>
      </p:sp>
      <p:sp>
        <p:nvSpPr>
          <p:cNvPr id="13" name="audience card 3"/>
          <p:cNvSpPr/>
          <p:nvPr/>
        </p:nvSpPr>
        <p:spPr>
          <a:xfrm>
            <a:off x="5068519" y="1600200"/>
            <a:ext cx="2057400" cy="3657600"/>
          </a:xfrm>
          <a:prstGeom prst="roundRect">
            <a:avLst>
              <a:gd name="adj" fmla="val 5333"/>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14" name="audience 3 circle"/>
          <p:cNvSpPr/>
          <p:nvPr/>
        </p:nvSpPr>
        <p:spPr>
          <a:xfrm>
            <a:off x="5640019" y="1920240"/>
            <a:ext cx="914400" cy="914400"/>
          </a:xfrm>
          <a:prstGeom prst="ellipse">
            <a:avLst/>
          </a:prstGeom>
          <a:solidFill>
            <a:schemeClr val="accent2"/>
          </a:solidFill>
          <a:ln w="12700">
            <a:solidFill>
              <a:schemeClr val="accent2"/>
            </a:solidFill>
            <a:prstDash val="solid"/>
          </a:ln>
        </p:spPr>
      </p:sp>
      <p:pic>
        <p:nvPicPr>
          <p:cNvPr id="15" name="audience 3 icon" descr="preencoded.png">    </p:cNvPr>
          <p:cNvPicPr>
            <a:picLocks noChangeAspect="1"/>
          </p:cNvPicPr>
          <p:nvPr/>
        </p:nvPicPr>
        <p:blipFill>
          <a:blip r:embed="rId3"/>
          <a:stretch>
            <a:fillRect/>
          </a:stretch>
        </p:blipFill>
        <p:spPr>
          <a:xfrm>
            <a:off x="5877763" y="2157984"/>
            <a:ext cx="438912" cy="438912"/>
          </a:xfrm>
          <a:prstGeom prst="rect">
            <a:avLst/>
          </a:prstGeom>
        </p:spPr>
      </p:pic>
      <p:sp>
        <p:nvSpPr>
          <p:cNvPr id="16" name="Text 11"/>
          <p:cNvSpPr txBox="1"/>
          <p:nvPr/>
        </p:nvSpPr>
        <p:spPr>
          <a:xfrm>
            <a:off x="5205679" y="3017520"/>
            <a:ext cx="1783080" cy="731520"/>
          </a:xfrm>
          <a:prstGeom prst="rect">
            <a:avLst/>
          </a:prstGeom>
          <a:noFill/>
          <a:ln/>
        </p:spPr>
        <p:txBody>
          <a:bodyPr wrap="square" lIns="0" tIns="0" rIns="0" bIns="0" rtlCol="0" anchor="ctr"/>
          <a:lstStyle/>
          <a:p>
            <a:pPr rtl="1" algn="ctr" indent="0" marL="0">
              <a:buNone/>
            </a:pPr>
            <a:r>
              <a:rPr lang="en-US" sz="1700" b="1" dirty="0">
                <a:solidFill>
                  <a:schemeClr val="tx2"/>
                </a:solidFill>
              </a:rPr>
              <a:t>أمينات المكتبة</a:t>
            </a:r>
            <a:endParaRPr lang="en-US" sz="1700" dirty="0"/>
          </a:p>
        </p:txBody>
      </p:sp>
      <p:sp>
        <p:nvSpPr>
          <p:cNvPr id="17" name="Text 12"/>
          <p:cNvSpPr txBox="1"/>
          <p:nvPr/>
        </p:nvSpPr>
        <p:spPr>
          <a:xfrm>
            <a:off x="5205679" y="3794760"/>
            <a:ext cx="1783080" cy="1325880"/>
          </a:xfrm>
          <a:prstGeom prst="rect">
            <a:avLst/>
          </a:prstGeom>
          <a:noFill/>
          <a:ln/>
        </p:spPr>
        <p:txBody>
          <a:bodyPr wrap="square" lIns="0" tIns="0" rIns="0" bIns="0" rtlCol="0" anchor="t"/>
          <a:lstStyle/>
          <a:p>
            <a:pPr rtl="1" algn="ctr" indent="0" marL="0">
              <a:buNone/>
            </a:pPr>
            <a:r>
              <a:rPr lang="en-US" sz="1400" dirty="0">
                <a:solidFill>
                  <a:schemeClr val="tx1"/>
                </a:solidFill>
              </a:rPr>
              <a:t>أداة بديلة عن السجلات الورقية لإدارة الفهرس والرفوف والأعضاء</a:t>
            </a:r>
            <a:endParaRPr lang="en-US" sz="1400" dirty="0"/>
          </a:p>
        </p:txBody>
      </p:sp>
      <p:sp>
        <p:nvSpPr>
          <p:cNvPr id="18" name="audience card 4"/>
          <p:cNvSpPr/>
          <p:nvPr/>
        </p:nvSpPr>
        <p:spPr>
          <a:xfrm>
            <a:off x="2809951" y="1600200"/>
            <a:ext cx="2057400" cy="3657600"/>
          </a:xfrm>
          <a:prstGeom prst="roundRect">
            <a:avLst>
              <a:gd name="adj" fmla="val 5333"/>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19" name="audience 4 circle"/>
          <p:cNvSpPr/>
          <p:nvPr/>
        </p:nvSpPr>
        <p:spPr>
          <a:xfrm>
            <a:off x="3381451" y="1920240"/>
            <a:ext cx="914400" cy="914400"/>
          </a:xfrm>
          <a:prstGeom prst="ellipse">
            <a:avLst/>
          </a:prstGeom>
          <a:solidFill>
            <a:schemeClr val="accent1"/>
          </a:solidFill>
          <a:ln w="12700">
            <a:solidFill>
              <a:schemeClr val="accent1"/>
            </a:solidFill>
            <a:prstDash val="solid"/>
          </a:ln>
        </p:spPr>
      </p:sp>
      <p:pic>
        <p:nvPicPr>
          <p:cNvPr id="20" name="audience 4 icon" descr="preencoded.png">    </p:cNvPr>
          <p:cNvPicPr>
            <a:picLocks noChangeAspect="1"/>
          </p:cNvPicPr>
          <p:nvPr/>
        </p:nvPicPr>
        <p:blipFill>
          <a:blip r:embed="rId4"/>
          <a:stretch>
            <a:fillRect/>
          </a:stretch>
        </p:blipFill>
        <p:spPr>
          <a:xfrm>
            <a:off x="3619195" y="2157984"/>
            <a:ext cx="438912" cy="438912"/>
          </a:xfrm>
          <a:prstGeom prst="rect">
            <a:avLst/>
          </a:prstGeom>
        </p:spPr>
      </p:pic>
      <p:sp>
        <p:nvSpPr>
          <p:cNvPr id="21" name="Text 15"/>
          <p:cNvSpPr txBox="1"/>
          <p:nvPr/>
        </p:nvSpPr>
        <p:spPr>
          <a:xfrm>
            <a:off x="2947111" y="3017520"/>
            <a:ext cx="1783080" cy="731520"/>
          </a:xfrm>
          <a:prstGeom prst="rect">
            <a:avLst/>
          </a:prstGeom>
          <a:noFill/>
          <a:ln/>
        </p:spPr>
        <p:txBody>
          <a:bodyPr wrap="square" lIns="0" tIns="0" rIns="0" bIns="0" rtlCol="0" anchor="ctr"/>
          <a:lstStyle/>
          <a:p>
            <a:pPr rtl="1" algn="ctr" indent="0" marL="0">
              <a:buNone/>
            </a:pPr>
            <a:r>
              <a:rPr lang="en-US" sz="1700" b="1" dirty="0">
                <a:solidFill>
                  <a:schemeClr val="tx2"/>
                </a:solidFill>
              </a:rPr>
              <a:t>الزوار من خارج الكلية</a:t>
            </a:r>
            <a:endParaRPr lang="en-US" sz="1700" dirty="0"/>
          </a:p>
        </p:txBody>
      </p:sp>
      <p:sp>
        <p:nvSpPr>
          <p:cNvPr id="22" name="Text 16"/>
          <p:cNvSpPr txBox="1"/>
          <p:nvPr/>
        </p:nvSpPr>
        <p:spPr>
          <a:xfrm>
            <a:off x="2947111" y="3794760"/>
            <a:ext cx="1783080" cy="1325880"/>
          </a:xfrm>
          <a:prstGeom prst="rect">
            <a:avLst/>
          </a:prstGeom>
          <a:noFill/>
          <a:ln/>
        </p:spPr>
        <p:txBody>
          <a:bodyPr wrap="square" lIns="0" tIns="0" rIns="0" bIns="0" rtlCol="0" anchor="t"/>
          <a:lstStyle/>
          <a:p>
            <a:pPr rtl="1" algn="ctr" indent="0" marL="0">
              <a:buNone/>
            </a:pPr>
            <a:r>
              <a:rPr lang="en-US" sz="1400" dirty="0">
                <a:solidFill>
                  <a:schemeClr val="tx1"/>
                </a:solidFill>
              </a:rPr>
              <a:t>معرفة موقع الكتاب وتوفّره قبل الذهاب إلى المكتبة</a:t>
            </a:r>
            <a:endParaRPr lang="en-US" sz="1400" dirty="0"/>
          </a:p>
        </p:txBody>
      </p:sp>
      <p:sp>
        <p:nvSpPr>
          <p:cNvPr id="23" name="audience card 5"/>
          <p:cNvSpPr/>
          <p:nvPr/>
        </p:nvSpPr>
        <p:spPr>
          <a:xfrm>
            <a:off x="551383" y="1600200"/>
            <a:ext cx="2057400" cy="3657600"/>
          </a:xfrm>
          <a:prstGeom prst="roundRect">
            <a:avLst>
              <a:gd name="adj" fmla="val 5333"/>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24" name="audience 5 circle"/>
          <p:cNvSpPr/>
          <p:nvPr/>
        </p:nvSpPr>
        <p:spPr>
          <a:xfrm>
            <a:off x="1122883" y="1920240"/>
            <a:ext cx="914400" cy="914400"/>
          </a:xfrm>
          <a:prstGeom prst="ellipse">
            <a:avLst/>
          </a:prstGeom>
          <a:solidFill>
            <a:schemeClr val="accent1"/>
          </a:solidFill>
          <a:ln w="12700">
            <a:solidFill>
              <a:schemeClr val="accent1"/>
            </a:solidFill>
            <a:prstDash val="solid"/>
          </a:ln>
        </p:spPr>
      </p:sp>
      <p:pic>
        <p:nvPicPr>
          <p:cNvPr id="25" name="audience 5 icon" descr="preencoded.png">    </p:cNvPr>
          <p:cNvPicPr>
            <a:picLocks noChangeAspect="1"/>
          </p:cNvPicPr>
          <p:nvPr/>
        </p:nvPicPr>
        <p:blipFill>
          <a:blip r:embed="rId5"/>
          <a:stretch>
            <a:fillRect/>
          </a:stretch>
        </p:blipFill>
        <p:spPr>
          <a:xfrm>
            <a:off x="1360627" y="2157984"/>
            <a:ext cx="438912" cy="438912"/>
          </a:xfrm>
          <a:prstGeom prst="rect">
            <a:avLst/>
          </a:prstGeom>
        </p:spPr>
      </p:pic>
      <p:sp>
        <p:nvSpPr>
          <p:cNvPr id="26" name="Text 19"/>
          <p:cNvSpPr txBox="1"/>
          <p:nvPr/>
        </p:nvSpPr>
        <p:spPr>
          <a:xfrm>
            <a:off x="688543" y="3017520"/>
            <a:ext cx="1783080" cy="731520"/>
          </a:xfrm>
          <a:prstGeom prst="rect">
            <a:avLst/>
          </a:prstGeom>
          <a:noFill/>
          <a:ln/>
        </p:spPr>
        <p:txBody>
          <a:bodyPr wrap="square" lIns="0" tIns="0" rIns="0" bIns="0" rtlCol="0" anchor="ctr"/>
          <a:lstStyle/>
          <a:p>
            <a:pPr rtl="1" algn="ctr" indent="0" marL="0">
              <a:buNone/>
            </a:pPr>
            <a:r>
              <a:rPr lang="en-US" sz="1700" b="1" dirty="0">
                <a:solidFill>
                  <a:schemeClr val="tx2"/>
                </a:solidFill>
              </a:rPr>
              <a:t>ذوو الاحتياجات الخاصة</a:t>
            </a:r>
            <a:endParaRPr lang="en-US" sz="1700" dirty="0"/>
          </a:p>
        </p:txBody>
      </p:sp>
      <p:sp>
        <p:nvSpPr>
          <p:cNvPr id="27" name="Text 20"/>
          <p:cNvSpPr txBox="1"/>
          <p:nvPr/>
        </p:nvSpPr>
        <p:spPr>
          <a:xfrm>
            <a:off x="688543" y="3794760"/>
            <a:ext cx="1783080" cy="1325880"/>
          </a:xfrm>
          <a:prstGeom prst="rect">
            <a:avLst/>
          </a:prstGeom>
          <a:noFill/>
          <a:ln/>
        </p:spPr>
        <p:txBody>
          <a:bodyPr wrap="square" lIns="0" tIns="0" rIns="0" bIns="0" rtlCol="0" anchor="t"/>
          <a:lstStyle/>
          <a:p>
            <a:pPr rtl="1" algn="ctr" indent="0" marL="0">
              <a:buNone/>
            </a:pPr>
            <a:r>
              <a:rPr lang="en-US" sz="1400" dirty="0">
                <a:solidFill>
                  <a:schemeClr val="tx1"/>
                </a:solidFill>
              </a:rPr>
              <a:t>تقليل التجوّل الطويل بين الممرات بطريق مباشر إلى الرف</a:t>
            </a:r>
            <a:endParaRPr lang="en-US" sz="1400" dirty="0"/>
          </a:p>
        </p:txBody>
      </p:sp>
      <p:sp>
        <p:nvSpPr>
          <p:cNvPr id="25" name="Slide Number Placeholder 0"/>
          <p:cNvSpPr>
            <a:spLocks noGrp="1"/>
          </p:cNvSpPr>
          <p:nvPr>
            <p:ph type="sldNum" sz="quarter" idx="4294967295"/>
          </p:nvPr>
        </p:nvSpPr>
        <p:spPr>
          <a:xfrm>
            <a:off x="5486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470"/>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1463040" y="347472"/>
            <a:ext cx="10177272" cy="731520"/>
          </a:xfrm>
          <a:prstGeom prst="rect">
            <a:avLst/>
          </a:prstGeom>
          <a:noFill/>
          <a:ln/>
        </p:spPr>
        <p:txBody>
          <a:bodyPr wrap="square" lIns="0" tIns="0" rIns="0" bIns="0" rtlCol="0" anchor="ctr"/>
          <a:lstStyle/>
          <a:p>
            <a:pPr rtl="1" algn="r" indent="0" marL="0">
              <a:buNone/>
            </a:pPr>
            <a:r>
              <a:rPr lang="en-US" sz="3200" b="1" dirty="0">
                <a:solidFill>
                  <a:schemeClr val="tx2"/>
                </a:solidFill>
              </a:rPr>
              <a:t>الأدوات والتقنيات</a:t>
            </a:r>
            <a:endParaRPr lang="en-US" sz="3200" dirty="0"/>
          </a:p>
        </p:txBody>
      </p:sp>
      <p:sp>
        <p:nvSpPr>
          <p:cNvPr id="3" name="tool card 1"/>
          <p:cNvSpPr/>
          <p:nvPr/>
        </p:nvSpPr>
        <p:spPr>
          <a:xfrm>
            <a:off x="9265615" y="1463040"/>
            <a:ext cx="2377440" cy="1965960"/>
          </a:xfrm>
          <a:prstGeom prst="roundRect">
            <a:avLst>
              <a:gd name="adj" fmla="val 5581"/>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4" name="tool 1 circle"/>
          <p:cNvSpPr/>
          <p:nvPr/>
        </p:nvSpPr>
        <p:spPr>
          <a:xfrm>
            <a:off x="10111435" y="1691640"/>
            <a:ext cx="685800" cy="685800"/>
          </a:xfrm>
          <a:prstGeom prst="ellipse">
            <a:avLst/>
          </a:prstGeom>
          <a:solidFill>
            <a:schemeClr val="accent1"/>
          </a:solidFill>
          <a:ln w="12700">
            <a:solidFill>
              <a:schemeClr val="accent1"/>
            </a:solidFill>
            <a:prstDash val="solid"/>
          </a:ln>
        </p:spPr>
      </p:sp>
      <p:pic>
        <p:nvPicPr>
          <p:cNvPr id="5" name="tool 1 icon" descr="preencoded.png">    </p:cNvPr>
          <p:cNvPicPr>
            <a:picLocks noChangeAspect="1"/>
          </p:cNvPicPr>
          <p:nvPr/>
        </p:nvPicPr>
        <p:blipFill>
          <a:blip r:embed="rId1"/>
          <a:stretch>
            <a:fillRect/>
          </a:stretch>
        </p:blipFill>
        <p:spPr>
          <a:xfrm>
            <a:off x="10289743" y="1869948"/>
            <a:ext cx="329184" cy="329184"/>
          </a:xfrm>
          <a:prstGeom prst="rect">
            <a:avLst/>
          </a:prstGeom>
        </p:spPr>
      </p:pic>
      <p:sp>
        <p:nvSpPr>
          <p:cNvPr id="6" name="Text 3"/>
          <p:cNvSpPr txBox="1"/>
          <p:nvPr/>
        </p:nvSpPr>
        <p:spPr>
          <a:xfrm>
            <a:off x="9357055" y="2468880"/>
            <a:ext cx="2194560" cy="411480"/>
          </a:xfrm>
          <a:prstGeom prst="rect">
            <a:avLst/>
          </a:prstGeom>
          <a:noFill/>
          <a:ln/>
        </p:spPr>
        <p:txBody>
          <a:bodyPr wrap="square" lIns="0" tIns="0" rIns="0" bIns="0" rtlCol="0" anchor="ctr"/>
          <a:lstStyle/>
          <a:p>
            <a:pPr algn="ctr" indent="0" marL="0">
              <a:buNone/>
            </a:pPr>
            <a:r>
              <a:rPr lang="en-US" sz="1700" b="1" dirty="0">
                <a:solidFill>
                  <a:schemeClr val="tx2"/>
                </a:solidFill>
              </a:rPr>
              <a:t>Kotlin</a:t>
            </a:r>
            <a:endParaRPr lang="en-US" sz="1700" dirty="0"/>
          </a:p>
        </p:txBody>
      </p:sp>
      <p:sp>
        <p:nvSpPr>
          <p:cNvPr id="7" name="Text 4"/>
          <p:cNvSpPr txBox="1"/>
          <p:nvPr/>
        </p:nvSpPr>
        <p:spPr>
          <a:xfrm>
            <a:off x="9357055" y="2880360"/>
            <a:ext cx="2194560" cy="411480"/>
          </a:xfrm>
          <a:prstGeom prst="rect">
            <a:avLst/>
          </a:prstGeom>
          <a:noFill/>
          <a:ln/>
        </p:spPr>
        <p:txBody>
          <a:bodyPr wrap="square" lIns="0" tIns="0" rIns="0" bIns="0" rtlCol="0" anchor="ctr"/>
          <a:lstStyle/>
          <a:p>
            <a:pPr rtl="1" algn="ctr" indent="0" marL="0">
              <a:buNone/>
            </a:pPr>
            <a:r>
              <a:rPr lang="en-US" sz="1300" dirty="0">
                <a:solidFill>
                  <a:schemeClr val="tx1"/>
                </a:solidFill>
              </a:rPr>
              <a:t>لغة البرمجة</a:t>
            </a:r>
            <a:endParaRPr lang="en-US" sz="1300" dirty="0"/>
          </a:p>
        </p:txBody>
      </p:sp>
      <p:sp>
        <p:nvSpPr>
          <p:cNvPr id="8" name="tool card 2"/>
          <p:cNvSpPr/>
          <p:nvPr/>
        </p:nvSpPr>
        <p:spPr>
          <a:xfrm>
            <a:off x="6659575" y="1463040"/>
            <a:ext cx="2377440" cy="1965960"/>
          </a:xfrm>
          <a:prstGeom prst="roundRect">
            <a:avLst>
              <a:gd name="adj" fmla="val 5581"/>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9" name="tool 2 circle"/>
          <p:cNvSpPr/>
          <p:nvPr/>
        </p:nvSpPr>
        <p:spPr>
          <a:xfrm>
            <a:off x="7505395" y="1691640"/>
            <a:ext cx="685800" cy="685800"/>
          </a:xfrm>
          <a:prstGeom prst="ellipse">
            <a:avLst/>
          </a:prstGeom>
          <a:solidFill>
            <a:schemeClr val="accent1"/>
          </a:solidFill>
          <a:ln w="12700">
            <a:solidFill>
              <a:schemeClr val="accent1"/>
            </a:solidFill>
            <a:prstDash val="solid"/>
          </a:ln>
        </p:spPr>
      </p:sp>
      <p:pic>
        <p:nvPicPr>
          <p:cNvPr id="10" name="tool 2 icon" descr="preencoded.png">    </p:cNvPr>
          <p:cNvPicPr>
            <a:picLocks noChangeAspect="1"/>
          </p:cNvPicPr>
          <p:nvPr/>
        </p:nvPicPr>
        <p:blipFill>
          <a:blip r:embed="rId2"/>
          <a:stretch>
            <a:fillRect/>
          </a:stretch>
        </p:blipFill>
        <p:spPr>
          <a:xfrm>
            <a:off x="7683703" y="1869948"/>
            <a:ext cx="329184" cy="329184"/>
          </a:xfrm>
          <a:prstGeom prst="rect">
            <a:avLst/>
          </a:prstGeom>
        </p:spPr>
      </p:pic>
      <p:sp>
        <p:nvSpPr>
          <p:cNvPr id="11" name="Text 7"/>
          <p:cNvSpPr txBox="1"/>
          <p:nvPr/>
        </p:nvSpPr>
        <p:spPr>
          <a:xfrm>
            <a:off x="6751015" y="2468880"/>
            <a:ext cx="2194560" cy="411480"/>
          </a:xfrm>
          <a:prstGeom prst="rect">
            <a:avLst/>
          </a:prstGeom>
          <a:noFill/>
          <a:ln/>
        </p:spPr>
        <p:txBody>
          <a:bodyPr wrap="square" lIns="0" tIns="0" rIns="0" bIns="0" rtlCol="0" anchor="ctr"/>
          <a:lstStyle/>
          <a:p>
            <a:pPr algn="ctr" indent="0" marL="0">
              <a:buNone/>
            </a:pPr>
            <a:r>
              <a:rPr lang="en-US" sz="1700" b="1" dirty="0">
                <a:solidFill>
                  <a:schemeClr val="tx2"/>
                </a:solidFill>
              </a:rPr>
              <a:t>Jetpack Compose</a:t>
            </a:r>
            <a:endParaRPr lang="en-US" sz="1700" dirty="0"/>
          </a:p>
        </p:txBody>
      </p:sp>
      <p:sp>
        <p:nvSpPr>
          <p:cNvPr id="12" name="Text 8"/>
          <p:cNvSpPr txBox="1"/>
          <p:nvPr/>
        </p:nvSpPr>
        <p:spPr>
          <a:xfrm>
            <a:off x="6751015" y="2880360"/>
            <a:ext cx="2194560" cy="411480"/>
          </a:xfrm>
          <a:prstGeom prst="rect">
            <a:avLst/>
          </a:prstGeom>
          <a:noFill/>
          <a:ln/>
        </p:spPr>
        <p:txBody>
          <a:bodyPr wrap="square" lIns="0" tIns="0" rIns="0" bIns="0" rtlCol="0" anchor="ctr"/>
          <a:lstStyle/>
          <a:p>
            <a:pPr rtl="1" algn="ctr" indent="0" marL="0">
              <a:buNone/>
            </a:pPr>
            <a:r>
              <a:rPr lang="en-US" sz="1300" dirty="0">
                <a:solidFill>
                  <a:schemeClr val="tx1"/>
                </a:solidFill>
              </a:rPr>
              <a:t>بناء الواجهات (Material 3)</a:t>
            </a:r>
            <a:endParaRPr lang="en-US" sz="1300" dirty="0"/>
          </a:p>
        </p:txBody>
      </p:sp>
      <p:sp>
        <p:nvSpPr>
          <p:cNvPr id="13" name="tool card 3"/>
          <p:cNvSpPr/>
          <p:nvPr/>
        </p:nvSpPr>
        <p:spPr>
          <a:xfrm>
            <a:off x="4053535" y="1463040"/>
            <a:ext cx="2377440" cy="1965960"/>
          </a:xfrm>
          <a:prstGeom prst="roundRect">
            <a:avLst>
              <a:gd name="adj" fmla="val 5581"/>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14" name="tool 3 circle"/>
          <p:cNvSpPr/>
          <p:nvPr/>
        </p:nvSpPr>
        <p:spPr>
          <a:xfrm>
            <a:off x="4899355" y="1691640"/>
            <a:ext cx="685800" cy="685800"/>
          </a:xfrm>
          <a:prstGeom prst="ellipse">
            <a:avLst/>
          </a:prstGeom>
          <a:solidFill>
            <a:schemeClr val="accent1"/>
          </a:solidFill>
          <a:ln w="12700">
            <a:solidFill>
              <a:schemeClr val="accent1"/>
            </a:solidFill>
            <a:prstDash val="solid"/>
          </a:ln>
        </p:spPr>
      </p:sp>
      <p:pic>
        <p:nvPicPr>
          <p:cNvPr id="15" name="tool 3 icon" descr="preencoded.png">    </p:cNvPr>
          <p:cNvPicPr>
            <a:picLocks noChangeAspect="1"/>
          </p:cNvPicPr>
          <p:nvPr/>
        </p:nvPicPr>
        <p:blipFill>
          <a:blip r:embed="rId3"/>
          <a:stretch>
            <a:fillRect/>
          </a:stretch>
        </p:blipFill>
        <p:spPr>
          <a:xfrm>
            <a:off x="5077663" y="1869948"/>
            <a:ext cx="329184" cy="329184"/>
          </a:xfrm>
          <a:prstGeom prst="rect">
            <a:avLst/>
          </a:prstGeom>
        </p:spPr>
      </p:pic>
      <p:sp>
        <p:nvSpPr>
          <p:cNvPr id="16" name="Text 11"/>
          <p:cNvSpPr txBox="1"/>
          <p:nvPr/>
        </p:nvSpPr>
        <p:spPr>
          <a:xfrm>
            <a:off x="4144975" y="2468880"/>
            <a:ext cx="2194560" cy="411480"/>
          </a:xfrm>
          <a:prstGeom prst="rect">
            <a:avLst/>
          </a:prstGeom>
          <a:noFill/>
          <a:ln/>
        </p:spPr>
        <p:txBody>
          <a:bodyPr wrap="square" lIns="0" tIns="0" rIns="0" bIns="0" rtlCol="0" anchor="ctr"/>
          <a:lstStyle/>
          <a:p>
            <a:pPr algn="ctr" indent="0" marL="0">
              <a:buNone/>
            </a:pPr>
            <a:r>
              <a:rPr lang="en-US" sz="1700" b="1" dirty="0">
                <a:solidFill>
                  <a:schemeClr val="tx2"/>
                </a:solidFill>
              </a:rPr>
              <a:t>Cloud Firestore</a:t>
            </a:r>
            <a:endParaRPr lang="en-US" sz="1700" dirty="0"/>
          </a:p>
        </p:txBody>
      </p:sp>
      <p:sp>
        <p:nvSpPr>
          <p:cNvPr id="17" name="Text 12"/>
          <p:cNvSpPr txBox="1"/>
          <p:nvPr/>
        </p:nvSpPr>
        <p:spPr>
          <a:xfrm>
            <a:off x="4144975" y="2880360"/>
            <a:ext cx="2194560" cy="411480"/>
          </a:xfrm>
          <a:prstGeom prst="rect">
            <a:avLst/>
          </a:prstGeom>
          <a:noFill/>
          <a:ln/>
        </p:spPr>
        <p:txBody>
          <a:bodyPr wrap="square" lIns="0" tIns="0" rIns="0" bIns="0" rtlCol="0" anchor="ctr"/>
          <a:lstStyle/>
          <a:p>
            <a:pPr rtl="1" algn="ctr" indent="0" marL="0">
              <a:buNone/>
            </a:pPr>
            <a:r>
              <a:rPr lang="en-US" sz="1300" dirty="0">
                <a:solidFill>
                  <a:schemeClr val="tx1"/>
                </a:solidFill>
              </a:rPr>
              <a:t>قاعدة بيانات حيّة مشتركة</a:t>
            </a:r>
            <a:endParaRPr lang="en-US" sz="1300" dirty="0"/>
          </a:p>
        </p:txBody>
      </p:sp>
      <p:sp>
        <p:nvSpPr>
          <p:cNvPr id="18" name="tool card 4"/>
          <p:cNvSpPr/>
          <p:nvPr/>
        </p:nvSpPr>
        <p:spPr>
          <a:xfrm>
            <a:off x="9265615" y="3703320"/>
            <a:ext cx="2377440" cy="1965960"/>
          </a:xfrm>
          <a:prstGeom prst="roundRect">
            <a:avLst>
              <a:gd name="adj" fmla="val 5581"/>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19" name="tool 4 circle"/>
          <p:cNvSpPr/>
          <p:nvPr/>
        </p:nvSpPr>
        <p:spPr>
          <a:xfrm>
            <a:off x="10111435" y="3931920"/>
            <a:ext cx="685800" cy="685800"/>
          </a:xfrm>
          <a:prstGeom prst="ellipse">
            <a:avLst/>
          </a:prstGeom>
          <a:solidFill>
            <a:schemeClr val="accent1"/>
          </a:solidFill>
          <a:ln w="12700">
            <a:solidFill>
              <a:schemeClr val="accent1"/>
            </a:solidFill>
            <a:prstDash val="solid"/>
          </a:ln>
        </p:spPr>
      </p:sp>
      <p:pic>
        <p:nvPicPr>
          <p:cNvPr id="20" name="tool 4 icon" descr="preencoded.png">    </p:cNvPr>
          <p:cNvPicPr>
            <a:picLocks noChangeAspect="1"/>
          </p:cNvPicPr>
          <p:nvPr/>
        </p:nvPicPr>
        <p:blipFill>
          <a:blip r:embed="rId4"/>
          <a:stretch>
            <a:fillRect/>
          </a:stretch>
        </p:blipFill>
        <p:spPr>
          <a:xfrm>
            <a:off x="10289743" y="4110228"/>
            <a:ext cx="329184" cy="329184"/>
          </a:xfrm>
          <a:prstGeom prst="rect">
            <a:avLst/>
          </a:prstGeom>
        </p:spPr>
      </p:pic>
      <p:sp>
        <p:nvSpPr>
          <p:cNvPr id="21" name="Text 15"/>
          <p:cNvSpPr txBox="1"/>
          <p:nvPr/>
        </p:nvSpPr>
        <p:spPr>
          <a:xfrm>
            <a:off x="9357055" y="4709160"/>
            <a:ext cx="2194560" cy="411480"/>
          </a:xfrm>
          <a:prstGeom prst="rect">
            <a:avLst/>
          </a:prstGeom>
          <a:noFill/>
          <a:ln/>
        </p:spPr>
        <p:txBody>
          <a:bodyPr wrap="square" lIns="0" tIns="0" rIns="0" bIns="0" rtlCol="0" anchor="ctr"/>
          <a:lstStyle/>
          <a:p>
            <a:pPr algn="ctr" indent="0" marL="0">
              <a:buNone/>
            </a:pPr>
            <a:r>
              <a:rPr lang="en-US" sz="1700" b="1" dirty="0">
                <a:solidFill>
                  <a:schemeClr val="tx2"/>
                </a:solidFill>
              </a:rPr>
              <a:t>Firebase Auth</a:t>
            </a:r>
            <a:endParaRPr lang="en-US" sz="1700" dirty="0"/>
          </a:p>
        </p:txBody>
      </p:sp>
      <p:sp>
        <p:nvSpPr>
          <p:cNvPr id="22" name="Text 16"/>
          <p:cNvSpPr txBox="1"/>
          <p:nvPr/>
        </p:nvSpPr>
        <p:spPr>
          <a:xfrm>
            <a:off x="9357055" y="5120640"/>
            <a:ext cx="2194560" cy="411480"/>
          </a:xfrm>
          <a:prstGeom prst="rect">
            <a:avLst/>
          </a:prstGeom>
          <a:noFill/>
          <a:ln/>
        </p:spPr>
        <p:txBody>
          <a:bodyPr wrap="square" lIns="0" tIns="0" rIns="0" bIns="0" rtlCol="0" anchor="ctr"/>
          <a:lstStyle/>
          <a:p>
            <a:pPr rtl="1" algn="ctr" indent="0" marL="0">
              <a:buNone/>
            </a:pPr>
            <a:r>
              <a:rPr lang="en-US" sz="1300" dirty="0">
                <a:solidFill>
                  <a:schemeClr val="tx1"/>
                </a:solidFill>
              </a:rPr>
              <a:t>البريد و Google والزائر</a:t>
            </a:r>
            <a:endParaRPr lang="en-US" sz="1300" dirty="0"/>
          </a:p>
        </p:txBody>
      </p:sp>
      <p:sp>
        <p:nvSpPr>
          <p:cNvPr id="23" name="tool card 5"/>
          <p:cNvSpPr/>
          <p:nvPr/>
        </p:nvSpPr>
        <p:spPr>
          <a:xfrm>
            <a:off x="6659575" y="3703320"/>
            <a:ext cx="2377440" cy="1965960"/>
          </a:xfrm>
          <a:prstGeom prst="roundRect">
            <a:avLst>
              <a:gd name="adj" fmla="val 5581"/>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24" name="tool 5 circle"/>
          <p:cNvSpPr/>
          <p:nvPr/>
        </p:nvSpPr>
        <p:spPr>
          <a:xfrm>
            <a:off x="7505395" y="3931920"/>
            <a:ext cx="685800" cy="685800"/>
          </a:xfrm>
          <a:prstGeom prst="ellipse">
            <a:avLst/>
          </a:prstGeom>
          <a:solidFill>
            <a:schemeClr val="accent1"/>
          </a:solidFill>
          <a:ln w="12700">
            <a:solidFill>
              <a:schemeClr val="accent1"/>
            </a:solidFill>
            <a:prstDash val="solid"/>
          </a:ln>
        </p:spPr>
      </p:sp>
      <p:pic>
        <p:nvPicPr>
          <p:cNvPr id="25" name="tool 5 icon" descr="preencoded.png">    </p:cNvPr>
          <p:cNvPicPr>
            <a:picLocks noChangeAspect="1"/>
          </p:cNvPicPr>
          <p:nvPr/>
        </p:nvPicPr>
        <p:blipFill>
          <a:blip r:embed="rId5"/>
          <a:stretch>
            <a:fillRect/>
          </a:stretch>
        </p:blipFill>
        <p:spPr>
          <a:xfrm>
            <a:off x="7683703" y="4110228"/>
            <a:ext cx="329184" cy="329184"/>
          </a:xfrm>
          <a:prstGeom prst="rect">
            <a:avLst/>
          </a:prstGeom>
        </p:spPr>
      </p:pic>
      <p:sp>
        <p:nvSpPr>
          <p:cNvPr id="26" name="Text 19"/>
          <p:cNvSpPr txBox="1"/>
          <p:nvPr/>
        </p:nvSpPr>
        <p:spPr>
          <a:xfrm>
            <a:off x="6751015" y="4709160"/>
            <a:ext cx="2194560" cy="411480"/>
          </a:xfrm>
          <a:prstGeom prst="rect">
            <a:avLst/>
          </a:prstGeom>
          <a:noFill/>
          <a:ln/>
        </p:spPr>
        <p:txBody>
          <a:bodyPr wrap="square" lIns="0" tIns="0" rIns="0" bIns="0" rtlCol="0" anchor="ctr"/>
          <a:lstStyle/>
          <a:p>
            <a:pPr algn="ctr" indent="0" marL="0">
              <a:buNone/>
            </a:pPr>
            <a:r>
              <a:rPr lang="en-US" sz="1700" b="1" dirty="0">
                <a:solidFill>
                  <a:schemeClr val="tx2"/>
                </a:solidFill>
              </a:rPr>
              <a:t>Android Studio</a:t>
            </a:r>
            <a:endParaRPr lang="en-US" sz="1700" dirty="0"/>
          </a:p>
        </p:txBody>
      </p:sp>
      <p:sp>
        <p:nvSpPr>
          <p:cNvPr id="27" name="Text 20"/>
          <p:cNvSpPr txBox="1"/>
          <p:nvPr/>
        </p:nvSpPr>
        <p:spPr>
          <a:xfrm>
            <a:off x="6751015" y="5120640"/>
            <a:ext cx="2194560" cy="411480"/>
          </a:xfrm>
          <a:prstGeom prst="rect">
            <a:avLst/>
          </a:prstGeom>
          <a:noFill/>
          <a:ln/>
        </p:spPr>
        <p:txBody>
          <a:bodyPr wrap="square" lIns="0" tIns="0" rIns="0" bIns="0" rtlCol="0" anchor="ctr"/>
          <a:lstStyle/>
          <a:p>
            <a:pPr rtl="1" algn="ctr" indent="0" marL="0">
              <a:buNone/>
            </a:pPr>
            <a:r>
              <a:rPr lang="en-US" sz="1300" dirty="0">
                <a:solidFill>
                  <a:schemeClr val="tx1"/>
                </a:solidFill>
              </a:rPr>
              <a:t>بيئة التطوير والاختبار</a:t>
            </a:r>
            <a:endParaRPr lang="en-US" sz="1300" dirty="0"/>
          </a:p>
        </p:txBody>
      </p:sp>
      <p:sp>
        <p:nvSpPr>
          <p:cNvPr id="28" name="tool card 6"/>
          <p:cNvSpPr/>
          <p:nvPr/>
        </p:nvSpPr>
        <p:spPr>
          <a:xfrm>
            <a:off x="4053535" y="3703320"/>
            <a:ext cx="2377440" cy="1965960"/>
          </a:xfrm>
          <a:prstGeom prst="roundRect">
            <a:avLst>
              <a:gd name="adj" fmla="val 5581"/>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29" name="tool 6 circle"/>
          <p:cNvSpPr/>
          <p:nvPr/>
        </p:nvSpPr>
        <p:spPr>
          <a:xfrm>
            <a:off x="4899355" y="3931920"/>
            <a:ext cx="685800" cy="685800"/>
          </a:xfrm>
          <a:prstGeom prst="ellipse">
            <a:avLst/>
          </a:prstGeom>
          <a:solidFill>
            <a:schemeClr val="accent1"/>
          </a:solidFill>
          <a:ln w="12700">
            <a:solidFill>
              <a:schemeClr val="accent1"/>
            </a:solidFill>
            <a:prstDash val="solid"/>
          </a:ln>
        </p:spPr>
      </p:sp>
      <p:pic>
        <p:nvPicPr>
          <p:cNvPr id="30" name="tool 6 icon" descr="preencoded.png">    </p:cNvPr>
          <p:cNvPicPr>
            <a:picLocks noChangeAspect="1"/>
          </p:cNvPicPr>
          <p:nvPr/>
        </p:nvPicPr>
        <p:blipFill>
          <a:blip r:embed="rId6"/>
          <a:stretch>
            <a:fillRect/>
          </a:stretch>
        </p:blipFill>
        <p:spPr>
          <a:xfrm>
            <a:off x="5077663" y="4110228"/>
            <a:ext cx="329184" cy="329184"/>
          </a:xfrm>
          <a:prstGeom prst="rect">
            <a:avLst/>
          </a:prstGeom>
        </p:spPr>
      </p:pic>
      <p:sp>
        <p:nvSpPr>
          <p:cNvPr id="31" name="Text 23"/>
          <p:cNvSpPr txBox="1"/>
          <p:nvPr/>
        </p:nvSpPr>
        <p:spPr>
          <a:xfrm>
            <a:off x="4144975" y="4709160"/>
            <a:ext cx="2194560" cy="411480"/>
          </a:xfrm>
          <a:prstGeom prst="rect">
            <a:avLst/>
          </a:prstGeom>
          <a:noFill/>
          <a:ln/>
        </p:spPr>
        <p:txBody>
          <a:bodyPr wrap="square" lIns="0" tIns="0" rIns="0" bIns="0" rtlCol="0" anchor="ctr"/>
          <a:lstStyle/>
          <a:p>
            <a:pPr algn="ctr" indent="0" marL="0">
              <a:buNone/>
            </a:pPr>
            <a:r>
              <a:rPr lang="en-US" sz="1700" b="1" dirty="0">
                <a:solidFill>
                  <a:schemeClr val="tx2"/>
                </a:solidFill>
              </a:rPr>
              <a:t>Security Rules</a:t>
            </a:r>
            <a:endParaRPr lang="en-US" sz="1700" dirty="0"/>
          </a:p>
        </p:txBody>
      </p:sp>
      <p:sp>
        <p:nvSpPr>
          <p:cNvPr id="32" name="Text 24"/>
          <p:cNvSpPr txBox="1"/>
          <p:nvPr/>
        </p:nvSpPr>
        <p:spPr>
          <a:xfrm>
            <a:off x="4144975" y="5120640"/>
            <a:ext cx="2194560" cy="411480"/>
          </a:xfrm>
          <a:prstGeom prst="rect">
            <a:avLst/>
          </a:prstGeom>
          <a:noFill/>
          <a:ln/>
        </p:spPr>
        <p:txBody>
          <a:bodyPr wrap="square" lIns="0" tIns="0" rIns="0" bIns="0" rtlCol="0" anchor="ctr"/>
          <a:lstStyle/>
          <a:p>
            <a:pPr rtl="1" algn="ctr" indent="0" marL="0">
              <a:buNone/>
            </a:pPr>
            <a:r>
              <a:rPr lang="en-US" sz="1300" dirty="0">
                <a:solidFill>
                  <a:schemeClr val="tx1"/>
                </a:solidFill>
              </a:rPr>
              <a:t>الصلاحيات على الخادم</a:t>
            </a:r>
            <a:endParaRPr lang="en-US" sz="1300" dirty="0"/>
          </a:p>
        </p:txBody>
      </p:sp>
      <p:sp>
        <p:nvSpPr>
          <p:cNvPr id="33" name="budget card"/>
          <p:cNvSpPr/>
          <p:nvPr/>
        </p:nvSpPr>
        <p:spPr>
          <a:xfrm>
            <a:off x="548640" y="1463040"/>
            <a:ext cx="3337560" cy="4206240"/>
          </a:xfrm>
          <a:prstGeom prst="roundRect">
            <a:avLst>
              <a:gd name="adj" fmla="val 3288"/>
            </a:avLst>
          </a:prstGeom>
          <a:solidFill>
            <a:schemeClr val="accent1"/>
          </a:solidFill>
          <a:ln w="12700">
            <a:solidFill>
              <a:schemeClr val="accent1"/>
            </a:solidFill>
            <a:prstDash val="solid"/>
          </a:ln>
        </p:spPr>
      </p:sp>
      <p:sp>
        <p:nvSpPr>
          <p:cNvPr id="34" name="Text 26"/>
          <p:cNvSpPr txBox="1"/>
          <p:nvPr/>
        </p:nvSpPr>
        <p:spPr>
          <a:xfrm>
            <a:off x="548640" y="1783080"/>
            <a:ext cx="3337560" cy="1463040"/>
          </a:xfrm>
          <a:prstGeom prst="rect">
            <a:avLst/>
          </a:prstGeom>
          <a:noFill/>
          <a:ln/>
        </p:spPr>
        <p:txBody>
          <a:bodyPr wrap="square" lIns="0" tIns="0" rIns="0" bIns="0" rtlCol="0" anchor="ctr"/>
          <a:lstStyle/>
          <a:p>
            <a:pPr algn="ctr" indent="0" marL="0">
              <a:buNone/>
            </a:pPr>
            <a:r>
              <a:rPr lang="en-US" sz="9600" b="1" dirty="0">
                <a:solidFill>
                  <a:schemeClr val="bg1"/>
                </a:solidFill>
              </a:rPr>
              <a:t>0</a:t>
            </a:r>
            <a:endParaRPr lang="en-US" sz="9600" dirty="0"/>
          </a:p>
        </p:txBody>
      </p:sp>
      <p:sp>
        <p:nvSpPr>
          <p:cNvPr id="35" name="Text 27"/>
          <p:cNvSpPr txBox="1"/>
          <p:nvPr/>
        </p:nvSpPr>
        <p:spPr>
          <a:xfrm>
            <a:off x="731520" y="3246120"/>
            <a:ext cx="2971800" cy="457200"/>
          </a:xfrm>
          <a:prstGeom prst="rect">
            <a:avLst/>
          </a:prstGeom>
          <a:noFill/>
          <a:ln/>
        </p:spPr>
        <p:txBody>
          <a:bodyPr wrap="square" lIns="0" tIns="0" rIns="0" bIns="0" rtlCol="0" anchor="ctr"/>
          <a:lstStyle/>
          <a:p>
            <a:pPr rtl="1" algn="ctr" indent="0" marL="0">
              <a:buNone/>
            </a:pPr>
            <a:r>
              <a:rPr lang="en-US" sz="1800" b="1" dirty="0">
                <a:solidFill>
                  <a:schemeClr val="accent4"/>
                </a:solidFill>
              </a:rPr>
              <a:t>ريال — التكلفة الإجمالية</a:t>
            </a:r>
            <a:endParaRPr lang="en-US" sz="1800" dirty="0"/>
          </a:p>
        </p:txBody>
      </p:sp>
      <p:sp>
        <p:nvSpPr>
          <p:cNvPr id="36" name="Text 28"/>
          <p:cNvSpPr txBox="1"/>
          <p:nvPr/>
        </p:nvSpPr>
        <p:spPr>
          <a:xfrm>
            <a:off x="777240" y="3840480"/>
            <a:ext cx="2880360" cy="1645920"/>
          </a:xfrm>
          <a:prstGeom prst="rect">
            <a:avLst/>
          </a:prstGeom>
          <a:noFill/>
          <a:ln/>
        </p:spPr>
        <p:txBody>
          <a:bodyPr wrap="square" lIns="0" tIns="0" rIns="0" bIns="0" rtlCol="0" anchor="ctr"/>
          <a:lstStyle/>
          <a:p>
            <a:pPr rtl="1" algn="r" indent="0" marL="0">
              <a:buNone/>
            </a:pPr>
            <a:r>
              <a:rPr lang="en-US" sz="1400" dirty="0">
                <a:solidFill>
                  <a:schemeClr val="bg1"/>
                </a:solidFill>
              </a:rPr>
              <a:t>خطة Firebase المجانية، وأدوات مفتوحة المصدر، والصور تُحفظ داخل المستندات بصيغة Base64 بلا خدمة تخزين سحابي.</a:t>
            </a:r>
            <a:endParaRPr lang="en-US" sz="1400" dirty="0"/>
          </a:p>
        </p:txBody>
      </p:sp>
      <p:sp>
        <p:nvSpPr>
          <p:cNvPr id="25" name="Slide Number Placeholder 0"/>
          <p:cNvSpPr>
            <a:spLocks noGrp="1"/>
          </p:cNvSpPr>
          <p:nvPr>
            <p:ph type="sldNum" sz="quarter" idx="4294967295"/>
          </p:nvPr>
        </p:nvSpPr>
        <p:spPr>
          <a:xfrm>
            <a:off x="5486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470"/>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1463040" y="347472"/>
            <a:ext cx="10177272" cy="731520"/>
          </a:xfrm>
          <a:prstGeom prst="rect">
            <a:avLst/>
          </a:prstGeom>
          <a:noFill/>
          <a:ln/>
        </p:spPr>
        <p:txBody>
          <a:bodyPr wrap="square" lIns="0" tIns="0" rIns="0" bIns="0" rtlCol="0" anchor="ctr"/>
          <a:lstStyle/>
          <a:p>
            <a:pPr rtl="1" algn="r" indent="0" marL="0">
              <a:buNone/>
            </a:pPr>
            <a:r>
              <a:rPr lang="en-US" sz="3200" b="1" dirty="0">
                <a:solidFill>
                  <a:schemeClr val="tx2"/>
                </a:solidFill>
              </a:rPr>
              <a:t>معمارية النظام</a:t>
            </a:r>
            <a:endParaRPr lang="en-US" sz="3200" dirty="0"/>
          </a:p>
        </p:txBody>
      </p:sp>
      <p:sp>
        <p:nvSpPr>
          <p:cNvPr id="3" name="user app"/>
          <p:cNvSpPr/>
          <p:nvPr/>
        </p:nvSpPr>
        <p:spPr>
          <a:xfrm>
            <a:off x="8321040" y="1463040"/>
            <a:ext cx="3291840" cy="1737360"/>
          </a:xfrm>
          <a:prstGeom prst="roundRect">
            <a:avLst>
              <a:gd name="adj" fmla="val 6316"/>
            </a:avLst>
          </a:prstGeom>
          <a:solidFill>
            <a:schemeClr val="accent1"/>
          </a:solidFill>
          <a:ln w="12700">
            <a:solidFill>
              <a:schemeClr val="accent1"/>
            </a:solidFill>
            <a:prstDash val="solid"/>
          </a:ln>
        </p:spPr>
      </p:sp>
      <p:sp>
        <p:nvSpPr>
          <p:cNvPr id="4" name="Text 2"/>
          <p:cNvSpPr txBox="1"/>
          <p:nvPr/>
        </p:nvSpPr>
        <p:spPr>
          <a:xfrm>
            <a:off x="8321040" y="1627632"/>
            <a:ext cx="3291840" cy="457200"/>
          </a:xfrm>
          <a:prstGeom prst="rect">
            <a:avLst/>
          </a:prstGeom>
          <a:noFill/>
          <a:ln/>
        </p:spPr>
        <p:txBody>
          <a:bodyPr wrap="square" lIns="0" tIns="0" rIns="0" bIns="0" rtlCol="0" anchor="ctr"/>
          <a:lstStyle/>
          <a:p>
            <a:pPr rtl="1" algn="ctr" indent="0" marL="0">
              <a:buNone/>
            </a:pPr>
            <a:r>
              <a:rPr lang="en-US" sz="1800" b="1" dirty="0">
                <a:solidFill>
                  <a:srgbClr val="FFFFFF"/>
                </a:solidFill>
              </a:rPr>
              <a:t>تطبيق الزائر</a:t>
            </a:r>
            <a:endParaRPr lang="en-US" sz="1800" dirty="0"/>
          </a:p>
        </p:txBody>
      </p:sp>
      <p:sp>
        <p:nvSpPr>
          <p:cNvPr id="5" name="Text 3"/>
          <p:cNvSpPr txBox="1"/>
          <p:nvPr/>
        </p:nvSpPr>
        <p:spPr>
          <a:xfrm>
            <a:off x="8458200" y="2084832"/>
            <a:ext cx="3017520" cy="1005840"/>
          </a:xfrm>
          <a:prstGeom prst="rect">
            <a:avLst/>
          </a:prstGeom>
          <a:noFill/>
          <a:ln/>
        </p:spPr>
        <p:txBody>
          <a:bodyPr wrap="square" lIns="0" tIns="0" rIns="0" bIns="0" rtlCol="0" anchor="ctr"/>
          <a:lstStyle/>
          <a:p>
            <a:pPr rtl="1" algn="ctr" indent="0" marL="0">
              <a:buNone/>
            </a:pPr>
            <a:r>
              <a:rPr lang="en-US" sz="1300" dirty="0">
                <a:solidFill>
                  <a:srgbClr val="FFFFFF"/>
                </a:solidFill>
              </a:rPr>
              <a:t>com.wujha.user</a:t>
            </a:r>
            <a:endParaRPr lang="en-US" sz="1300" dirty="0"/>
          </a:p>
          <a:p>
            <a:pPr rtl="1" algn="ctr" indent="0" marL="0">
              <a:buNone/>
            </a:pPr>
            <a:r>
              <a:rPr lang="en-US" sz="1300" dirty="0">
                <a:solidFill>
                  <a:srgbClr val="FFFFFF"/>
                </a:solidFill>
              </a:rPr>
              <a:t>بحث · خريطة · طريق · إعارة</a:t>
            </a:r>
            <a:endParaRPr lang="en-US" sz="1300" dirty="0"/>
          </a:p>
        </p:txBody>
      </p:sp>
      <p:sp>
        <p:nvSpPr>
          <p:cNvPr id="6" name="admin app"/>
          <p:cNvSpPr/>
          <p:nvPr/>
        </p:nvSpPr>
        <p:spPr>
          <a:xfrm>
            <a:off x="8321040" y="3931920"/>
            <a:ext cx="3291840" cy="1737360"/>
          </a:xfrm>
          <a:prstGeom prst="roundRect">
            <a:avLst>
              <a:gd name="adj" fmla="val 6316"/>
            </a:avLst>
          </a:prstGeom>
          <a:solidFill>
            <a:schemeClr val="accent1"/>
          </a:solidFill>
          <a:ln w="12700">
            <a:solidFill>
              <a:schemeClr val="accent1"/>
            </a:solidFill>
            <a:prstDash val="solid"/>
          </a:ln>
        </p:spPr>
      </p:sp>
      <p:sp>
        <p:nvSpPr>
          <p:cNvPr id="7" name="Text 5"/>
          <p:cNvSpPr txBox="1"/>
          <p:nvPr/>
        </p:nvSpPr>
        <p:spPr>
          <a:xfrm>
            <a:off x="8321040" y="4096512"/>
            <a:ext cx="3291840" cy="457200"/>
          </a:xfrm>
          <a:prstGeom prst="rect">
            <a:avLst/>
          </a:prstGeom>
          <a:noFill/>
          <a:ln/>
        </p:spPr>
        <p:txBody>
          <a:bodyPr wrap="square" lIns="0" tIns="0" rIns="0" bIns="0" rtlCol="0" anchor="ctr"/>
          <a:lstStyle/>
          <a:p>
            <a:pPr rtl="1" algn="ctr" indent="0" marL="0">
              <a:buNone/>
            </a:pPr>
            <a:r>
              <a:rPr lang="en-US" sz="1800" b="1" dirty="0">
                <a:solidFill>
                  <a:srgbClr val="FFFFFF"/>
                </a:solidFill>
              </a:rPr>
              <a:t>تطبيق المشرف</a:t>
            </a:r>
            <a:endParaRPr lang="en-US" sz="1800" dirty="0"/>
          </a:p>
        </p:txBody>
      </p:sp>
      <p:sp>
        <p:nvSpPr>
          <p:cNvPr id="8" name="Text 6"/>
          <p:cNvSpPr txBox="1"/>
          <p:nvPr/>
        </p:nvSpPr>
        <p:spPr>
          <a:xfrm>
            <a:off x="8458200" y="4553712"/>
            <a:ext cx="3017520" cy="1005840"/>
          </a:xfrm>
          <a:prstGeom prst="rect">
            <a:avLst/>
          </a:prstGeom>
          <a:noFill/>
          <a:ln/>
        </p:spPr>
        <p:txBody>
          <a:bodyPr wrap="square" lIns="0" tIns="0" rIns="0" bIns="0" rtlCol="0" anchor="ctr"/>
          <a:lstStyle/>
          <a:p>
            <a:pPr rtl="1" algn="ctr" indent="0" marL="0">
              <a:buNone/>
            </a:pPr>
            <a:r>
              <a:rPr lang="en-US" sz="1300" dirty="0">
                <a:solidFill>
                  <a:srgbClr val="FFFFFF"/>
                </a:solidFill>
              </a:rPr>
              <a:t>com.wujha.admin</a:t>
            </a:r>
            <a:endParaRPr lang="en-US" sz="1300" dirty="0"/>
          </a:p>
          <a:p>
            <a:pPr rtl="1" algn="ctr" indent="0" marL="0">
              <a:buNone/>
            </a:pPr>
            <a:r>
              <a:rPr lang="en-US" sz="1300" dirty="0">
                <a:solidFill>
                  <a:srgbClr val="FFFFFF"/>
                </a:solidFill>
              </a:rPr>
              <a:t>مبنى · فهرس · إعارة · تقارير</a:t>
            </a:r>
            <a:endParaRPr lang="en-US" sz="1300" dirty="0"/>
          </a:p>
        </p:txBody>
      </p:sp>
      <p:sp>
        <p:nvSpPr>
          <p:cNvPr id="9" name="auth"/>
          <p:cNvSpPr/>
          <p:nvPr/>
        </p:nvSpPr>
        <p:spPr>
          <a:xfrm>
            <a:off x="4434840" y="1463040"/>
            <a:ext cx="3108960" cy="1737360"/>
          </a:xfrm>
          <a:prstGeom prst="roundRect">
            <a:avLst>
              <a:gd name="adj" fmla="val 6316"/>
            </a:avLst>
          </a:prstGeom>
          <a:solidFill>
            <a:schemeClr val="bg2"/>
          </a:solidFill>
          <a:ln w="12700">
            <a:solidFill>
              <a:schemeClr val="bg2"/>
            </a:solidFill>
            <a:prstDash val="solid"/>
          </a:ln>
        </p:spPr>
      </p:sp>
      <p:sp>
        <p:nvSpPr>
          <p:cNvPr id="10" name="Text 8"/>
          <p:cNvSpPr txBox="1"/>
          <p:nvPr/>
        </p:nvSpPr>
        <p:spPr>
          <a:xfrm>
            <a:off x="4434840" y="1627632"/>
            <a:ext cx="3108960" cy="457200"/>
          </a:xfrm>
          <a:prstGeom prst="rect">
            <a:avLst/>
          </a:prstGeom>
          <a:noFill/>
          <a:ln/>
        </p:spPr>
        <p:txBody>
          <a:bodyPr wrap="square" lIns="0" tIns="0" rIns="0" bIns="0" rtlCol="0" anchor="ctr"/>
          <a:lstStyle/>
          <a:p>
            <a:pPr rtl="1" algn="ctr" indent="0" marL="0">
              <a:buNone/>
            </a:pPr>
            <a:r>
              <a:rPr lang="en-US" sz="1800" b="1" dirty="0">
                <a:solidFill>
                  <a:srgbClr val="1F4E46"/>
                </a:solidFill>
              </a:rPr>
              <a:t>Firebase Auth</a:t>
            </a:r>
            <a:endParaRPr lang="en-US" sz="1800" dirty="0"/>
          </a:p>
        </p:txBody>
      </p:sp>
      <p:sp>
        <p:nvSpPr>
          <p:cNvPr id="11" name="Text 9"/>
          <p:cNvSpPr txBox="1"/>
          <p:nvPr/>
        </p:nvSpPr>
        <p:spPr>
          <a:xfrm>
            <a:off x="4572000" y="2084832"/>
            <a:ext cx="2834640" cy="1005840"/>
          </a:xfrm>
          <a:prstGeom prst="rect">
            <a:avLst/>
          </a:prstGeom>
          <a:noFill/>
          <a:ln/>
        </p:spPr>
        <p:txBody>
          <a:bodyPr wrap="square" lIns="0" tIns="0" rIns="0" bIns="0" rtlCol="0" anchor="ctr"/>
          <a:lstStyle/>
          <a:p>
            <a:pPr rtl="1" algn="ctr" indent="0" marL="0">
              <a:buNone/>
            </a:pPr>
            <a:r>
              <a:rPr lang="en-US" sz="1300" dirty="0">
                <a:solidFill>
                  <a:srgbClr val="1F4E46"/>
                </a:solidFill>
              </a:rPr>
              <a:t>من أنتِ؟ — يعطي كل حساب معرّفًا ثابتًا uid</a:t>
            </a:r>
            <a:endParaRPr lang="en-US" sz="1300" dirty="0"/>
          </a:p>
        </p:txBody>
      </p:sp>
      <p:sp>
        <p:nvSpPr>
          <p:cNvPr id="12" name="rules"/>
          <p:cNvSpPr/>
          <p:nvPr/>
        </p:nvSpPr>
        <p:spPr>
          <a:xfrm>
            <a:off x="4434840" y="3931920"/>
            <a:ext cx="3108960" cy="1737360"/>
          </a:xfrm>
          <a:prstGeom prst="roundRect">
            <a:avLst>
              <a:gd name="adj" fmla="val 6316"/>
            </a:avLst>
          </a:prstGeom>
          <a:solidFill>
            <a:schemeClr val="bg2"/>
          </a:solidFill>
          <a:ln w="12700">
            <a:solidFill>
              <a:schemeClr val="bg2"/>
            </a:solidFill>
            <a:prstDash val="solid"/>
          </a:ln>
        </p:spPr>
      </p:sp>
      <p:sp>
        <p:nvSpPr>
          <p:cNvPr id="13" name="Text 11"/>
          <p:cNvSpPr txBox="1"/>
          <p:nvPr/>
        </p:nvSpPr>
        <p:spPr>
          <a:xfrm>
            <a:off x="4434840" y="4096512"/>
            <a:ext cx="3108960" cy="457200"/>
          </a:xfrm>
          <a:prstGeom prst="rect">
            <a:avLst/>
          </a:prstGeom>
          <a:noFill/>
          <a:ln/>
        </p:spPr>
        <p:txBody>
          <a:bodyPr wrap="square" lIns="0" tIns="0" rIns="0" bIns="0" rtlCol="0" anchor="ctr"/>
          <a:lstStyle/>
          <a:p>
            <a:pPr rtl="1" algn="ctr" indent="0" marL="0">
              <a:buNone/>
            </a:pPr>
            <a:r>
              <a:rPr lang="en-US" sz="1800" b="1" dirty="0">
                <a:solidFill>
                  <a:srgbClr val="1F4E46"/>
                </a:solidFill>
              </a:rPr>
              <a:t>Security Rules</a:t>
            </a:r>
            <a:endParaRPr lang="en-US" sz="1800" dirty="0"/>
          </a:p>
        </p:txBody>
      </p:sp>
      <p:sp>
        <p:nvSpPr>
          <p:cNvPr id="14" name="Text 12"/>
          <p:cNvSpPr txBox="1"/>
          <p:nvPr/>
        </p:nvSpPr>
        <p:spPr>
          <a:xfrm>
            <a:off x="4572000" y="4553712"/>
            <a:ext cx="2834640" cy="1005840"/>
          </a:xfrm>
          <a:prstGeom prst="rect">
            <a:avLst/>
          </a:prstGeom>
          <a:noFill/>
          <a:ln/>
        </p:spPr>
        <p:txBody>
          <a:bodyPr wrap="square" lIns="0" tIns="0" rIns="0" bIns="0" rtlCol="0" anchor="ctr"/>
          <a:lstStyle/>
          <a:p>
            <a:pPr rtl="1" algn="ctr" indent="0" marL="0">
              <a:buNone/>
            </a:pPr>
            <a:r>
              <a:rPr lang="en-US" sz="1300" dirty="0">
                <a:solidFill>
                  <a:srgbClr val="1F4E46"/>
                </a:solidFill>
              </a:rPr>
              <a:t>ماذا يحق لكِ؟ — تُنفَّذ على الخادم قبل كل قراءة وكتابة</a:t>
            </a:r>
            <a:endParaRPr lang="en-US" sz="1300" dirty="0"/>
          </a:p>
        </p:txBody>
      </p:sp>
      <p:sp>
        <p:nvSpPr>
          <p:cNvPr id="15" name="firestore"/>
          <p:cNvSpPr/>
          <p:nvPr/>
        </p:nvSpPr>
        <p:spPr>
          <a:xfrm>
            <a:off x="548640" y="2148840"/>
            <a:ext cx="3108960" cy="2834640"/>
          </a:xfrm>
          <a:prstGeom prst="roundRect">
            <a:avLst>
              <a:gd name="adj" fmla="val 3871"/>
            </a:avLst>
          </a:prstGeom>
          <a:solidFill>
            <a:schemeClr val="accent2"/>
          </a:solidFill>
          <a:ln w="12700">
            <a:solidFill>
              <a:schemeClr val="accent2"/>
            </a:solidFill>
            <a:prstDash val="solid"/>
          </a:ln>
        </p:spPr>
      </p:sp>
      <p:sp>
        <p:nvSpPr>
          <p:cNvPr id="16" name="Text 14"/>
          <p:cNvSpPr txBox="1"/>
          <p:nvPr/>
        </p:nvSpPr>
        <p:spPr>
          <a:xfrm>
            <a:off x="548640" y="2313432"/>
            <a:ext cx="3108960" cy="457200"/>
          </a:xfrm>
          <a:prstGeom prst="rect">
            <a:avLst/>
          </a:prstGeom>
          <a:noFill/>
          <a:ln/>
        </p:spPr>
        <p:txBody>
          <a:bodyPr wrap="square" lIns="0" tIns="0" rIns="0" bIns="0" rtlCol="0" anchor="ctr"/>
          <a:lstStyle/>
          <a:p>
            <a:pPr rtl="1" algn="ctr" indent="0" marL="0">
              <a:buNone/>
            </a:pPr>
            <a:r>
              <a:rPr lang="en-US" sz="1800" b="1" dirty="0">
                <a:solidFill>
                  <a:srgbClr val="FFFFFF"/>
                </a:solidFill>
              </a:rPr>
              <a:t>Cloud Firestore</a:t>
            </a:r>
            <a:endParaRPr lang="en-US" sz="1800" dirty="0"/>
          </a:p>
        </p:txBody>
      </p:sp>
      <p:sp>
        <p:nvSpPr>
          <p:cNvPr id="17" name="Text 15"/>
          <p:cNvSpPr txBox="1"/>
          <p:nvPr/>
        </p:nvSpPr>
        <p:spPr>
          <a:xfrm>
            <a:off x="685800" y="2770632"/>
            <a:ext cx="2834640" cy="2103120"/>
          </a:xfrm>
          <a:prstGeom prst="rect">
            <a:avLst/>
          </a:prstGeom>
          <a:noFill/>
          <a:ln/>
        </p:spPr>
        <p:txBody>
          <a:bodyPr wrap="square" lIns="0" tIns="0" rIns="0" bIns="0" rtlCol="0" anchor="ctr"/>
          <a:lstStyle/>
          <a:p>
            <a:pPr rtl="1" algn="ctr" indent="0" marL="0">
              <a:buNone/>
            </a:pPr>
            <a:r>
              <a:rPr lang="en-US" sz="1300" dirty="0">
                <a:solidFill>
                  <a:srgbClr val="FFFFFF"/>
                </a:solidFill>
              </a:rPr>
              <a:t>قاعدة بيانات واحدة مشتركة</a:t>
            </a:r>
            <a:endParaRPr lang="en-US" sz="1300" dirty="0"/>
          </a:p>
          <a:p>
            <a:pPr rtl="1" algn="ctr" indent="0" marL="0">
              <a:buNone/>
            </a:pPr>
            <a:r>
              <a:rPr lang="en-US" sz="1300" dirty="0">
                <a:solidFill>
                  <a:srgbClr val="FFFFFF"/>
                </a:solidFill>
              </a:rPr>
              <a:t>قراءات حيّة Snapshot Listeners</a:t>
            </a:r>
            <a:endParaRPr lang="en-US" sz="1300" dirty="0"/>
          </a:p>
          <a:p>
            <a:pPr rtl="1" algn="ctr" indent="0" marL="0">
              <a:buNone/>
            </a:pPr>
            <a:r>
              <a:rPr lang="en-US" sz="1300" dirty="0">
                <a:solidFill>
                  <a:srgbClr val="FFFFFF"/>
                </a:solidFill>
              </a:rPr>
              <a:t>معاملات Transactions للإعارة</a:t>
            </a:r>
            <a:endParaRPr lang="en-US" sz="1300" dirty="0"/>
          </a:p>
        </p:txBody>
      </p:sp>
      <p:sp>
        <p:nvSpPr>
          <p:cNvPr id="18" name="user to auth"/>
          <p:cNvSpPr/>
          <p:nvPr/>
        </p:nvSpPr>
        <p:spPr>
          <a:xfrm>
            <a:off x="7543800" y="2331720"/>
            <a:ext cx="777240" cy="914"/>
          </a:xfrm>
          <a:prstGeom prst="line">
            <a:avLst/>
          </a:prstGeom>
          <a:noFill/>
          <a:ln w="25400">
            <a:solidFill>
              <a:srgbClr val="8B8B8B"/>
            </a:solidFill>
            <a:prstDash val="solid"/>
            <a:tailEnd type="triangle"/>
          </a:ln>
        </p:spPr>
      </p:sp>
      <p:sp>
        <p:nvSpPr>
          <p:cNvPr id="19" name="admin to rules"/>
          <p:cNvSpPr/>
          <p:nvPr/>
        </p:nvSpPr>
        <p:spPr>
          <a:xfrm>
            <a:off x="7543800" y="4800600"/>
            <a:ext cx="777240" cy="914"/>
          </a:xfrm>
          <a:prstGeom prst="line">
            <a:avLst/>
          </a:prstGeom>
          <a:noFill/>
          <a:ln w="25400">
            <a:solidFill>
              <a:srgbClr val="8B8B8B"/>
            </a:solidFill>
            <a:prstDash val="solid"/>
            <a:tailEnd type="triangle"/>
          </a:ln>
        </p:spPr>
      </p:sp>
      <p:sp>
        <p:nvSpPr>
          <p:cNvPr id="20" name="user to rules"/>
          <p:cNvSpPr/>
          <p:nvPr/>
        </p:nvSpPr>
        <p:spPr>
          <a:xfrm flipH="1">
            <a:off x="7543800" y="2697480"/>
            <a:ext cx="777240" cy="1645920"/>
          </a:xfrm>
          <a:prstGeom prst="line">
            <a:avLst/>
          </a:prstGeom>
          <a:noFill/>
          <a:ln w="25400">
            <a:solidFill>
              <a:srgbClr val="8B8B8B"/>
            </a:solidFill>
            <a:prstDash val="solid"/>
            <a:tailEnd type="triangle"/>
          </a:ln>
        </p:spPr>
      </p:sp>
      <p:sp>
        <p:nvSpPr>
          <p:cNvPr id="21" name="rules to firestore"/>
          <p:cNvSpPr/>
          <p:nvPr/>
        </p:nvSpPr>
        <p:spPr>
          <a:xfrm>
            <a:off x="3657600" y="4206240"/>
            <a:ext cx="777240" cy="594360"/>
          </a:xfrm>
          <a:prstGeom prst="line">
            <a:avLst/>
          </a:prstGeom>
          <a:noFill/>
          <a:ln w="25400">
            <a:solidFill>
              <a:srgbClr val="8B8B8B"/>
            </a:solidFill>
            <a:prstDash val="solid"/>
            <a:tailEnd type="triangle"/>
          </a:ln>
        </p:spPr>
      </p:sp>
      <p:sp>
        <p:nvSpPr>
          <p:cNvPr id="22" name="auth to firestore"/>
          <p:cNvSpPr/>
          <p:nvPr/>
        </p:nvSpPr>
        <p:spPr>
          <a:xfrm flipH="1">
            <a:off x="3657600" y="2331720"/>
            <a:ext cx="777240" cy="594360"/>
          </a:xfrm>
          <a:prstGeom prst="line">
            <a:avLst/>
          </a:prstGeom>
          <a:noFill/>
          <a:ln w="25400">
            <a:solidFill>
              <a:srgbClr val="8B8B8B"/>
            </a:solidFill>
            <a:prstDash val="solid"/>
            <a:tailEnd type="triangle"/>
          </a:ln>
        </p:spPr>
      </p:sp>
      <p:sp>
        <p:nvSpPr>
          <p:cNvPr id="23" name="Text 21"/>
          <p:cNvSpPr txBox="1"/>
          <p:nvPr/>
        </p:nvSpPr>
        <p:spPr>
          <a:xfrm>
            <a:off x="548640" y="5852160"/>
            <a:ext cx="11091672" cy="411480"/>
          </a:xfrm>
          <a:prstGeom prst="rect">
            <a:avLst/>
          </a:prstGeom>
          <a:noFill/>
          <a:ln/>
        </p:spPr>
        <p:txBody>
          <a:bodyPr wrap="square" lIns="0" tIns="0" rIns="0" bIns="0" rtlCol="0" anchor="t"/>
          <a:lstStyle/>
          <a:p>
            <a:pPr rtl="1" algn="r" indent="0" marL="0">
              <a:buNone/>
            </a:pPr>
            <a:r>
              <a:rPr lang="ar-SA" altLang="en-US" sz="1400" b="1" dirty="0">
                <a:solidFill>
                  <a:schemeClr val="tx2"/>
                </a:solidFill>
              </a:rPr>
              <a:t>كل تطبيق مقسّم إلى طبقات: النماذج (Model) ← المستودعات (Repository / StateFlow) ← الواجهات (Composable) ← التنقّل (NavHost)</a:t>
            </a:r>
            <a:endParaRPr lang="ar-SA" sz="1400" dirty="0"/>
          </a:p>
        </p:txBody>
      </p:sp>
      <p:sp>
        <p:nvSpPr>
          <p:cNvPr id="25" name="Slide Number Placeholder 0"/>
          <p:cNvSpPr>
            <a:spLocks noGrp="1"/>
          </p:cNvSpPr>
          <p:nvPr>
            <p:ph type="sldNum" sz="quarter" idx="4294967295"/>
          </p:nvPr>
        </p:nvSpPr>
        <p:spPr>
          <a:xfrm>
            <a:off x="5486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470"/>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1463040" y="347472"/>
            <a:ext cx="10177272" cy="731520"/>
          </a:xfrm>
          <a:prstGeom prst="rect">
            <a:avLst/>
          </a:prstGeom>
          <a:noFill/>
          <a:ln/>
        </p:spPr>
        <p:txBody>
          <a:bodyPr wrap="square" lIns="0" tIns="0" rIns="0" bIns="0" rtlCol="0" anchor="ctr"/>
          <a:lstStyle/>
          <a:p>
            <a:pPr rtl="1" algn="r" indent="0" marL="0">
              <a:buNone/>
            </a:pPr>
            <a:r>
              <a:rPr lang="en-US" sz="3200" b="1" dirty="0">
                <a:solidFill>
                  <a:schemeClr val="tx2"/>
                </a:solidFill>
              </a:rPr>
              <a:t>نموذج المبنى: من الدور حتى الكتاب</a:t>
            </a:r>
            <a:endParaRPr lang="en-US" sz="3200" dirty="0"/>
          </a:p>
        </p:txBody>
      </p:sp>
      <p:sp>
        <p:nvSpPr>
          <p:cNvPr id="3" name="level 1"/>
          <p:cNvSpPr/>
          <p:nvPr/>
        </p:nvSpPr>
        <p:spPr>
          <a:xfrm flipH="1">
            <a:off x="9942271" y="1508760"/>
            <a:ext cx="1700784" cy="1143000"/>
          </a:xfrm>
          <a:prstGeom prst="chevron">
            <a:avLst/>
          </a:prstGeom>
          <a:solidFill>
            <a:schemeClr val="accent1"/>
          </a:solidFill>
          <a:ln w="12700">
            <a:solidFill>
              <a:schemeClr val="accent1"/>
            </a:solidFill>
            <a:prstDash val="solid"/>
          </a:ln>
        </p:spPr>
      </p:sp>
      <p:sp>
        <p:nvSpPr>
          <p:cNvPr id="4" name="Text 2"/>
          <p:cNvSpPr txBox="1"/>
          <p:nvPr/>
        </p:nvSpPr>
        <p:spPr>
          <a:xfrm>
            <a:off x="10033711" y="1508760"/>
            <a:ext cx="1517904" cy="1143000"/>
          </a:xfrm>
          <a:prstGeom prst="rect">
            <a:avLst/>
          </a:prstGeom>
          <a:noFill/>
          <a:ln/>
        </p:spPr>
        <p:txBody>
          <a:bodyPr wrap="square" lIns="0" tIns="0" rIns="0" bIns="0" rtlCol="0" anchor="ctr"/>
          <a:lstStyle/>
          <a:p>
            <a:pPr algn="ctr" indent="0" marL="0">
              <a:buNone/>
            </a:pPr>
            <a:r>
              <a:rPr lang="en-US" sz="1800" b="1" dirty="0">
                <a:solidFill>
                  <a:schemeClr val="bg1"/>
                </a:solidFill>
              </a:rPr>
              <a:t>الدور</a:t>
            </a:r>
            <a:endParaRPr lang="en-US" sz="1800" dirty="0"/>
          </a:p>
        </p:txBody>
      </p:sp>
      <p:sp>
        <p:nvSpPr>
          <p:cNvPr id="5" name="Text 3"/>
          <p:cNvSpPr txBox="1"/>
          <p:nvPr/>
        </p:nvSpPr>
        <p:spPr>
          <a:xfrm>
            <a:off x="9942271" y="2743200"/>
            <a:ext cx="1700784" cy="457200"/>
          </a:xfrm>
          <a:prstGeom prst="rect">
            <a:avLst/>
          </a:prstGeom>
          <a:noFill/>
          <a:ln/>
        </p:spPr>
        <p:txBody>
          <a:bodyPr wrap="square" lIns="0" tIns="0" rIns="0" bIns="0" rtlCol="0" anchor="ctr"/>
          <a:lstStyle/>
          <a:p>
            <a:pPr rtl="1" algn="ctr" indent="0" marL="0">
              <a:buNone/>
            </a:pPr>
            <a:r>
              <a:rPr lang="en-US" sz="1200" dirty="0">
                <a:solidFill>
                  <a:srgbClr val="6B7470"/>
                </a:solidFill>
              </a:rPr>
              <a:t>floors</a:t>
            </a:r>
            <a:endParaRPr lang="en-US" sz="1200" dirty="0"/>
          </a:p>
        </p:txBody>
      </p:sp>
      <p:sp>
        <p:nvSpPr>
          <p:cNvPr id="6" name="level 2"/>
          <p:cNvSpPr/>
          <p:nvPr/>
        </p:nvSpPr>
        <p:spPr>
          <a:xfrm flipH="1">
            <a:off x="8067751" y="1508760"/>
            <a:ext cx="1700784" cy="1143000"/>
          </a:xfrm>
          <a:prstGeom prst="chevron">
            <a:avLst/>
          </a:prstGeom>
          <a:solidFill>
            <a:schemeClr val="accent1"/>
          </a:solidFill>
          <a:ln w="12700">
            <a:solidFill>
              <a:schemeClr val="accent1"/>
            </a:solidFill>
            <a:prstDash val="solid"/>
          </a:ln>
        </p:spPr>
      </p:sp>
      <p:sp>
        <p:nvSpPr>
          <p:cNvPr id="7" name="Text 5"/>
          <p:cNvSpPr txBox="1"/>
          <p:nvPr/>
        </p:nvSpPr>
        <p:spPr>
          <a:xfrm>
            <a:off x="8159191" y="1508760"/>
            <a:ext cx="1517904" cy="1143000"/>
          </a:xfrm>
          <a:prstGeom prst="rect">
            <a:avLst/>
          </a:prstGeom>
          <a:noFill/>
          <a:ln/>
        </p:spPr>
        <p:txBody>
          <a:bodyPr wrap="square" lIns="0" tIns="0" rIns="0" bIns="0" rtlCol="0" anchor="ctr"/>
          <a:lstStyle/>
          <a:p>
            <a:pPr algn="ctr" indent="0" marL="0">
              <a:buNone/>
            </a:pPr>
            <a:r>
              <a:rPr lang="en-US" sz="1800" b="1" dirty="0">
                <a:solidFill>
                  <a:schemeClr val="bg1"/>
                </a:solidFill>
              </a:rPr>
              <a:t>البلوك</a:t>
            </a:r>
            <a:endParaRPr lang="en-US" sz="1800" dirty="0"/>
          </a:p>
        </p:txBody>
      </p:sp>
      <p:sp>
        <p:nvSpPr>
          <p:cNvPr id="8" name="Text 6"/>
          <p:cNvSpPr txBox="1"/>
          <p:nvPr/>
        </p:nvSpPr>
        <p:spPr>
          <a:xfrm>
            <a:off x="8067751" y="2743200"/>
            <a:ext cx="1700784" cy="457200"/>
          </a:xfrm>
          <a:prstGeom prst="rect">
            <a:avLst/>
          </a:prstGeom>
          <a:noFill/>
          <a:ln/>
        </p:spPr>
        <p:txBody>
          <a:bodyPr wrap="square" lIns="0" tIns="0" rIns="0" bIns="0" rtlCol="0" anchor="ctr"/>
          <a:lstStyle/>
          <a:p>
            <a:pPr rtl="1" algn="ctr" indent="0" marL="0">
              <a:buNone/>
            </a:pPr>
            <a:r>
              <a:rPr lang="en-US" sz="1200" dirty="0">
                <a:solidFill>
                  <a:srgbClr val="6B7470"/>
                </a:solidFill>
              </a:rPr>
              <a:t>شبكة صفوف وأعمدة</a:t>
            </a:r>
            <a:endParaRPr lang="en-US" sz="1200" dirty="0"/>
          </a:p>
        </p:txBody>
      </p:sp>
      <p:sp>
        <p:nvSpPr>
          <p:cNvPr id="9" name="level 3"/>
          <p:cNvSpPr/>
          <p:nvPr/>
        </p:nvSpPr>
        <p:spPr>
          <a:xfrm flipH="1">
            <a:off x="6193231" y="1508760"/>
            <a:ext cx="1700784" cy="1143000"/>
          </a:xfrm>
          <a:prstGeom prst="chevron">
            <a:avLst/>
          </a:prstGeom>
          <a:solidFill>
            <a:schemeClr val="accent1"/>
          </a:solidFill>
          <a:ln w="12700">
            <a:solidFill>
              <a:schemeClr val="accent1"/>
            </a:solidFill>
            <a:prstDash val="solid"/>
          </a:ln>
        </p:spPr>
      </p:sp>
      <p:sp>
        <p:nvSpPr>
          <p:cNvPr id="10" name="Text 8"/>
          <p:cNvSpPr txBox="1"/>
          <p:nvPr/>
        </p:nvSpPr>
        <p:spPr>
          <a:xfrm>
            <a:off x="6284671" y="1508760"/>
            <a:ext cx="1517904" cy="1143000"/>
          </a:xfrm>
          <a:prstGeom prst="rect">
            <a:avLst/>
          </a:prstGeom>
          <a:noFill/>
          <a:ln/>
        </p:spPr>
        <p:txBody>
          <a:bodyPr wrap="square" lIns="0" tIns="0" rIns="0" bIns="0" rtlCol="0" anchor="ctr"/>
          <a:lstStyle/>
          <a:p>
            <a:pPr algn="ctr" indent="0" marL="0">
              <a:buNone/>
            </a:pPr>
            <a:r>
              <a:rPr lang="en-US" sz="1800" b="1" dirty="0">
                <a:solidFill>
                  <a:schemeClr val="bg1"/>
                </a:solidFill>
              </a:rPr>
              <a:t>الممر</a:t>
            </a:r>
            <a:endParaRPr lang="en-US" sz="1800" dirty="0"/>
          </a:p>
        </p:txBody>
      </p:sp>
      <p:sp>
        <p:nvSpPr>
          <p:cNvPr id="11" name="Text 9"/>
          <p:cNvSpPr txBox="1"/>
          <p:nvPr/>
        </p:nvSpPr>
        <p:spPr>
          <a:xfrm>
            <a:off x="6193231" y="2743200"/>
            <a:ext cx="1700784" cy="457200"/>
          </a:xfrm>
          <a:prstGeom prst="rect">
            <a:avLst/>
          </a:prstGeom>
          <a:noFill/>
          <a:ln/>
        </p:spPr>
        <p:txBody>
          <a:bodyPr wrap="square" lIns="0" tIns="0" rIns="0" bIns="0" rtlCol="0" anchor="ctr"/>
          <a:lstStyle/>
          <a:p>
            <a:pPr rtl="1" algn="ctr" indent="0" marL="0">
              <a:buNone/>
            </a:pPr>
            <a:r>
              <a:rPr lang="en-US" sz="1200" dirty="0">
                <a:solidFill>
                  <a:srgbClr val="6B7470"/>
                </a:solidFill>
              </a:rPr>
              <a:t>داخل البلوك</a:t>
            </a:r>
            <a:endParaRPr lang="en-US" sz="1200" dirty="0"/>
          </a:p>
        </p:txBody>
      </p:sp>
      <p:sp>
        <p:nvSpPr>
          <p:cNvPr id="12" name="level 4"/>
          <p:cNvSpPr/>
          <p:nvPr/>
        </p:nvSpPr>
        <p:spPr>
          <a:xfrm flipH="1">
            <a:off x="4318711" y="1508760"/>
            <a:ext cx="1700784" cy="1143000"/>
          </a:xfrm>
          <a:prstGeom prst="chevron">
            <a:avLst/>
          </a:prstGeom>
          <a:solidFill>
            <a:schemeClr val="accent1"/>
          </a:solidFill>
          <a:ln w="12700">
            <a:solidFill>
              <a:schemeClr val="accent1"/>
            </a:solidFill>
            <a:prstDash val="solid"/>
          </a:ln>
        </p:spPr>
      </p:sp>
      <p:sp>
        <p:nvSpPr>
          <p:cNvPr id="13" name="Text 11"/>
          <p:cNvSpPr txBox="1"/>
          <p:nvPr/>
        </p:nvSpPr>
        <p:spPr>
          <a:xfrm>
            <a:off x="4410151" y="1508760"/>
            <a:ext cx="1517904" cy="1143000"/>
          </a:xfrm>
          <a:prstGeom prst="rect">
            <a:avLst/>
          </a:prstGeom>
          <a:noFill/>
          <a:ln/>
        </p:spPr>
        <p:txBody>
          <a:bodyPr wrap="square" lIns="0" tIns="0" rIns="0" bIns="0" rtlCol="0" anchor="ctr"/>
          <a:lstStyle/>
          <a:p>
            <a:pPr algn="ctr" indent="0" marL="0">
              <a:buNone/>
            </a:pPr>
            <a:r>
              <a:rPr lang="en-US" sz="1800" b="1" dirty="0">
                <a:solidFill>
                  <a:schemeClr val="bg1"/>
                </a:solidFill>
              </a:rPr>
              <a:t>الرف</a:t>
            </a:r>
            <a:endParaRPr lang="en-US" sz="1800" dirty="0"/>
          </a:p>
        </p:txBody>
      </p:sp>
      <p:sp>
        <p:nvSpPr>
          <p:cNvPr id="14" name="Text 12"/>
          <p:cNvSpPr txBox="1"/>
          <p:nvPr/>
        </p:nvSpPr>
        <p:spPr>
          <a:xfrm>
            <a:off x="4318711" y="2743200"/>
            <a:ext cx="1700784" cy="457200"/>
          </a:xfrm>
          <a:prstGeom prst="rect">
            <a:avLst/>
          </a:prstGeom>
          <a:noFill/>
          <a:ln/>
        </p:spPr>
        <p:txBody>
          <a:bodyPr wrap="square" lIns="0" tIns="0" rIns="0" bIns="0" rtlCol="0" anchor="ctr"/>
          <a:lstStyle/>
          <a:p>
            <a:pPr rtl="1" algn="ctr" indent="0" marL="0">
              <a:buNone/>
            </a:pPr>
            <a:r>
              <a:rPr lang="en-US" sz="1200" dirty="0">
                <a:solidFill>
                  <a:srgbClr val="6B7470"/>
                </a:solidFill>
              </a:rPr>
              <a:t>shelves · رمز مثل B1-1-2</a:t>
            </a:r>
            <a:endParaRPr lang="en-US" sz="1200" dirty="0"/>
          </a:p>
        </p:txBody>
      </p:sp>
      <p:sp>
        <p:nvSpPr>
          <p:cNvPr id="15" name="level 5"/>
          <p:cNvSpPr/>
          <p:nvPr/>
        </p:nvSpPr>
        <p:spPr>
          <a:xfrm flipH="1">
            <a:off x="2444191" y="1508760"/>
            <a:ext cx="1700784" cy="1143000"/>
          </a:xfrm>
          <a:prstGeom prst="chevron">
            <a:avLst/>
          </a:prstGeom>
          <a:solidFill>
            <a:schemeClr val="accent1"/>
          </a:solidFill>
          <a:ln w="12700">
            <a:solidFill>
              <a:schemeClr val="accent1"/>
            </a:solidFill>
            <a:prstDash val="solid"/>
          </a:ln>
        </p:spPr>
      </p:sp>
      <p:sp>
        <p:nvSpPr>
          <p:cNvPr id="16" name="Text 14"/>
          <p:cNvSpPr txBox="1"/>
          <p:nvPr/>
        </p:nvSpPr>
        <p:spPr>
          <a:xfrm>
            <a:off x="2535631" y="1508760"/>
            <a:ext cx="1517904" cy="1143000"/>
          </a:xfrm>
          <a:prstGeom prst="rect">
            <a:avLst/>
          </a:prstGeom>
          <a:noFill/>
          <a:ln/>
        </p:spPr>
        <p:txBody>
          <a:bodyPr wrap="square" lIns="0" tIns="0" rIns="0" bIns="0" rtlCol="0" anchor="ctr"/>
          <a:lstStyle/>
          <a:p>
            <a:pPr algn="ctr" indent="0" marL="0">
              <a:buNone/>
            </a:pPr>
            <a:r>
              <a:rPr lang="en-US" sz="1800" b="1" dirty="0">
                <a:solidFill>
                  <a:schemeClr val="bg1"/>
                </a:solidFill>
              </a:rPr>
              <a:t>المستوى</a:t>
            </a:r>
            <a:endParaRPr lang="en-US" sz="1800" dirty="0"/>
          </a:p>
        </p:txBody>
      </p:sp>
      <p:sp>
        <p:nvSpPr>
          <p:cNvPr id="17" name="Text 15"/>
          <p:cNvSpPr txBox="1"/>
          <p:nvPr/>
        </p:nvSpPr>
        <p:spPr>
          <a:xfrm>
            <a:off x="2444191" y="2743200"/>
            <a:ext cx="1700784" cy="457200"/>
          </a:xfrm>
          <a:prstGeom prst="rect">
            <a:avLst/>
          </a:prstGeom>
          <a:noFill/>
          <a:ln/>
        </p:spPr>
        <p:txBody>
          <a:bodyPr wrap="square" lIns="0" tIns="0" rIns="0" bIns="0" rtlCol="0" anchor="ctr"/>
          <a:lstStyle/>
          <a:p>
            <a:pPr rtl="1" algn="ctr" indent="0" marL="0">
              <a:buNone/>
            </a:pPr>
            <a:r>
              <a:rPr lang="en-US" sz="1200" dirty="0">
                <a:solidFill>
                  <a:srgbClr val="6B7470"/>
                </a:solidFill>
              </a:rPr>
              <a:t>علوي · أوسط · سفلي</a:t>
            </a:r>
            <a:endParaRPr lang="en-US" sz="1200" dirty="0"/>
          </a:p>
        </p:txBody>
      </p:sp>
      <p:sp>
        <p:nvSpPr>
          <p:cNvPr id="18" name="level 6"/>
          <p:cNvSpPr/>
          <p:nvPr/>
        </p:nvSpPr>
        <p:spPr>
          <a:xfrm flipH="1">
            <a:off x="569671" y="1508760"/>
            <a:ext cx="1700784" cy="1143000"/>
          </a:xfrm>
          <a:prstGeom prst="chevron">
            <a:avLst/>
          </a:prstGeom>
          <a:solidFill>
            <a:schemeClr val="accent2"/>
          </a:solidFill>
          <a:ln w="12700">
            <a:solidFill>
              <a:schemeClr val="accent2"/>
            </a:solidFill>
            <a:prstDash val="solid"/>
          </a:ln>
        </p:spPr>
      </p:sp>
      <p:sp>
        <p:nvSpPr>
          <p:cNvPr id="19" name="Text 17"/>
          <p:cNvSpPr txBox="1"/>
          <p:nvPr/>
        </p:nvSpPr>
        <p:spPr>
          <a:xfrm>
            <a:off x="661111" y="1508760"/>
            <a:ext cx="1517904" cy="1143000"/>
          </a:xfrm>
          <a:prstGeom prst="rect">
            <a:avLst/>
          </a:prstGeom>
          <a:noFill/>
          <a:ln/>
        </p:spPr>
        <p:txBody>
          <a:bodyPr wrap="square" lIns="0" tIns="0" rIns="0" bIns="0" rtlCol="0" anchor="ctr"/>
          <a:lstStyle/>
          <a:p>
            <a:pPr algn="ctr" indent="0" marL="0">
              <a:buNone/>
            </a:pPr>
            <a:r>
              <a:rPr lang="en-US" sz="1800" b="1" dirty="0">
                <a:solidFill>
                  <a:schemeClr val="bg1"/>
                </a:solidFill>
              </a:rPr>
              <a:t>الكتاب</a:t>
            </a:r>
            <a:endParaRPr lang="en-US" sz="1800" dirty="0"/>
          </a:p>
        </p:txBody>
      </p:sp>
      <p:sp>
        <p:nvSpPr>
          <p:cNvPr id="20" name="Text 18"/>
          <p:cNvSpPr txBox="1"/>
          <p:nvPr/>
        </p:nvSpPr>
        <p:spPr>
          <a:xfrm>
            <a:off x="569671" y="2743200"/>
            <a:ext cx="1700784" cy="457200"/>
          </a:xfrm>
          <a:prstGeom prst="rect">
            <a:avLst/>
          </a:prstGeom>
          <a:noFill/>
          <a:ln/>
        </p:spPr>
        <p:txBody>
          <a:bodyPr wrap="square" lIns="0" tIns="0" rIns="0" bIns="0" rtlCol="0" anchor="ctr"/>
          <a:lstStyle/>
          <a:p>
            <a:pPr rtl="1" algn="ctr" indent="0" marL="0">
              <a:buNone/>
            </a:pPr>
            <a:r>
              <a:rPr lang="en-US" sz="1200" dirty="0">
                <a:solidFill>
                  <a:srgbClr val="6B7470"/>
                </a:solidFill>
              </a:rPr>
              <a:t>books</a:t>
            </a:r>
            <a:endParaRPr lang="en-US" sz="1200" dirty="0"/>
          </a:p>
        </p:txBody>
      </p:sp>
      <p:pic>
        <p:nvPicPr>
          <p:cNvPr id="21" name="floor map" descr="/tmp/claude-0/-home-user-CLAUDE/0be54b07-c1ba-5b31-958a-45d5f68df334/scratchpad/deck/img/route_map.png">    </p:cNvPr>
          <p:cNvPicPr>
            <a:picLocks noChangeAspect="1"/>
          </p:cNvPicPr>
          <p:nvPr/>
        </p:nvPicPr>
        <p:blipFill>
          <a:blip r:embed="rId1"/>
          <a:stretch>
            <a:fillRect/>
          </a:stretch>
        </p:blipFill>
        <p:spPr>
          <a:xfrm>
            <a:off x="960120" y="3383280"/>
            <a:ext cx="3016577" cy="2926080"/>
          </a:xfrm>
          <a:prstGeom prst="rect">
            <a:avLst/>
          </a:prstGeom>
        </p:spPr>
      </p:pic>
      <p:sp>
        <p:nvSpPr>
          <p:cNvPr id="22" name="model point 1 circle"/>
          <p:cNvSpPr/>
          <p:nvPr/>
        </p:nvSpPr>
        <p:spPr>
          <a:xfrm>
            <a:off x="11094415" y="3520440"/>
            <a:ext cx="548640" cy="548640"/>
          </a:xfrm>
          <a:prstGeom prst="ellipse">
            <a:avLst/>
          </a:prstGeom>
          <a:solidFill>
            <a:schemeClr val="accent4"/>
          </a:solidFill>
          <a:ln w="12700">
            <a:solidFill>
              <a:schemeClr val="accent4"/>
            </a:solidFill>
            <a:prstDash val="solid"/>
          </a:ln>
        </p:spPr>
      </p:sp>
      <p:pic>
        <p:nvPicPr>
          <p:cNvPr id="23" name="model point 1 icon" descr="preencoded.png">    </p:cNvPr>
          <p:cNvPicPr>
            <a:picLocks noChangeAspect="1"/>
          </p:cNvPicPr>
          <p:nvPr/>
        </p:nvPicPr>
        <p:blipFill>
          <a:blip r:embed="rId2"/>
          <a:stretch>
            <a:fillRect/>
          </a:stretch>
        </p:blipFill>
        <p:spPr>
          <a:xfrm>
            <a:off x="11237062" y="3663086"/>
            <a:ext cx="263347" cy="263347"/>
          </a:xfrm>
          <a:prstGeom prst="rect">
            <a:avLst/>
          </a:prstGeom>
        </p:spPr>
      </p:pic>
      <p:sp>
        <p:nvSpPr>
          <p:cNvPr id="24" name="Text 20"/>
          <p:cNvSpPr txBox="1"/>
          <p:nvPr/>
        </p:nvSpPr>
        <p:spPr>
          <a:xfrm>
            <a:off x="4572000" y="3520440"/>
            <a:ext cx="6355080" cy="777240"/>
          </a:xfrm>
          <a:prstGeom prst="rect">
            <a:avLst/>
          </a:prstGeom>
          <a:noFill/>
          <a:ln/>
        </p:spPr>
        <p:txBody>
          <a:bodyPr wrap="square" lIns="0" tIns="0" rIns="0" bIns="0" rtlCol="0" anchor="ctr"/>
          <a:lstStyle/>
          <a:p>
            <a:pPr rtl="1" algn="r" indent="0" marL="0">
              <a:buNone/>
            </a:pPr>
            <a:r>
              <a:rPr lang="ar-SA" altLang="en-US" sz="1500" dirty="0">
                <a:solidFill>
                  <a:schemeClr val="tx1"/>
                </a:solidFill>
              </a:rPr>
              <a:t>الرف هو مصدر الحقيقة: موقع الكتاب يُحَلّ من رفّه لحظة العرض، فنقل رف واحد ينقل كل كتبه تلقائيًا.</a:t>
            </a:r>
            <a:endParaRPr lang="ar-SA" sz="1500" dirty="0"/>
          </a:p>
        </p:txBody>
      </p:sp>
      <p:sp>
        <p:nvSpPr>
          <p:cNvPr id="25" name="model point 2 circle"/>
          <p:cNvSpPr/>
          <p:nvPr/>
        </p:nvSpPr>
        <p:spPr>
          <a:xfrm>
            <a:off x="11094415" y="4434840"/>
            <a:ext cx="548640" cy="548640"/>
          </a:xfrm>
          <a:prstGeom prst="ellipse">
            <a:avLst/>
          </a:prstGeom>
          <a:solidFill>
            <a:schemeClr val="accent4"/>
          </a:solidFill>
          <a:ln w="12700">
            <a:solidFill>
              <a:schemeClr val="accent4"/>
            </a:solidFill>
            <a:prstDash val="solid"/>
          </a:ln>
        </p:spPr>
      </p:sp>
      <p:pic>
        <p:nvPicPr>
          <p:cNvPr id="26" name="model point 2 icon" descr="preencoded.png">    </p:cNvPr>
          <p:cNvPicPr>
            <a:picLocks noChangeAspect="1"/>
          </p:cNvPicPr>
          <p:nvPr/>
        </p:nvPicPr>
        <p:blipFill>
          <a:blip r:embed="rId3"/>
          <a:stretch>
            <a:fillRect/>
          </a:stretch>
        </p:blipFill>
        <p:spPr>
          <a:xfrm>
            <a:off x="11237062" y="4577486"/>
            <a:ext cx="263347" cy="263347"/>
          </a:xfrm>
          <a:prstGeom prst="rect">
            <a:avLst/>
          </a:prstGeom>
        </p:spPr>
      </p:pic>
      <p:sp>
        <p:nvSpPr>
          <p:cNvPr id="27" name="Text 22"/>
          <p:cNvSpPr txBox="1"/>
          <p:nvPr/>
        </p:nvSpPr>
        <p:spPr>
          <a:xfrm>
            <a:off x="4572000" y="4434840"/>
            <a:ext cx="6355080" cy="777240"/>
          </a:xfrm>
          <a:prstGeom prst="rect">
            <a:avLst/>
          </a:prstGeom>
          <a:noFill/>
          <a:ln/>
        </p:spPr>
        <p:txBody>
          <a:bodyPr wrap="square" lIns="0" tIns="0" rIns="0" bIns="0" rtlCol="0" anchor="ctr"/>
          <a:lstStyle/>
          <a:p>
            <a:pPr rtl="1" algn="r" indent="0" marL="0">
              <a:buNone/>
            </a:pPr>
            <a:r>
              <a:rPr lang="ar-SA" altLang="en-US" sz="1500" dirty="0">
                <a:solidFill>
                  <a:schemeClr val="tx1"/>
                </a:solidFill>
              </a:rPr>
              <a:t>الخريطة تُرسم من البيانات بالشيفرة (Canvas) لا من صورة، وتتحدّث فورًا في التطبيقين.</a:t>
            </a:r>
            <a:endParaRPr lang="ar-SA" sz="1500" dirty="0"/>
          </a:p>
        </p:txBody>
      </p:sp>
      <p:sp>
        <p:nvSpPr>
          <p:cNvPr id="28" name="model point 3 circle"/>
          <p:cNvSpPr/>
          <p:nvPr/>
        </p:nvSpPr>
        <p:spPr>
          <a:xfrm>
            <a:off x="11094415" y="5349240"/>
            <a:ext cx="548640" cy="548640"/>
          </a:xfrm>
          <a:prstGeom prst="ellipse">
            <a:avLst/>
          </a:prstGeom>
          <a:solidFill>
            <a:schemeClr val="accent4"/>
          </a:solidFill>
          <a:ln w="12700">
            <a:solidFill>
              <a:schemeClr val="accent4"/>
            </a:solidFill>
            <a:prstDash val="solid"/>
          </a:ln>
        </p:spPr>
      </p:sp>
      <p:pic>
        <p:nvPicPr>
          <p:cNvPr id="29" name="model point 3 icon" descr="preencoded.png">    </p:cNvPr>
          <p:cNvPicPr>
            <a:picLocks noChangeAspect="1"/>
          </p:cNvPicPr>
          <p:nvPr/>
        </p:nvPicPr>
        <p:blipFill>
          <a:blip r:embed="rId4"/>
          <a:stretch>
            <a:fillRect/>
          </a:stretch>
        </p:blipFill>
        <p:spPr>
          <a:xfrm>
            <a:off x="11237062" y="5491886"/>
            <a:ext cx="263347" cy="263347"/>
          </a:xfrm>
          <a:prstGeom prst="rect">
            <a:avLst/>
          </a:prstGeom>
        </p:spPr>
      </p:pic>
      <p:sp>
        <p:nvSpPr>
          <p:cNvPr id="30" name="Text 24"/>
          <p:cNvSpPr txBox="1"/>
          <p:nvPr/>
        </p:nvSpPr>
        <p:spPr>
          <a:xfrm>
            <a:off x="4572000" y="5349240"/>
            <a:ext cx="6355080" cy="777240"/>
          </a:xfrm>
          <a:prstGeom prst="rect">
            <a:avLst/>
          </a:prstGeom>
          <a:noFill/>
          <a:ln/>
        </p:spPr>
        <p:txBody>
          <a:bodyPr wrap="square" lIns="0" tIns="0" rIns="0" bIns="0" rtlCol="0" anchor="ctr"/>
          <a:lstStyle/>
          <a:p>
            <a:pPr rtl="1" algn="r" indent="0" marL="0">
              <a:buNone/>
            </a:pPr>
            <a:r>
              <a:rPr lang="ar-SA" altLang="en-US" sz="1500" dirty="0">
                <a:solidFill>
                  <a:schemeClr val="tx1"/>
                </a:solidFill>
              </a:rPr>
              <a:t>القوائم المنسدلة متتالية: الدور يحصر البلوكات، والبلوك يحصر الممرات، فيستحيل تسجيل رف في مكان غير موجود.</a:t>
            </a:r>
            <a:endParaRPr lang="ar-SA" sz="1500" dirty="0"/>
          </a:p>
        </p:txBody>
      </p:sp>
      <p:sp>
        <p:nvSpPr>
          <p:cNvPr id="25" name="Slide Number Placeholder 0"/>
          <p:cNvSpPr>
            <a:spLocks noGrp="1"/>
          </p:cNvSpPr>
          <p:nvPr>
            <p:ph type="sldNum" sz="quarter" idx="4294967295"/>
          </p:nvPr>
        </p:nvSpPr>
        <p:spPr>
          <a:xfrm>
            <a:off x="5486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470"/>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1463040" y="347472"/>
            <a:ext cx="10177272" cy="731520"/>
          </a:xfrm>
          <a:prstGeom prst="rect">
            <a:avLst/>
          </a:prstGeom>
          <a:noFill/>
          <a:ln/>
        </p:spPr>
        <p:txBody>
          <a:bodyPr wrap="square" lIns="0" tIns="0" rIns="0" bIns="0" rtlCol="0" anchor="ctr"/>
          <a:lstStyle/>
          <a:p>
            <a:pPr rtl="1" algn="r" indent="0" marL="0">
              <a:buNone/>
            </a:pPr>
            <a:r>
              <a:rPr lang="en-US" sz="3200" b="1" dirty="0">
                <a:solidFill>
                  <a:schemeClr val="tx2"/>
                </a:solidFill>
              </a:rPr>
              <a:t>قاعدة البيانات Cloud Firestore</a:t>
            </a:r>
            <a:endParaRPr lang="en-US" sz="3200" dirty="0"/>
          </a:p>
        </p:txBody>
      </p:sp>
      <p:sp>
        <p:nvSpPr>
          <p:cNvPr id="3" name="collection books"/>
          <p:cNvSpPr/>
          <p:nvPr/>
        </p:nvSpPr>
        <p:spPr>
          <a:xfrm>
            <a:off x="8122615" y="1417320"/>
            <a:ext cx="3520440" cy="1143000"/>
          </a:xfrm>
          <a:prstGeom prst="roundRect">
            <a:avLst>
              <a:gd name="adj" fmla="val 9600"/>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4" name="collection icon 1 circle"/>
          <p:cNvSpPr/>
          <p:nvPr/>
        </p:nvSpPr>
        <p:spPr>
          <a:xfrm>
            <a:off x="10911535" y="1691640"/>
            <a:ext cx="548640" cy="548640"/>
          </a:xfrm>
          <a:prstGeom prst="ellipse">
            <a:avLst/>
          </a:prstGeom>
          <a:solidFill>
            <a:schemeClr val="accent1"/>
          </a:solidFill>
          <a:ln w="12700">
            <a:solidFill>
              <a:schemeClr val="accent1"/>
            </a:solidFill>
            <a:prstDash val="solid"/>
          </a:ln>
        </p:spPr>
      </p:sp>
      <p:pic>
        <p:nvPicPr>
          <p:cNvPr id="5" name="collection icon 1 icon" descr="preencoded.png">    </p:cNvPr>
          <p:cNvPicPr>
            <a:picLocks noChangeAspect="1"/>
          </p:cNvPicPr>
          <p:nvPr/>
        </p:nvPicPr>
        <p:blipFill>
          <a:blip r:embed="rId1"/>
          <a:stretch>
            <a:fillRect/>
          </a:stretch>
        </p:blipFill>
        <p:spPr>
          <a:xfrm>
            <a:off x="11054182" y="1834286"/>
            <a:ext cx="263347" cy="263347"/>
          </a:xfrm>
          <a:prstGeom prst="rect">
            <a:avLst/>
          </a:prstGeom>
        </p:spPr>
      </p:pic>
      <p:sp>
        <p:nvSpPr>
          <p:cNvPr id="6" name="Text 3"/>
          <p:cNvSpPr txBox="1"/>
          <p:nvPr/>
        </p:nvSpPr>
        <p:spPr>
          <a:xfrm>
            <a:off x="8351215" y="1581912"/>
            <a:ext cx="2423160" cy="365760"/>
          </a:xfrm>
          <a:prstGeom prst="rect">
            <a:avLst/>
          </a:prstGeom>
          <a:noFill/>
          <a:ln/>
        </p:spPr>
        <p:txBody>
          <a:bodyPr wrap="square" lIns="0" tIns="0" rIns="0" bIns="0" rtlCol="0" anchor="ctr"/>
          <a:lstStyle/>
          <a:p>
            <a:pPr algn="r" indent="0" marL="0">
              <a:buNone/>
            </a:pPr>
            <a:r>
              <a:rPr lang="en-US" sz="1700" b="1" dirty="0">
                <a:solidFill>
                  <a:schemeClr val="tx2"/>
                </a:solidFill>
              </a:rPr>
              <a:t>books</a:t>
            </a:r>
            <a:endParaRPr lang="en-US" sz="1700" dirty="0"/>
          </a:p>
        </p:txBody>
      </p:sp>
      <p:sp>
        <p:nvSpPr>
          <p:cNvPr id="7" name="Text 4"/>
          <p:cNvSpPr txBox="1"/>
          <p:nvPr/>
        </p:nvSpPr>
        <p:spPr>
          <a:xfrm>
            <a:off x="8351215" y="1965960"/>
            <a:ext cx="2423160" cy="502920"/>
          </a:xfrm>
          <a:prstGeom prst="rect">
            <a:avLst/>
          </a:prstGeom>
          <a:noFill/>
          <a:ln/>
        </p:spPr>
        <p:txBody>
          <a:bodyPr wrap="square" lIns="0" tIns="0" rIns="0" bIns="0" rtlCol="0" anchor="t"/>
          <a:lstStyle/>
          <a:p>
            <a:pPr rtl="1" algn="r" indent="0" marL="0">
              <a:buNone/>
            </a:pPr>
            <a:r>
              <a:rPr lang="ar-SA" altLang="en-US" sz="1300" dirty="0">
                <a:solidFill>
                  <a:schemeClr val="tx1"/>
                </a:solidFill>
              </a:rPr>
              <a:t>الكتب ورمز الرف وعدد النسخ والمُعار</a:t>
            </a:r>
            <a:endParaRPr lang="ar-SA" sz="1300" dirty="0"/>
          </a:p>
        </p:txBody>
      </p:sp>
      <p:sp>
        <p:nvSpPr>
          <p:cNvPr id="8" name="collection shelves"/>
          <p:cNvSpPr/>
          <p:nvPr/>
        </p:nvSpPr>
        <p:spPr>
          <a:xfrm>
            <a:off x="4336999" y="1417320"/>
            <a:ext cx="3520440" cy="1143000"/>
          </a:xfrm>
          <a:prstGeom prst="roundRect">
            <a:avLst>
              <a:gd name="adj" fmla="val 9600"/>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9" name="collection icon 2 circle"/>
          <p:cNvSpPr/>
          <p:nvPr/>
        </p:nvSpPr>
        <p:spPr>
          <a:xfrm>
            <a:off x="7125919" y="1691640"/>
            <a:ext cx="548640" cy="548640"/>
          </a:xfrm>
          <a:prstGeom prst="ellipse">
            <a:avLst/>
          </a:prstGeom>
          <a:solidFill>
            <a:schemeClr val="accent1"/>
          </a:solidFill>
          <a:ln w="12700">
            <a:solidFill>
              <a:schemeClr val="accent1"/>
            </a:solidFill>
            <a:prstDash val="solid"/>
          </a:ln>
        </p:spPr>
      </p:sp>
      <p:pic>
        <p:nvPicPr>
          <p:cNvPr id="10" name="collection icon 2 icon" descr="preencoded.png">    </p:cNvPr>
          <p:cNvPicPr>
            <a:picLocks noChangeAspect="1"/>
          </p:cNvPicPr>
          <p:nvPr/>
        </p:nvPicPr>
        <p:blipFill>
          <a:blip r:embed="rId2"/>
          <a:stretch>
            <a:fillRect/>
          </a:stretch>
        </p:blipFill>
        <p:spPr>
          <a:xfrm>
            <a:off x="7268566" y="1834286"/>
            <a:ext cx="263347" cy="263347"/>
          </a:xfrm>
          <a:prstGeom prst="rect">
            <a:avLst/>
          </a:prstGeom>
        </p:spPr>
      </p:pic>
      <p:sp>
        <p:nvSpPr>
          <p:cNvPr id="11" name="Text 7"/>
          <p:cNvSpPr txBox="1"/>
          <p:nvPr/>
        </p:nvSpPr>
        <p:spPr>
          <a:xfrm>
            <a:off x="4565599" y="1581912"/>
            <a:ext cx="2423160" cy="365760"/>
          </a:xfrm>
          <a:prstGeom prst="rect">
            <a:avLst/>
          </a:prstGeom>
          <a:noFill/>
          <a:ln/>
        </p:spPr>
        <p:txBody>
          <a:bodyPr wrap="square" lIns="0" tIns="0" rIns="0" bIns="0" rtlCol="0" anchor="ctr"/>
          <a:lstStyle/>
          <a:p>
            <a:pPr algn="r" indent="0" marL="0">
              <a:buNone/>
            </a:pPr>
            <a:r>
              <a:rPr lang="en-US" sz="1700" b="1" dirty="0">
                <a:solidFill>
                  <a:schemeClr val="tx2"/>
                </a:solidFill>
              </a:rPr>
              <a:t>shelves</a:t>
            </a:r>
            <a:endParaRPr lang="en-US" sz="1700" dirty="0"/>
          </a:p>
        </p:txBody>
      </p:sp>
      <p:sp>
        <p:nvSpPr>
          <p:cNvPr id="12" name="Text 8"/>
          <p:cNvSpPr txBox="1"/>
          <p:nvPr/>
        </p:nvSpPr>
        <p:spPr>
          <a:xfrm>
            <a:off x="4565599" y="1965960"/>
            <a:ext cx="2423160" cy="502920"/>
          </a:xfrm>
          <a:prstGeom prst="rect">
            <a:avLst/>
          </a:prstGeom>
          <a:noFill/>
          <a:ln/>
        </p:spPr>
        <p:txBody>
          <a:bodyPr wrap="square" lIns="0" tIns="0" rIns="0" bIns="0" rtlCol="0" anchor="t"/>
          <a:lstStyle/>
          <a:p>
            <a:pPr rtl="1" algn="r" indent="0" marL="0">
              <a:buNone/>
            </a:pPr>
            <a:r>
              <a:rPr lang="ar-SA" altLang="en-US" sz="1300" dirty="0">
                <a:solidFill>
                  <a:schemeClr val="tx1"/>
                </a:solidFill>
              </a:rPr>
              <a:t>الرفوف: الدور والبلوك والممر والترتيب والسعة</a:t>
            </a:r>
            <a:endParaRPr lang="ar-SA" sz="1300" dirty="0"/>
          </a:p>
        </p:txBody>
      </p:sp>
      <p:sp>
        <p:nvSpPr>
          <p:cNvPr id="13" name="collection floors"/>
          <p:cNvSpPr/>
          <p:nvPr/>
        </p:nvSpPr>
        <p:spPr>
          <a:xfrm>
            <a:off x="551383" y="1417320"/>
            <a:ext cx="3520440" cy="1143000"/>
          </a:xfrm>
          <a:prstGeom prst="roundRect">
            <a:avLst>
              <a:gd name="adj" fmla="val 9600"/>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14" name="collection icon 3 circle"/>
          <p:cNvSpPr/>
          <p:nvPr/>
        </p:nvSpPr>
        <p:spPr>
          <a:xfrm>
            <a:off x="3340303" y="1691640"/>
            <a:ext cx="548640" cy="548640"/>
          </a:xfrm>
          <a:prstGeom prst="ellipse">
            <a:avLst/>
          </a:prstGeom>
          <a:solidFill>
            <a:schemeClr val="accent1"/>
          </a:solidFill>
          <a:ln w="12700">
            <a:solidFill>
              <a:schemeClr val="accent1"/>
            </a:solidFill>
            <a:prstDash val="solid"/>
          </a:ln>
        </p:spPr>
      </p:sp>
      <p:pic>
        <p:nvPicPr>
          <p:cNvPr id="15" name="collection icon 3 icon" descr="preencoded.png">    </p:cNvPr>
          <p:cNvPicPr>
            <a:picLocks noChangeAspect="1"/>
          </p:cNvPicPr>
          <p:nvPr/>
        </p:nvPicPr>
        <p:blipFill>
          <a:blip r:embed="rId3"/>
          <a:stretch>
            <a:fillRect/>
          </a:stretch>
        </p:blipFill>
        <p:spPr>
          <a:xfrm>
            <a:off x="3482950" y="1834286"/>
            <a:ext cx="263347" cy="263347"/>
          </a:xfrm>
          <a:prstGeom prst="rect">
            <a:avLst/>
          </a:prstGeom>
        </p:spPr>
      </p:pic>
      <p:sp>
        <p:nvSpPr>
          <p:cNvPr id="16" name="Text 11"/>
          <p:cNvSpPr txBox="1"/>
          <p:nvPr/>
        </p:nvSpPr>
        <p:spPr>
          <a:xfrm>
            <a:off x="779983" y="1581912"/>
            <a:ext cx="2423160" cy="365760"/>
          </a:xfrm>
          <a:prstGeom prst="rect">
            <a:avLst/>
          </a:prstGeom>
          <a:noFill/>
          <a:ln/>
        </p:spPr>
        <p:txBody>
          <a:bodyPr wrap="square" lIns="0" tIns="0" rIns="0" bIns="0" rtlCol="0" anchor="ctr"/>
          <a:lstStyle/>
          <a:p>
            <a:pPr algn="r" indent="0" marL="0">
              <a:buNone/>
            </a:pPr>
            <a:r>
              <a:rPr lang="en-US" sz="1700" b="1" dirty="0">
                <a:solidFill>
                  <a:schemeClr val="tx2"/>
                </a:solidFill>
              </a:rPr>
              <a:t>floors</a:t>
            </a:r>
            <a:endParaRPr lang="en-US" sz="1700" dirty="0"/>
          </a:p>
        </p:txBody>
      </p:sp>
      <p:sp>
        <p:nvSpPr>
          <p:cNvPr id="17" name="Text 12"/>
          <p:cNvSpPr txBox="1"/>
          <p:nvPr/>
        </p:nvSpPr>
        <p:spPr>
          <a:xfrm>
            <a:off x="779983" y="1965960"/>
            <a:ext cx="2423160" cy="502920"/>
          </a:xfrm>
          <a:prstGeom prst="rect">
            <a:avLst/>
          </a:prstGeom>
          <a:noFill/>
          <a:ln/>
        </p:spPr>
        <p:txBody>
          <a:bodyPr wrap="square" lIns="0" tIns="0" rIns="0" bIns="0" rtlCol="0" anchor="t"/>
          <a:lstStyle/>
          <a:p>
            <a:pPr rtl="1" algn="r" indent="0" marL="0">
              <a:buNone/>
            </a:pPr>
            <a:r>
              <a:rPr lang="ar-SA" altLang="en-US" sz="1300" dirty="0">
                <a:solidFill>
                  <a:schemeClr val="tx1"/>
                </a:solidFill>
              </a:rPr>
              <a:t>الأدوار وشبكة البلوكات والممرات</a:t>
            </a:r>
            <a:endParaRPr lang="ar-SA" sz="1300" dirty="0"/>
          </a:p>
        </p:txBody>
      </p:sp>
      <p:sp>
        <p:nvSpPr>
          <p:cNvPr id="18" name="collection categories"/>
          <p:cNvSpPr/>
          <p:nvPr/>
        </p:nvSpPr>
        <p:spPr>
          <a:xfrm>
            <a:off x="8122615" y="2788920"/>
            <a:ext cx="3520440" cy="1143000"/>
          </a:xfrm>
          <a:prstGeom prst="roundRect">
            <a:avLst>
              <a:gd name="adj" fmla="val 9600"/>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19" name="collection icon 4 circle"/>
          <p:cNvSpPr/>
          <p:nvPr/>
        </p:nvSpPr>
        <p:spPr>
          <a:xfrm>
            <a:off x="10911535" y="3063240"/>
            <a:ext cx="548640" cy="548640"/>
          </a:xfrm>
          <a:prstGeom prst="ellipse">
            <a:avLst/>
          </a:prstGeom>
          <a:solidFill>
            <a:schemeClr val="accent1"/>
          </a:solidFill>
          <a:ln w="12700">
            <a:solidFill>
              <a:schemeClr val="accent1"/>
            </a:solidFill>
            <a:prstDash val="solid"/>
          </a:ln>
        </p:spPr>
      </p:sp>
      <p:pic>
        <p:nvPicPr>
          <p:cNvPr id="20" name="collection icon 4 icon" descr="preencoded.png">    </p:cNvPr>
          <p:cNvPicPr>
            <a:picLocks noChangeAspect="1"/>
          </p:cNvPicPr>
          <p:nvPr/>
        </p:nvPicPr>
        <p:blipFill>
          <a:blip r:embed="rId4"/>
          <a:stretch>
            <a:fillRect/>
          </a:stretch>
        </p:blipFill>
        <p:spPr>
          <a:xfrm>
            <a:off x="11054182" y="3205886"/>
            <a:ext cx="263347" cy="263347"/>
          </a:xfrm>
          <a:prstGeom prst="rect">
            <a:avLst/>
          </a:prstGeom>
        </p:spPr>
      </p:pic>
      <p:sp>
        <p:nvSpPr>
          <p:cNvPr id="21" name="Text 15"/>
          <p:cNvSpPr txBox="1"/>
          <p:nvPr/>
        </p:nvSpPr>
        <p:spPr>
          <a:xfrm>
            <a:off x="8351215" y="2953512"/>
            <a:ext cx="2423160" cy="365760"/>
          </a:xfrm>
          <a:prstGeom prst="rect">
            <a:avLst/>
          </a:prstGeom>
          <a:noFill/>
          <a:ln/>
        </p:spPr>
        <p:txBody>
          <a:bodyPr wrap="square" lIns="0" tIns="0" rIns="0" bIns="0" rtlCol="0" anchor="ctr"/>
          <a:lstStyle/>
          <a:p>
            <a:pPr algn="r" indent="0" marL="0">
              <a:buNone/>
            </a:pPr>
            <a:r>
              <a:rPr lang="en-US" sz="1700" b="1" dirty="0">
                <a:solidFill>
                  <a:schemeClr val="tx2"/>
                </a:solidFill>
              </a:rPr>
              <a:t>categories</a:t>
            </a:r>
            <a:endParaRPr lang="en-US" sz="1700" dirty="0"/>
          </a:p>
        </p:txBody>
      </p:sp>
      <p:sp>
        <p:nvSpPr>
          <p:cNvPr id="22" name="Text 16"/>
          <p:cNvSpPr txBox="1"/>
          <p:nvPr/>
        </p:nvSpPr>
        <p:spPr>
          <a:xfrm>
            <a:off x="8351215" y="3337560"/>
            <a:ext cx="2423160" cy="502920"/>
          </a:xfrm>
          <a:prstGeom prst="rect">
            <a:avLst/>
          </a:prstGeom>
          <a:noFill/>
          <a:ln/>
        </p:spPr>
        <p:txBody>
          <a:bodyPr wrap="square" lIns="0" tIns="0" rIns="0" bIns="0" rtlCol="0" anchor="t"/>
          <a:lstStyle/>
          <a:p>
            <a:pPr rtl="1" algn="r" indent="0" marL="0">
              <a:buNone/>
            </a:pPr>
            <a:r>
              <a:rPr lang="ar-SA" altLang="en-US" sz="1300" dirty="0">
                <a:solidFill>
                  <a:schemeClr val="tx1"/>
                </a:solidFill>
              </a:rPr>
              <a:t>التصنيفات</a:t>
            </a:r>
            <a:endParaRPr lang="ar-SA" sz="1300" dirty="0"/>
          </a:p>
        </p:txBody>
      </p:sp>
      <p:sp>
        <p:nvSpPr>
          <p:cNvPr id="23" name="collection loans"/>
          <p:cNvSpPr/>
          <p:nvPr/>
        </p:nvSpPr>
        <p:spPr>
          <a:xfrm>
            <a:off x="4336999" y="2788920"/>
            <a:ext cx="3520440" cy="1143000"/>
          </a:xfrm>
          <a:prstGeom prst="roundRect">
            <a:avLst>
              <a:gd name="adj" fmla="val 9600"/>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24" name="collection icon 5 circle"/>
          <p:cNvSpPr/>
          <p:nvPr/>
        </p:nvSpPr>
        <p:spPr>
          <a:xfrm>
            <a:off x="7125919" y="3063240"/>
            <a:ext cx="548640" cy="548640"/>
          </a:xfrm>
          <a:prstGeom prst="ellipse">
            <a:avLst/>
          </a:prstGeom>
          <a:solidFill>
            <a:schemeClr val="accent2"/>
          </a:solidFill>
          <a:ln w="12700">
            <a:solidFill>
              <a:schemeClr val="accent2"/>
            </a:solidFill>
            <a:prstDash val="solid"/>
          </a:ln>
        </p:spPr>
      </p:sp>
      <p:pic>
        <p:nvPicPr>
          <p:cNvPr id="25" name="collection icon 5 icon" descr="preencoded.png">    </p:cNvPr>
          <p:cNvPicPr>
            <a:picLocks noChangeAspect="1"/>
          </p:cNvPicPr>
          <p:nvPr/>
        </p:nvPicPr>
        <p:blipFill>
          <a:blip r:embed="rId5"/>
          <a:stretch>
            <a:fillRect/>
          </a:stretch>
        </p:blipFill>
        <p:spPr>
          <a:xfrm>
            <a:off x="7268566" y="3205886"/>
            <a:ext cx="263347" cy="263347"/>
          </a:xfrm>
          <a:prstGeom prst="rect">
            <a:avLst/>
          </a:prstGeom>
        </p:spPr>
      </p:pic>
      <p:sp>
        <p:nvSpPr>
          <p:cNvPr id="26" name="Text 19"/>
          <p:cNvSpPr txBox="1"/>
          <p:nvPr/>
        </p:nvSpPr>
        <p:spPr>
          <a:xfrm>
            <a:off x="4565599" y="2953512"/>
            <a:ext cx="2423160" cy="365760"/>
          </a:xfrm>
          <a:prstGeom prst="rect">
            <a:avLst/>
          </a:prstGeom>
          <a:noFill/>
          <a:ln/>
        </p:spPr>
        <p:txBody>
          <a:bodyPr wrap="square" lIns="0" tIns="0" rIns="0" bIns="0" rtlCol="0" anchor="ctr"/>
          <a:lstStyle/>
          <a:p>
            <a:pPr algn="r" indent="0" marL="0">
              <a:buNone/>
            </a:pPr>
            <a:r>
              <a:rPr lang="en-US" sz="1700" b="1" dirty="0">
                <a:solidFill>
                  <a:schemeClr val="tx2"/>
                </a:solidFill>
              </a:rPr>
              <a:t>loans</a:t>
            </a:r>
            <a:endParaRPr lang="en-US" sz="1700" dirty="0"/>
          </a:p>
        </p:txBody>
      </p:sp>
      <p:sp>
        <p:nvSpPr>
          <p:cNvPr id="27" name="Text 20"/>
          <p:cNvSpPr txBox="1"/>
          <p:nvPr/>
        </p:nvSpPr>
        <p:spPr>
          <a:xfrm>
            <a:off x="4565599" y="3337560"/>
            <a:ext cx="2423160" cy="502920"/>
          </a:xfrm>
          <a:prstGeom prst="rect">
            <a:avLst/>
          </a:prstGeom>
          <a:noFill/>
          <a:ln/>
        </p:spPr>
        <p:txBody>
          <a:bodyPr wrap="square" lIns="0" tIns="0" rIns="0" bIns="0" rtlCol="0" anchor="t"/>
          <a:lstStyle/>
          <a:p>
            <a:pPr rtl="1" algn="r" indent="0" marL="0">
              <a:buNone/>
            </a:pPr>
            <a:r>
              <a:rPr lang="ar-SA" altLang="en-US" sz="1300" dirty="0">
                <a:solidFill>
                  <a:schemeClr val="tx1"/>
                </a:solidFill>
              </a:rPr>
              <a:t>الإعارات وحالتها وتواريخها وصورة الهوية</a:t>
            </a:r>
            <a:endParaRPr lang="ar-SA" sz="1300" dirty="0"/>
          </a:p>
        </p:txBody>
      </p:sp>
      <p:sp>
        <p:nvSpPr>
          <p:cNvPr id="28" name="collection users"/>
          <p:cNvSpPr/>
          <p:nvPr/>
        </p:nvSpPr>
        <p:spPr>
          <a:xfrm>
            <a:off x="551383" y="2788920"/>
            <a:ext cx="3520440" cy="1143000"/>
          </a:xfrm>
          <a:prstGeom prst="roundRect">
            <a:avLst>
              <a:gd name="adj" fmla="val 9600"/>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29" name="collection icon 6 circle"/>
          <p:cNvSpPr/>
          <p:nvPr/>
        </p:nvSpPr>
        <p:spPr>
          <a:xfrm>
            <a:off x="3340303" y="3063240"/>
            <a:ext cx="548640" cy="548640"/>
          </a:xfrm>
          <a:prstGeom prst="ellipse">
            <a:avLst/>
          </a:prstGeom>
          <a:solidFill>
            <a:schemeClr val="accent1"/>
          </a:solidFill>
          <a:ln w="12700">
            <a:solidFill>
              <a:schemeClr val="accent1"/>
            </a:solidFill>
            <a:prstDash val="solid"/>
          </a:ln>
        </p:spPr>
      </p:sp>
      <p:pic>
        <p:nvPicPr>
          <p:cNvPr id="30" name="collection icon 6 icon" descr="preencoded.png">    </p:cNvPr>
          <p:cNvPicPr>
            <a:picLocks noChangeAspect="1"/>
          </p:cNvPicPr>
          <p:nvPr/>
        </p:nvPicPr>
        <p:blipFill>
          <a:blip r:embed="rId6"/>
          <a:stretch>
            <a:fillRect/>
          </a:stretch>
        </p:blipFill>
        <p:spPr>
          <a:xfrm>
            <a:off x="3482950" y="3205886"/>
            <a:ext cx="263347" cy="263347"/>
          </a:xfrm>
          <a:prstGeom prst="rect">
            <a:avLst/>
          </a:prstGeom>
        </p:spPr>
      </p:pic>
      <p:sp>
        <p:nvSpPr>
          <p:cNvPr id="31" name="Text 23"/>
          <p:cNvSpPr txBox="1"/>
          <p:nvPr/>
        </p:nvSpPr>
        <p:spPr>
          <a:xfrm>
            <a:off x="779983" y="2953512"/>
            <a:ext cx="2423160" cy="365760"/>
          </a:xfrm>
          <a:prstGeom prst="rect">
            <a:avLst/>
          </a:prstGeom>
          <a:noFill/>
          <a:ln/>
        </p:spPr>
        <p:txBody>
          <a:bodyPr wrap="square" lIns="0" tIns="0" rIns="0" bIns="0" rtlCol="0" anchor="ctr"/>
          <a:lstStyle/>
          <a:p>
            <a:pPr algn="r" indent="0" marL="0">
              <a:buNone/>
            </a:pPr>
            <a:r>
              <a:rPr lang="en-US" sz="1700" b="1" dirty="0">
                <a:solidFill>
                  <a:schemeClr val="tx2"/>
                </a:solidFill>
              </a:rPr>
              <a:t>users</a:t>
            </a:r>
            <a:endParaRPr lang="en-US" sz="1700" dirty="0"/>
          </a:p>
        </p:txBody>
      </p:sp>
      <p:sp>
        <p:nvSpPr>
          <p:cNvPr id="32" name="Text 24"/>
          <p:cNvSpPr txBox="1"/>
          <p:nvPr/>
        </p:nvSpPr>
        <p:spPr>
          <a:xfrm>
            <a:off x="779983" y="3337560"/>
            <a:ext cx="2423160" cy="502920"/>
          </a:xfrm>
          <a:prstGeom prst="rect">
            <a:avLst/>
          </a:prstGeom>
          <a:noFill/>
          <a:ln/>
        </p:spPr>
        <p:txBody>
          <a:bodyPr wrap="square" lIns="0" tIns="0" rIns="0" bIns="0" rtlCol="0" anchor="t"/>
          <a:lstStyle/>
          <a:p>
            <a:pPr rtl="1" algn="r" indent="0" marL="0">
              <a:buNone/>
            </a:pPr>
            <a:r>
              <a:rPr lang="ar-SA" altLang="en-US" sz="1300" dirty="0">
                <a:solidFill>
                  <a:schemeClr val="tx1"/>
                </a:solidFill>
              </a:rPr>
              <a:t>حسابات الزوار والأعضاء والمفضلة</a:t>
            </a:r>
            <a:endParaRPr lang="ar-SA" sz="1300" dirty="0"/>
          </a:p>
        </p:txBody>
      </p:sp>
      <p:sp>
        <p:nvSpPr>
          <p:cNvPr id="33" name="collection admins"/>
          <p:cNvSpPr/>
          <p:nvPr/>
        </p:nvSpPr>
        <p:spPr>
          <a:xfrm>
            <a:off x="8122615" y="4160520"/>
            <a:ext cx="3520440" cy="1143000"/>
          </a:xfrm>
          <a:prstGeom prst="roundRect">
            <a:avLst>
              <a:gd name="adj" fmla="val 9600"/>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34" name="collection icon 7 circle"/>
          <p:cNvSpPr/>
          <p:nvPr/>
        </p:nvSpPr>
        <p:spPr>
          <a:xfrm>
            <a:off x="10911535" y="4434840"/>
            <a:ext cx="548640" cy="548640"/>
          </a:xfrm>
          <a:prstGeom prst="ellipse">
            <a:avLst/>
          </a:prstGeom>
          <a:solidFill>
            <a:schemeClr val="accent2"/>
          </a:solidFill>
          <a:ln w="12700">
            <a:solidFill>
              <a:schemeClr val="accent2"/>
            </a:solidFill>
            <a:prstDash val="solid"/>
          </a:ln>
        </p:spPr>
      </p:sp>
      <p:pic>
        <p:nvPicPr>
          <p:cNvPr id="35" name="collection icon 7 icon" descr="preencoded.png">    </p:cNvPr>
          <p:cNvPicPr>
            <a:picLocks noChangeAspect="1"/>
          </p:cNvPicPr>
          <p:nvPr/>
        </p:nvPicPr>
        <p:blipFill>
          <a:blip r:embed="rId7"/>
          <a:stretch>
            <a:fillRect/>
          </a:stretch>
        </p:blipFill>
        <p:spPr>
          <a:xfrm>
            <a:off x="11054182" y="4577486"/>
            <a:ext cx="263347" cy="263347"/>
          </a:xfrm>
          <a:prstGeom prst="rect">
            <a:avLst/>
          </a:prstGeom>
        </p:spPr>
      </p:pic>
      <p:sp>
        <p:nvSpPr>
          <p:cNvPr id="36" name="Text 27"/>
          <p:cNvSpPr txBox="1"/>
          <p:nvPr/>
        </p:nvSpPr>
        <p:spPr>
          <a:xfrm>
            <a:off x="8351215" y="4325112"/>
            <a:ext cx="2423160" cy="365760"/>
          </a:xfrm>
          <a:prstGeom prst="rect">
            <a:avLst/>
          </a:prstGeom>
          <a:noFill/>
          <a:ln/>
        </p:spPr>
        <p:txBody>
          <a:bodyPr wrap="square" lIns="0" tIns="0" rIns="0" bIns="0" rtlCol="0" anchor="ctr"/>
          <a:lstStyle/>
          <a:p>
            <a:pPr algn="r" indent="0" marL="0">
              <a:buNone/>
            </a:pPr>
            <a:r>
              <a:rPr lang="en-US" sz="1700" b="1" dirty="0">
                <a:solidFill>
                  <a:schemeClr val="tx2"/>
                </a:solidFill>
              </a:rPr>
              <a:t>admins</a:t>
            </a:r>
            <a:endParaRPr lang="en-US" sz="1700" dirty="0"/>
          </a:p>
        </p:txBody>
      </p:sp>
      <p:sp>
        <p:nvSpPr>
          <p:cNvPr id="37" name="Text 28"/>
          <p:cNvSpPr txBox="1"/>
          <p:nvPr/>
        </p:nvSpPr>
        <p:spPr>
          <a:xfrm>
            <a:off x="8351215" y="4709160"/>
            <a:ext cx="2423160" cy="502920"/>
          </a:xfrm>
          <a:prstGeom prst="rect">
            <a:avLst/>
          </a:prstGeom>
          <a:noFill/>
          <a:ln/>
        </p:spPr>
        <p:txBody>
          <a:bodyPr wrap="square" lIns="0" tIns="0" rIns="0" bIns="0" rtlCol="0" anchor="t"/>
          <a:lstStyle/>
          <a:p>
            <a:pPr rtl="1" algn="r" indent="0" marL="0">
              <a:buNone/>
            </a:pPr>
            <a:r>
              <a:rPr lang="ar-SA" altLang="en-US" sz="1300" dirty="0">
                <a:solidFill>
                  <a:schemeClr val="tx1"/>
                </a:solidFill>
              </a:rPr>
              <a:t>صلاحيات المشرفين: مالك أو مشرف</a:t>
            </a:r>
            <a:endParaRPr lang="ar-SA" sz="1300" dirty="0"/>
          </a:p>
        </p:txBody>
      </p:sp>
      <p:sp>
        <p:nvSpPr>
          <p:cNvPr id="38" name="collection activity"/>
          <p:cNvSpPr/>
          <p:nvPr/>
        </p:nvSpPr>
        <p:spPr>
          <a:xfrm>
            <a:off x="4336999" y="4160520"/>
            <a:ext cx="3520440" cy="1143000"/>
          </a:xfrm>
          <a:prstGeom prst="roundRect">
            <a:avLst>
              <a:gd name="adj" fmla="val 9600"/>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39" name="collection icon 8 circle"/>
          <p:cNvSpPr/>
          <p:nvPr/>
        </p:nvSpPr>
        <p:spPr>
          <a:xfrm>
            <a:off x="7125919" y="4434840"/>
            <a:ext cx="548640" cy="548640"/>
          </a:xfrm>
          <a:prstGeom prst="ellipse">
            <a:avLst/>
          </a:prstGeom>
          <a:solidFill>
            <a:schemeClr val="accent1"/>
          </a:solidFill>
          <a:ln w="12700">
            <a:solidFill>
              <a:schemeClr val="accent1"/>
            </a:solidFill>
            <a:prstDash val="solid"/>
          </a:ln>
        </p:spPr>
      </p:sp>
      <p:pic>
        <p:nvPicPr>
          <p:cNvPr id="40" name="collection icon 8 icon" descr="preencoded.png">    </p:cNvPr>
          <p:cNvPicPr>
            <a:picLocks noChangeAspect="1"/>
          </p:cNvPicPr>
          <p:nvPr/>
        </p:nvPicPr>
        <p:blipFill>
          <a:blip r:embed="rId8"/>
          <a:stretch>
            <a:fillRect/>
          </a:stretch>
        </p:blipFill>
        <p:spPr>
          <a:xfrm>
            <a:off x="7268566" y="4577486"/>
            <a:ext cx="263347" cy="263347"/>
          </a:xfrm>
          <a:prstGeom prst="rect">
            <a:avLst/>
          </a:prstGeom>
        </p:spPr>
      </p:pic>
      <p:sp>
        <p:nvSpPr>
          <p:cNvPr id="41" name="Text 31"/>
          <p:cNvSpPr txBox="1"/>
          <p:nvPr/>
        </p:nvSpPr>
        <p:spPr>
          <a:xfrm>
            <a:off x="4565599" y="4325112"/>
            <a:ext cx="2423160" cy="365760"/>
          </a:xfrm>
          <a:prstGeom prst="rect">
            <a:avLst/>
          </a:prstGeom>
          <a:noFill/>
          <a:ln/>
        </p:spPr>
        <p:txBody>
          <a:bodyPr wrap="square" lIns="0" tIns="0" rIns="0" bIns="0" rtlCol="0" anchor="ctr"/>
          <a:lstStyle/>
          <a:p>
            <a:pPr algn="r" indent="0" marL="0">
              <a:buNone/>
            </a:pPr>
            <a:r>
              <a:rPr lang="en-US" sz="1700" b="1" dirty="0">
                <a:solidFill>
                  <a:schemeClr val="tx2"/>
                </a:solidFill>
              </a:rPr>
              <a:t>activity</a:t>
            </a:r>
            <a:endParaRPr lang="en-US" sz="1700" dirty="0"/>
          </a:p>
        </p:txBody>
      </p:sp>
      <p:sp>
        <p:nvSpPr>
          <p:cNvPr id="42" name="Text 32"/>
          <p:cNvSpPr txBox="1"/>
          <p:nvPr/>
        </p:nvSpPr>
        <p:spPr>
          <a:xfrm>
            <a:off x="4565599" y="4709160"/>
            <a:ext cx="2423160" cy="502920"/>
          </a:xfrm>
          <a:prstGeom prst="rect">
            <a:avLst/>
          </a:prstGeom>
          <a:noFill/>
          <a:ln/>
        </p:spPr>
        <p:txBody>
          <a:bodyPr wrap="square" lIns="0" tIns="0" rIns="0" bIns="0" rtlCol="0" anchor="t"/>
          <a:lstStyle/>
          <a:p>
            <a:pPr rtl="1" algn="r" indent="0" marL="0">
              <a:buNone/>
            </a:pPr>
            <a:r>
              <a:rPr lang="ar-SA" altLang="en-US" sz="1300" dirty="0">
                <a:solidFill>
                  <a:schemeClr val="tx1"/>
                </a:solidFill>
              </a:rPr>
              <a:t>سجل النشاط — إضافة فقط</a:t>
            </a:r>
            <a:endParaRPr lang="ar-SA" sz="1300" dirty="0"/>
          </a:p>
        </p:txBody>
      </p:sp>
      <p:sp>
        <p:nvSpPr>
          <p:cNvPr id="43" name="collection meta"/>
          <p:cNvSpPr/>
          <p:nvPr/>
        </p:nvSpPr>
        <p:spPr>
          <a:xfrm>
            <a:off x="551383" y="4160520"/>
            <a:ext cx="3520440" cy="1143000"/>
          </a:xfrm>
          <a:prstGeom prst="roundRect">
            <a:avLst>
              <a:gd name="adj" fmla="val 9600"/>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44" name="collection icon 9 circle"/>
          <p:cNvSpPr/>
          <p:nvPr/>
        </p:nvSpPr>
        <p:spPr>
          <a:xfrm>
            <a:off x="3340303" y="4434840"/>
            <a:ext cx="548640" cy="548640"/>
          </a:xfrm>
          <a:prstGeom prst="ellipse">
            <a:avLst/>
          </a:prstGeom>
          <a:solidFill>
            <a:schemeClr val="accent1"/>
          </a:solidFill>
          <a:ln w="12700">
            <a:solidFill>
              <a:schemeClr val="accent1"/>
            </a:solidFill>
            <a:prstDash val="solid"/>
          </a:ln>
        </p:spPr>
      </p:sp>
      <p:pic>
        <p:nvPicPr>
          <p:cNvPr id="45" name="collection icon 9 icon" descr="preencoded.png">    </p:cNvPr>
          <p:cNvPicPr>
            <a:picLocks noChangeAspect="1"/>
          </p:cNvPicPr>
          <p:nvPr/>
        </p:nvPicPr>
        <p:blipFill>
          <a:blip r:embed="rId9"/>
          <a:stretch>
            <a:fillRect/>
          </a:stretch>
        </p:blipFill>
        <p:spPr>
          <a:xfrm>
            <a:off x="3482950" y="4577486"/>
            <a:ext cx="263347" cy="263347"/>
          </a:xfrm>
          <a:prstGeom prst="rect">
            <a:avLst/>
          </a:prstGeom>
        </p:spPr>
      </p:pic>
      <p:sp>
        <p:nvSpPr>
          <p:cNvPr id="46" name="Text 35"/>
          <p:cNvSpPr txBox="1"/>
          <p:nvPr/>
        </p:nvSpPr>
        <p:spPr>
          <a:xfrm>
            <a:off x="779983" y="4325112"/>
            <a:ext cx="2423160" cy="365760"/>
          </a:xfrm>
          <a:prstGeom prst="rect">
            <a:avLst/>
          </a:prstGeom>
          <a:noFill/>
          <a:ln/>
        </p:spPr>
        <p:txBody>
          <a:bodyPr wrap="square" lIns="0" tIns="0" rIns="0" bIns="0" rtlCol="0" anchor="ctr"/>
          <a:lstStyle/>
          <a:p>
            <a:pPr algn="r" indent="0" marL="0">
              <a:buNone/>
            </a:pPr>
            <a:r>
              <a:rPr lang="en-US" sz="1700" b="1" dirty="0">
                <a:solidFill>
                  <a:schemeClr val="tx2"/>
                </a:solidFill>
              </a:rPr>
              <a:t>meta</a:t>
            </a:r>
            <a:endParaRPr lang="en-US" sz="1700" dirty="0"/>
          </a:p>
        </p:txBody>
      </p:sp>
      <p:sp>
        <p:nvSpPr>
          <p:cNvPr id="47" name="Text 36"/>
          <p:cNvSpPr txBox="1"/>
          <p:nvPr/>
        </p:nvSpPr>
        <p:spPr>
          <a:xfrm>
            <a:off x="779983" y="4709160"/>
            <a:ext cx="2423160" cy="502920"/>
          </a:xfrm>
          <a:prstGeom prst="rect">
            <a:avLst/>
          </a:prstGeom>
          <a:noFill/>
          <a:ln/>
        </p:spPr>
        <p:txBody>
          <a:bodyPr wrap="square" lIns="0" tIns="0" rIns="0" bIns="0" rtlCol="0" anchor="t"/>
          <a:lstStyle/>
          <a:p>
            <a:pPr rtl="1" algn="r" indent="0" marL="0">
              <a:buNone/>
            </a:pPr>
            <a:r>
              <a:rPr lang="ar-SA" altLang="en-US" sz="1300" dirty="0">
                <a:solidFill>
                  <a:schemeClr val="tx1"/>
                </a:solidFill>
              </a:rPr>
              <a:t>إعدادات الإعارة وقفل التهيئة setup</a:t>
            </a:r>
            <a:endParaRPr lang="ar-SA" sz="1300" dirty="0"/>
          </a:p>
        </p:txBody>
      </p:sp>
      <p:sp>
        <p:nvSpPr>
          <p:cNvPr id="48" name="transactions note"/>
          <p:cNvSpPr/>
          <p:nvPr/>
        </p:nvSpPr>
        <p:spPr>
          <a:xfrm>
            <a:off x="548640" y="5623560"/>
            <a:ext cx="11091672" cy="594360"/>
          </a:xfrm>
          <a:prstGeom prst="roundRect">
            <a:avLst>
              <a:gd name="adj" fmla="val 18462"/>
            </a:avLst>
          </a:prstGeom>
          <a:solidFill>
            <a:schemeClr val="bg2"/>
          </a:solidFill>
          <a:ln w="12700">
            <a:solidFill>
              <a:schemeClr val="bg2"/>
            </a:solidFill>
            <a:prstDash val="solid"/>
          </a:ln>
        </p:spPr>
      </p:sp>
      <p:sp>
        <p:nvSpPr>
          <p:cNvPr id="49" name="Text 38"/>
          <p:cNvSpPr txBox="1"/>
          <p:nvPr/>
        </p:nvSpPr>
        <p:spPr>
          <a:xfrm>
            <a:off x="822960" y="5623560"/>
            <a:ext cx="10543032" cy="594360"/>
          </a:xfrm>
          <a:prstGeom prst="rect">
            <a:avLst/>
          </a:prstGeom>
          <a:noFill/>
          <a:ln/>
        </p:spPr>
        <p:txBody>
          <a:bodyPr wrap="square" lIns="0" tIns="0" rIns="0" bIns="0" rtlCol="0" anchor="ctr"/>
          <a:lstStyle/>
          <a:p>
            <a:pPr rtl="1" algn="r" indent="0" marL="0">
              <a:buNone/>
            </a:pPr>
            <a:r>
              <a:rPr lang="ar-SA" altLang="en-US" sz="1500" b="1" dirty="0">
                <a:solidFill>
                  <a:schemeClr val="tx2"/>
                </a:solidFill>
              </a:rPr>
              <a:t>كل انتقال يحرّك نسخة (حجز · تسليم · إرجاع) يجري داخل معاملة واحدة Transaction — فلا تُوعَد النسخة الأخيرة لشخصين في اللحظة نفسها</a:t>
            </a:r>
            <a:endParaRPr lang="ar-SA" sz="1500" dirty="0"/>
          </a:p>
        </p:txBody>
      </p:sp>
      <p:sp>
        <p:nvSpPr>
          <p:cNvPr id="25" name="Slide Number Placeholder 0"/>
          <p:cNvSpPr>
            <a:spLocks noGrp="1"/>
          </p:cNvSpPr>
          <p:nvPr>
            <p:ph type="sldNum" sz="quarter" idx="4294967295"/>
          </p:nvPr>
        </p:nvSpPr>
        <p:spPr>
          <a:xfrm>
            <a:off x="5486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470"/>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1463040" y="347472"/>
            <a:ext cx="10177272" cy="731520"/>
          </a:xfrm>
          <a:prstGeom prst="rect">
            <a:avLst/>
          </a:prstGeom>
          <a:noFill/>
          <a:ln/>
        </p:spPr>
        <p:txBody>
          <a:bodyPr wrap="square" lIns="0" tIns="0" rIns="0" bIns="0" rtlCol="0" anchor="ctr"/>
          <a:lstStyle/>
          <a:p>
            <a:pPr rtl="1" algn="r" indent="0" marL="0">
              <a:buNone/>
            </a:pPr>
            <a:r>
              <a:rPr lang="en-US" sz="3200" b="1" dirty="0">
                <a:solidFill>
                  <a:schemeClr val="tx2"/>
                </a:solidFill>
              </a:rPr>
              <a:t>تطبيق الزائر</a:t>
            </a:r>
            <a:endParaRPr lang="en-US" sz="3200" dirty="0"/>
          </a:p>
        </p:txBody>
      </p:sp>
      <p:pic>
        <p:nvPicPr>
          <p:cNvPr id="3" name="الرئيسية" descr="/tmp/claude-0/-home-user-CLAUDE/0be54b07-c1ba-5b31-958a-45d5f68df334/scratchpad/deck/img/u_home.png">    </p:cNvPr>
          <p:cNvPicPr>
            <a:picLocks noChangeAspect="1"/>
          </p:cNvPicPr>
          <p:nvPr/>
        </p:nvPicPr>
        <p:blipFill>
          <a:blip r:embed="rId1"/>
          <a:stretch>
            <a:fillRect/>
          </a:stretch>
        </p:blipFill>
        <p:spPr>
          <a:xfrm>
            <a:off x="685800" y="1325880"/>
            <a:ext cx="2057400" cy="4572000"/>
          </a:xfrm>
          <a:prstGeom prst="rect">
            <a:avLst/>
          </a:prstGeom>
        </p:spPr>
      </p:pic>
      <p:sp>
        <p:nvSpPr>
          <p:cNvPr id="4" name="Text 1"/>
          <p:cNvSpPr txBox="1"/>
          <p:nvPr/>
        </p:nvSpPr>
        <p:spPr>
          <a:xfrm>
            <a:off x="594360" y="5897880"/>
            <a:ext cx="2240280" cy="320040"/>
          </a:xfrm>
          <a:prstGeom prst="rect">
            <a:avLst/>
          </a:prstGeom>
          <a:noFill/>
          <a:ln/>
        </p:spPr>
        <p:txBody>
          <a:bodyPr wrap="square" lIns="0" tIns="0" rIns="0" bIns="0" rtlCol="0" anchor="ctr"/>
          <a:lstStyle/>
          <a:p>
            <a:pPr rtl="1" algn="ctr" indent="0" marL="0">
              <a:buNone/>
            </a:pPr>
            <a:r>
              <a:rPr lang="en-US" sz="1300" b="1" dirty="0">
                <a:solidFill>
                  <a:schemeClr val="tx2"/>
                </a:solidFill>
              </a:rPr>
              <a:t>الرئيسية</a:t>
            </a:r>
            <a:endParaRPr lang="en-US" sz="1300" dirty="0"/>
          </a:p>
        </p:txBody>
      </p:sp>
      <p:pic>
        <p:nvPicPr>
          <p:cNvPr id="5" name="البحث والتصنيفات" descr="/tmp/claude-0/-home-user-CLAUDE/0be54b07-c1ba-5b31-958a-45d5f68df334/scratchpad/deck/img/u_search.png">    </p:cNvPr>
          <p:cNvPicPr>
            <a:picLocks noChangeAspect="1"/>
          </p:cNvPicPr>
          <p:nvPr/>
        </p:nvPicPr>
        <p:blipFill>
          <a:blip r:embed="rId2"/>
          <a:stretch>
            <a:fillRect/>
          </a:stretch>
        </p:blipFill>
        <p:spPr>
          <a:xfrm>
            <a:off x="3108960" y="1325880"/>
            <a:ext cx="2057400" cy="4572000"/>
          </a:xfrm>
          <a:prstGeom prst="rect">
            <a:avLst/>
          </a:prstGeom>
        </p:spPr>
      </p:pic>
      <p:sp>
        <p:nvSpPr>
          <p:cNvPr id="6" name="Text 2"/>
          <p:cNvSpPr txBox="1"/>
          <p:nvPr/>
        </p:nvSpPr>
        <p:spPr>
          <a:xfrm>
            <a:off x="3017520" y="5897880"/>
            <a:ext cx="2240280" cy="320040"/>
          </a:xfrm>
          <a:prstGeom prst="rect">
            <a:avLst/>
          </a:prstGeom>
          <a:noFill/>
          <a:ln/>
        </p:spPr>
        <p:txBody>
          <a:bodyPr wrap="square" lIns="0" tIns="0" rIns="0" bIns="0" rtlCol="0" anchor="ctr"/>
          <a:lstStyle/>
          <a:p>
            <a:pPr rtl="1" algn="ctr" indent="0" marL="0">
              <a:buNone/>
            </a:pPr>
            <a:r>
              <a:rPr lang="en-US" sz="1300" b="1" dirty="0">
                <a:solidFill>
                  <a:schemeClr val="tx2"/>
                </a:solidFill>
              </a:rPr>
              <a:t>البحث والتصنيفات</a:t>
            </a:r>
            <a:endParaRPr lang="en-US" sz="1300" dirty="0"/>
          </a:p>
        </p:txBody>
      </p:sp>
      <p:pic>
        <p:nvPicPr>
          <p:cNvPr id="7" name="تفاصيل الكتاب وعنوانه" descr="/tmp/claude-0/-home-user-CLAUDE/0be54b07-c1ba-5b31-958a-45d5f68df334/scratchpad/deck/img/u_detail.png">    </p:cNvPr>
          <p:cNvPicPr>
            <a:picLocks noChangeAspect="1"/>
          </p:cNvPicPr>
          <p:nvPr/>
        </p:nvPicPr>
        <p:blipFill>
          <a:blip r:embed="rId3"/>
          <a:stretch>
            <a:fillRect/>
          </a:stretch>
        </p:blipFill>
        <p:spPr>
          <a:xfrm>
            <a:off x="5532120" y="1325880"/>
            <a:ext cx="2057400" cy="4572000"/>
          </a:xfrm>
          <a:prstGeom prst="rect">
            <a:avLst/>
          </a:prstGeom>
        </p:spPr>
      </p:pic>
      <p:sp>
        <p:nvSpPr>
          <p:cNvPr id="8" name="Text 3"/>
          <p:cNvSpPr txBox="1"/>
          <p:nvPr/>
        </p:nvSpPr>
        <p:spPr>
          <a:xfrm>
            <a:off x="5440680" y="5897880"/>
            <a:ext cx="2240280" cy="320040"/>
          </a:xfrm>
          <a:prstGeom prst="rect">
            <a:avLst/>
          </a:prstGeom>
          <a:noFill/>
          <a:ln/>
        </p:spPr>
        <p:txBody>
          <a:bodyPr wrap="square" lIns="0" tIns="0" rIns="0" bIns="0" rtlCol="0" anchor="ctr"/>
          <a:lstStyle/>
          <a:p>
            <a:pPr rtl="1" algn="ctr" indent="0" marL="0">
              <a:buNone/>
            </a:pPr>
            <a:r>
              <a:rPr lang="en-US" sz="1300" b="1" dirty="0">
                <a:solidFill>
                  <a:schemeClr val="tx2"/>
                </a:solidFill>
              </a:rPr>
              <a:t>تفاصيل الكتاب وعنوانه</a:t>
            </a:r>
            <a:endParaRPr lang="en-US" sz="1300" dirty="0"/>
          </a:p>
        </p:txBody>
      </p:sp>
      <p:sp>
        <p:nvSpPr>
          <p:cNvPr id="9" name="visitor feature 1 circle"/>
          <p:cNvSpPr/>
          <p:nvPr/>
        </p:nvSpPr>
        <p:spPr>
          <a:xfrm>
            <a:off x="10957255" y="1463040"/>
            <a:ext cx="685800" cy="685800"/>
          </a:xfrm>
          <a:prstGeom prst="ellipse">
            <a:avLst/>
          </a:prstGeom>
          <a:solidFill>
            <a:schemeClr val="accent1"/>
          </a:solidFill>
          <a:ln w="12700">
            <a:solidFill>
              <a:schemeClr val="accent1"/>
            </a:solidFill>
            <a:prstDash val="solid"/>
          </a:ln>
        </p:spPr>
      </p:sp>
      <p:pic>
        <p:nvPicPr>
          <p:cNvPr id="10" name="visitor feature 1 icon" descr="preencoded.png">    </p:cNvPr>
          <p:cNvPicPr>
            <a:picLocks noChangeAspect="1"/>
          </p:cNvPicPr>
          <p:nvPr/>
        </p:nvPicPr>
        <p:blipFill>
          <a:blip r:embed="rId4"/>
          <a:stretch>
            <a:fillRect/>
          </a:stretch>
        </p:blipFill>
        <p:spPr>
          <a:xfrm>
            <a:off x="11135563" y="1641348"/>
            <a:ext cx="329184" cy="329184"/>
          </a:xfrm>
          <a:prstGeom prst="rect">
            <a:avLst/>
          </a:prstGeom>
        </p:spPr>
      </p:pic>
      <p:sp>
        <p:nvSpPr>
          <p:cNvPr id="11" name="Text 5"/>
          <p:cNvSpPr txBox="1"/>
          <p:nvPr/>
        </p:nvSpPr>
        <p:spPr>
          <a:xfrm>
            <a:off x="7909560" y="1463040"/>
            <a:ext cx="2971800" cy="365760"/>
          </a:xfrm>
          <a:prstGeom prst="rect">
            <a:avLst/>
          </a:prstGeom>
          <a:noFill/>
          <a:ln/>
        </p:spPr>
        <p:txBody>
          <a:bodyPr wrap="square" lIns="0" tIns="0" rIns="0" bIns="0" rtlCol="0" anchor="t"/>
          <a:lstStyle/>
          <a:p>
            <a:pPr rtl="1" algn="r" indent="0" marL="0">
              <a:buNone/>
            </a:pPr>
            <a:r>
              <a:rPr lang="ar-SA" altLang="en-US" sz="1800" b="1" dirty="0">
                <a:solidFill>
                  <a:schemeClr val="tx2"/>
                </a:solidFill>
              </a:rPr>
              <a:t>بحث فوري</a:t>
            </a:r>
            <a:endParaRPr lang="ar-SA" sz="1800" dirty="0"/>
          </a:p>
        </p:txBody>
      </p:sp>
      <p:sp>
        <p:nvSpPr>
          <p:cNvPr id="12" name="Text 6"/>
          <p:cNvSpPr txBox="1"/>
          <p:nvPr/>
        </p:nvSpPr>
        <p:spPr>
          <a:xfrm>
            <a:off x="7909560" y="1847088"/>
            <a:ext cx="2971800" cy="548640"/>
          </a:xfrm>
          <a:prstGeom prst="rect">
            <a:avLst/>
          </a:prstGeom>
          <a:noFill/>
          <a:ln/>
        </p:spPr>
        <p:txBody>
          <a:bodyPr wrap="square" lIns="0" tIns="0" rIns="0" bIns="0" rtlCol="0" anchor="t"/>
          <a:lstStyle/>
          <a:p>
            <a:pPr rtl="1" algn="r" indent="0" marL="0">
              <a:buNone/>
            </a:pPr>
            <a:r>
              <a:rPr lang="ar-SA" altLang="en-US" sz="1400" dirty="0">
                <a:solidFill>
                  <a:schemeClr val="tx1"/>
                </a:solidFill>
              </a:rPr>
              <a:t>بالعنوان أو المؤلف أو التصنيف</a:t>
            </a:r>
            <a:endParaRPr lang="ar-SA" sz="1400" dirty="0"/>
          </a:p>
        </p:txBody>
      </p:sp>
      <p:sp>
        <p:nvSpPr>
          <p:cNvPr id="13" name="visitor feature 2 circle"/>
          <p:cNvSpPr/>
          <p:nvPr/>
        </p:nvSpPr>
        <p:spPr>
          <a:xfrm>
            <a:off x="10957255" y="2578608"/>
            <a:ext cx="685800" cy="685800"/>
          </a:xfrm>
          <a:prstGeom prst="ellipse">
            <a:avLst/>
          </a:prstGeom>
          <a:solidFill>
            <a:schemeClr val="accent2"/>
          </a:solidFill>
          <a:ln w="12700">
            <a:solidFill>
              <a:schemeClr val="accent2"/>
            </a:solidFill>
            <a:prstDash val="solid"/>
          </a:ln>
        </p:spPr>
      </p:sp>
      <p:pic>
        <p:nvPicPr>
          <p:cNvPr id="14" name="visitor feature 2 icon" descr="preencoded.png">    </p:cNvPr>
          <p:cNvPicPr>
            <a:picLocks noChangeAspect="1"/>
          </p:cNvPicPr>
          <p:nvPr/>
        </p:nvPicPr>
        <p:blipFill>
          <a:blip r:embed="rId5"/>
          <a:stretch>
            <a:fillRect/>
          </a:stretch>
        </p:blipFill>
        <p:spPr>
          <a:xfrm>
            <a:off x="11135563" y="2756916"/>
            <a:ext cx="329184" cy="329184"/>
          </a:xfrm>
          <a:prstGeom prst="rect">
            <a:avLst/>
          </a:prstGeom>
        </p:spPr>
      </p:pic>
      <p:sp>
        <p:nvSpPr>
          <p:cNvPr id="15" name="Text 8"/>
          <p:cNvSpPr txBox="1"/>
          <p:nvPr/>
        </p:nvSpPr>
        <p:spPr>
          <a:xfrm>
            <a:off x="7909560" y="2578608"/>
            <a:ext cx="2971800" cy="365760"/>
          </a:xfrm>
          <a:prstGeom prst="rect">
            <a:avLst/>
          </a:prstGeom>
          <a:noFill/>
          <a:ln/>
        </p:spPr>
        <p:txBody>
          <a:bodyPr wrap="square" lIns="0" tIns="0" rIns="0" bIns="0" rtlCol="0" anchor="t"/>
          <a:lstStyle/>
          <a:p>
            <a:pPr rtl="1" algn="r" indent="0" marL="0">
              <a:buNone/>
            </a:pPr>
            <a:r>
              <a:rPr lang="ar-SA" altLang="en-US" sz="1800" b="1" dirty="0">
                <a:solidFill>
                  <a:schemeClr val="tx2"/>
                </a:solidFill>
              </a:rPr>
              <a:t>عنوان كامل</a:t>
            </a:r>
            <a:endParaRPr lang="ar-SA" sz="1800" dirty="0"/>
          </a:p>
        </p:txBody>
      </p:sp>
      <p:sp>
        <p:nvSpPr>
          <p:cNvPr id="16" name="Text 9"/>
          <p:cNvSpPr txBox="1"/>
          <p:nvPr/>
        </p:nvSpPr>
        <p:spPr>
          <a:xfrm>
            <a:off x="7909560" y="2962656"/>
            <a:ext cx="2971800" cy="548640"/>
          </a:xfrm>
          <a:prstGeom prst="rect">
            <a:avLst/>
          </a:prstGeom>
          <a:noFill/>
          <a:ln/>
        </p:spPr>
        <p:txBody>
          <a:bodyPr wrap="square" lIns="0" tIns="0" rIns="0" bIns="0" rtlCol="0" anchor="t"/>
          <a:lstStyle/>
          <a:p>
            <a:pPr rtl="1" algn="r" indent="0" marL="0">
              <a:buNone/>
            </a:pPr>
            <a:r>
              <a:rPr lang="ar-SA" altLang="en-US" sz="1400" dirty="0">
                <a:solidFill>
                  <a:schemeClr val="tx1"/>
                </a:solidFill>
              </a:rPr>
              <a:t>الدور ← البلوك ← الممر ← الرف ← المستوى</a:t>
            </a:r>
            <a:endParaRPr lang="ar-SA" sz="1400" dirty="0"/>
          </a:p>
        </p:txBody>
      </p:sp>
      <p:sp>
        <p:nvSpPr>
          <p:cNvPr id="17" name="visitor feature 3 circle"/>
          <p:cNvSpPr/>
          <p:nvPr/>
        </p:nvSpPr>
        <p:spPr>
          <a:xfrm>
            <a:off x="10957255" y="3694176"/>
            <a:ext cx="685800" cy="685800"/>
          </a:xfrm>
          <a:prstGeom prst="ellipse">
            <a:avLst/>
          </a:prstGeom>
          <a:solidFill>
            <a:schemeClr val="accent1"/>
          </a:solidFill>
          <a:ln w="12700">
            <a:solidFill>
              <a:schemeClr val="accent1"/>
            </a:solidFill>
            <a:prstDash val="solid"/>
          </a:ln>
        </p:spPr>
      </p:sp>
      <p:pic>
        <p:nvPicPr>
          <p:cNvPr id="18" name="visitor feature 3 icon" descr="preencoded.png">    </p:cNvPr>
          <p:cNvPicPr>
            <a:picLocks noChangeAspect="1"/>
          </p:cNvPicPr>
          <p:nvPr/>
        </p:nvPicPr>
        <p:blipFill>
          <a:blip r:embed="rId6"/>
          <a:stretch>
            <a:fillRect/>
          </a:stretch>
        </p:blipFill>
        <p:spPr>
          <a:xfrm>
            <a:off x="11135563" y="3872484"/>
            <a:ext cx="329184" cy="329184"/>
          </a:xfrm>
          <a:prstGeom prst="rect">
            <a:avLst/>
          </a:prstGeom>
        </p:spPr>
      </p:pic>
      <p:sp>
        <p:nvSpPr>
          <p:cNvPr id="19" name="Text 11"/>
          <p:cNvSpPr txBox="1"/>
          <p:nvPr/>
        </p:nvSpPr>
        <p:spPr>
          <a:xfrm>
            <a:off x="7909560" y="3694176"/>
            <a:ext cx="2971800" cy="365760"/>
          </a:xfrm>
          <a:prstGeom prst="rect">
            <a:avLst/>
          </a:prstGeom>
          <a:noFill/>
          <a:ln/>
        </p:spPr>
        <p:txBody>
          <a:bodyPr wrap="square" lIns="0" tIns="0" rIns="0" bIns="0" rtlCol="0" anchor="t"/>
          <a:lstStyle/>
          <a:p>
            <a:pPr rtl="1" algn="r" indent="0" marL="0">
              <a:buNone/>
            </a:pPr>
            <a:r>
              <a:rPr lang="ar-SA" altLang="en-US" sz="1800" b="1" dirty="0">
                <a:solidFill>
                  <a:schemeClr val="tx2"/>
                </a:solidFill>
              </a:rPr>
              <a:t>المفضلة</a:t>
            </a:r>
            <a:endParaRPr lang="ar-SA" sz="1800" dirty="0"/>
          </a:p>
        </p:txBody>
      </p:sp>
      <p:sp>
        <p:nvSpPr>
          <p:cNvPr id="20" name="Text 12"/>
          <p:cNvSpPr txBox="1"/>
          <p:nvPr/>
        </p:nvSpPr>
        <p:spPr>
          <a:xfrm>
            <a:off x="7909560" y="4078224"/>
            <a:ext cx="2971800" cy="548640"/>
          </a:xfrm>
          <a:prstGeom prst="rect">
            <a:avLst/>
          </a:prstGeom>
          <a:noFill/>
          <a:ln/>
        </p:spPr>
        <p:txBody>
          <a:bodyPr wrap="square" lIns="0" tIns="0" rIns="0" bIns="0" rtlCol="0" anchor="t"/>
          <a:lstStyle/>
          <a:p>
            <a:pPr rtl="1" algn="r" indent="0" marL="0">
              <a:buNone/>
            </a:pPr>
            <a:r>
              <a:rPr lang="ar-SA" altLang="en-US" sz="1400" dirty="0">
                <a:solidFill>
                  <a:schemeClr val="tx1"/>
                </a:solidFill>
              </a:rPr>
              <a:t>حفظ الكتب للرجوع إليها</a:t>
            </a:r>
            <a:endParaRPr lang="ar-SA" sz="1400" dirty="0"/>
          </a:p>
        </p:txBody>
      </p:sp>
      <p:sp>
        <p:nvSpPr>
          <p:cNvPr id="21" name="visitor feature 4 circle"/>
          <p:cNvSpPr/>
          <p:nvPr/>
        </p:nvSpPr>
        <p:spPr>
          <a:xfrm>
            <a:off x="10957255" y="4809744"/>
            <a:ext cx="685800" cy="685800"/>
          </a:xfrm>
          <a:prstGeom prst="ellipse">
            <a:avLst/>
          </a:prstGeom>
          <a:solidFill>
            <a:schemeClr val="accent2"/>
          </a:solidFill>
          <a:ln w="12700">
            <a:solidFill>
              <a:schemeClr val="accent2"/>
            </a:solidFill>
            <a:prstDash val="solid"/>
          </a:ln>
        </p:spPr>
      </p:sp>
      <p:pic>
        <p:nvPicPr>
          <p:cNvPr id="22" name="visitor feature 4 icon" descr="preencoded.png">    </p:cNvPr>
          <p:cNvPicPr>
            <a:picLocks noChangeAspect="1"/>
          </p:cNvPicPr>
          <p:nvPr/>
        </p:nvPicPr>
        <p:blipFill>
          <a:blip r:embed="rId7"/>
          <a:stretch>
            <a:fillRect/>
          </a:stretch>
        </p:blipFill>
        <p:spPr>
          <a:xfrm>
            <a:off x="11135563" y="4988052"/>
            <a:ext cx="329184" cy="329184"/>
          </a:xfrm>
          <a:prstGeom prst="rect">
            <a:avLst/>
          </a:prstGeom>
        </p:spPr>
      </p:pic>
      <p:sp>
        <p:nvSpPr>
          <p:cNvPr id="23" name="Text 14"/>
          <p:cNvSpPr txBox="1"/>
          <p:nvPr/>
        </p:nvSpPr>
        <p:spPr>
          <a:xfrm>
            <a:off x="7909560" y="4809744"/>
            <a:ext cx="2971800" cy="365760"/>
          </a:xfrm>
          <a:prstGeom prst="rect">
            <a:avLst/>
          </a:prstGeom>
          <a:noFill/>
          <a:ln/>
        </p:spPr>
        <p:txBody>
          <a:bodyPr wrap="square" lIns="0" tIns="0" rIns="0" bIns="0" rtlCol="0" anchor="t"/>
          <a:lstStyle/>
          <a:p>
            <a:pPr rtl="1" algn="r" indent="0" marL="0">
              <a:buNone/>
            </a:pPr>
            <a:r>
              <a:rPr lang="ar-SA" altLang="en-US" sz="1800" b="1" dirty="0">
                <a:solidFill>
                  <a:schemeClr val="tx2"/>
                </a:solidFill>
              </a:rPr>
              <a:t>إشعارات الإعارة</a:t>
            </a:r>
            <a:endParaRPr lang="ar-SA" sz="1800" dirty="0"/>
          </a:p>
        </p:txBody>
      </p:sp>
      <p:sp>
        <p:nvSpPr>
          <p:cNvPr id="24" name="Text 15"/>
          <p:cNvSpPr txBox="1"/>
          <p:nvPr/>
        </p:nvSpPr>
        <p:spPr>
          <a:xfrm>
            <a:off x="7909560" y="5193792"/>
            <a:ext cx="2971800" cy="548640"/>
          </a:xfrm>
          <a:prstGeom prst="rect">
            <a:avLst/>
          </a:prstGeom>
          <a:noFill/>
          <a:ln/>
        </p:spPr>
        <p:txBody>
          <a:bodyPr wrap="square" lIns="0" tIns="0" rIns="0" bIns="0" rtlCol="0" anchor="t"/>
          <a:lstStyle/>
          <a:p>
            <a:pPr rtl="1" algn="r" indent="0" marL="0">
              <a:buNone/>
            </a:pPr>
            <a:r>
              <a:rPr lang="ar-SA" altLang="en-US" sz="1400" dirty="0">
                <a:solidFill>
                  <a:schemeClr val="tx1"/>
                </a:solidFill>
              </a:rPr>
              <a:t>عند الموافقة أو اقتراب موعد الإرجاع</a:t>
            </a:r>
            <a:endParaRPr lang="ar-SA" sz="1400" dirty="0"/>
          </a:p>
        </p:txBody>
      </p:sp>
      <p:sp>
        <p:nvSpPr>
          <p:cNvPr id="25" name="Slide Number Placeholder 0"/>
          <p:cNvSpPr>
            <a:spLocks noGrp="1"/>
          </p:cNvSpPr>
          <p:nvPr>
            <p:ph type="sldNum" sz="quarter" idx="4294967295"/>
          </p:nvPr>
        </p:nvSpPr>
        <p:spPr>
          <a:xfrm>
            <a:off x="5486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470"/>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1463040" y="347472"/>
            <a:ext cx="10177272" cy="731520"/>
          </a:xfrm>
          <a:prstGeom prst="rect">
            <a:avLst/>
          </a:prstGeom>
          <a:noFill/>
          <a:ln/>
        </p:spPr>
        <p:txBody>
          <a:bodyPr wrap="square" lIns="0" tIns="0" rIns="0" bIns="0" rtlCol="0" anchor="ctr"/>
          <a:lstStyle/>
          <a:p>
            <a:pPr rtl="1" algn="r" indent="0" marL="0">
              <a:buNone/>
            </a:pPr>
            <a:r>
              <a:rPr lang="en-US" sz="3200" b="1" dirty="0">
                <a:solidFill>
                  <a:schemeClr val="tx2"/>
                </a:solidFill>
              </a:rPr>
              <a:t>الوصول إلى الكتاب: الخريطة والطريق</a:t>
            </a:r>
            <a:endParaRPr lang="en-US" sz="3200" dirty="0"/>
          </a:p>
        </p:txBody>
      </p:sp>
      <p:pic>
        <p:nvPicPr>
          <p:cNvPr id="3" name="route screenshot" descr="/tmp/claude-0/-home-user-CLAUDE/0be54b07-c1ba-5b31-958a-45d5f68df334/scratchpad/deck/img/u_route.png">    </p:cNvPr>
          <p:cNvPicPr>
            <a:picLocks noChangeAspect="1"/>
          </p:cNvPicPr>
          <p:nvPr/>
        </p:nvPicPr>
        <p:blipFill>
          <a:blip r:embed="rId1"/>
          <a:stretch>
            <a:fillRect/>
          </a:stretch>
        </p:blipFill>
        <p:spPr>
          <a:xfrm>
            <a:off x="685800" y="1280160"/>
            <a:ext cx="2201418" cy="4892040"/>
          </a:xfrm>
          <a:prstGeom prst="rect">
            <a:avLst/>
          </a:prstGeom>
        </p:spPr>
      </p:pic>
      <p:pic>
        <p:nvPicPr>
          <p:cNvPr id="4" name="route from bookcase" descr="/tmp/claude-0/-home-user-CLAUDE/0be54b07-c1ba-5b31-958a-45d5f68df334/scratchpad/deck/img/route_custom.png">    </p:cNvPr>
          <p:cNvPicPr>
            <a:picLocks noChangeAspect="1"/>
          </p:cNvPicPr>
          <p:nvPr/>
        </p:nvPicPr>
        <p:blipFill>
          <a:blip r:embed="rId2"/>
          <a:stretch>
            <a:fillRect/>
          </a:stretch>
        </p:blipFill>
        <p:spPr>
          <a:xfrm>
            <a:off x="3108960" y="1417320"/>
            <a:ext cx="3291840" cy="4480560"/>
          </a:xfrm>
          <a:prstGeom prst="rect">
            <a:avLst/>
          </a:prstGeom>
        </p:spPr>
      </p:pic>
      <p:sp>
        <p:nvSpPr>
          <p:cNvPr id="5" name="route step 1"/>
          <p:cNvSpPr/>
          <p:nvPr/>
        </p:nvSpPr>
        <p:spPr>
          <a:xfrm>
            <a:off x="11076127" y="1417320"/>
            <a:ext cx="566928" cy="566928"/>
          </a:xfrm>
          <a:prstGeom prst="ellipse">
            <a:avLst/>
          </a:prstGeom>
          <a:solidFill>
            <a:schemeClr val="accent1"/>
          </a:solidFill>
          <a:ln w="12700">
            <a:solidFill>
              <a:schemeClr val="accent1"/>
            </a:solidFill>
            <a:prstDash val="solid"/>
          </a:ln>
        </p:spPr>
      </p:sp>
      <p:sp>
        <p:nvSpPr>
          <p:cNvPr id="6" name="Text 2"/>
          <p:cNvSpPr txBox="1"/>
          <p:nvPr/>
        </p:nvSpPr>
        <p:spPr>
          <a:xfrm>
            <a:off x="11076127" y="141732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3"/>
          <p:cNvSpPr txBox="1"/>
          <p:nvPr/>
        </p:nvSpPr>
        <p:spPr>
          <a:xfrm>
            <a:off x="6812280" y="1371600"/>
            <a:ext cx="4069080" cy="1051560"/>
          </a:xfrm>
          <a:prstGeom prst="rect">
            <a:avLst/>
          </a:prstGeom>
          <a:noFill/>
          <a:ln/>
        </p:spPr>
        <p:txBody>
          <a:bodyPr wrap="square" lIns="0" tIns="0" rIns="0" bIns="0" rtlCol="0" anchor="t"/>
          <a:lstStyle/>
          <a:p>
            <a:pPr rtl="1" algn="r" indent="0" marL="0">
              <a:buNone/>
            </a:pPr>
            <a:r>
              <a:rPr lang="ar-SA" altLang="en-US" sz="1500" dirty="0">
                <a:solidFill>
                  <a:schemeClr val="tx1"/>
                </a:solidFill>
              </a:rPr>
              <a:t>خريطة الدور تُرسم من البيانات: البلوكات والممرات وكل رف ونسبة امتلائه.</a:t>
            </a:r>
            <a:endParaRPr lang="ar-SA" sz="1500" dirty="0"/>
          </a:p>
        </p:txBody>
      </p:sp>
      <p:sp>
        <p:nvSpPr>
          <p:cNvPr id="8" name="route step 2"/>
          <p:cNvSpPr/>
          <p:nvPr/>
        </p:nvSpPr>
        <p:spPr>
          <a:xfrm>
            <a:off x="11076127" y="2587752"/>
            <a:ext cx="566928" cy="566928"/>
          </a:xfrm>
          <a:prstGeom prst="ellipse">
            <a:avLst/>
          </a:prstGeom>
          <a:solidFill>
            <a:schemeClr val="accent1"/>
          </a:solidFill>
          <a:ln w="12700">
            <a:solidFill>
              <a:schemeClr val="accent1"/>
            </a:solidFill>
            <a:prstDash val="solid"/>
          </a:ln>
        </p:spPr>
      </p:sp>
      <p:sp>
        <p:nvSpPr>
          <p:cNvPr id="9" name="Text 5"/>
          <p:cNvSpPr txBox="1"/>
          <p:nvPr/>
        </p:nvSpPr>
        <p:spPr>
          <a:xfrm>
            <a:off x="11076127" y="2587752"/>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6"/>
          <p:cNvSpPr txBox="1"/>
          <p:nvPr/>
        </p:nvSpPr>
        <p:spPr>
          <a:xfrm>
            <a:off x="6812280" y="2542032"/>
            <a:ext cx="4069080" cy="1051560"/>
          </a:xfrm>
          <a:prstGeom prst="rect">
            <a:avLst/>
          </a:prstGeom>
          <a:noFill/>
          <a:ln/>
        </p:spPr>
        <p:txBody>
          <a:bodyPr wrap="square" lIns="0" tIns="0" rIns="0" bIns="0" rtlCol="0" anchor="t"/>
          <a:lstStyle/>
          <a:p>
            <a:pPr rtl="1" algn="r" indent="0" marL="0">
              <a:buNone/>
            </a:pPr>
            <a:r>
              <a:rPr lang="ar-SA" altLang="en-US" sz="1500" dirty="0">
                <a:solidFill>
                  <a:schemeClr val="tx1"/>
                </a:solidFill>
              </a:rPr>
              <a:t>الطريق يمرّ بالممرات الحقيقية لا خطًا مستقيمًا، مع المسافة بالمتر والزمن بالدقائق.</a:t>
            </a:r>
            <a:endParaRPr lang="ar-SA" sz="1500" dirty="0"/>
          </a:p>
        </p:txBody>
      </p:sp>
      <p:sp>
        <p:nvSpPr>
          <p:cNvPr id="11" name="route step 3"/>
          <p:cNvSpPr/>
          <p:nvPr/>
        </p:nvSpPr>
        <p:spPr>
          <a:xfrm>
            <a:off x="11076127" y="3758184"/>
            <a:ext cx="566928" cy="566928"/>
          </a:xfrm>
          <a:prstGeom prst="ellipse">
            <a:avLst/>
          </a:prstGeom>
          <a:solidFill>
            <a:schemeClr val="accent1"/>
          </a:solidFill>
          <a:ln w="12700">
            <a:solidFill>
              <a:schemeClr val="accent1"/>
            </a:solidFill>
            <a:prstDash val="solid"/>
          </a:ln>
        </p:spPr>
      </p:sp>
      <p:sp>
        <p:nvSpPr>
          <p:cNvPr id="12" name="Text 8"/>
          <p:cNvSpPr txBox="1"/>
          <p:nvPr/>
        </p:nvSpPr>
        <p:spPr>
          <a:xfrm>
            <a:off x="11076127" y="3758184"/>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Text 9"/>
          <p:cNvSpPr txBox="1"/>
          <p:nvPr/>
        </p:nvSpPr>
        <p:spPr>
          <a:xfrm>
            <a:off x="6812280" y="3712464"/>
            <a:ext cx="4069080" cy="1051560"/>
          </a:xfrm>
          <a:prstGeom prst="rect">
            <a:avLst/>
          </a:prstGeom>
          <a:noFill/>
          <a:ln/>
        </p:spPr>
        <p:txBody>
          <a:bodyPr wrap="square" lIns="0" tIns="0" rIns="0" bIns="0" rtlCol="0" anchor="t"/>
          <a:lstStyle/>
          <a:p>
            <a:pPr rtl="1" algn="r" indent="0" marL="0">
              <a:buNone/>
            </a:pPr>
            <a:r>
              <a:rPr lang="ar-SA" altLang="en-US" sz="1500" dirty="0">
                <a:solidFill>
                  <a:schemeClr val="tx1"/>
                </a:solidFill>
              </a:rPr>
              <a:t>خطوات مكتوبة تذكر ما يراه الزائر فعلًا: لافتة البلوك، ورقم الرف على الممر، وجهته.</a:t>
            </a:r>
            <a:endParaRPr lang="ar-SA" sz="1500" dirty="0"/>
          </a:p>
        </p:txBody>
      </p:sp>
      <p:sp>
        <p:nvSpPr>
          <p:cNvPr id="14" name="route step 4"/>
          <p:cNvSpPr/>
          <p:nvPr/>
        </p:nvSpPr>
        <p:spPr>
          <a:xfrm>
            <a:off x="11076127" y="4928616"/>
            <a:ext cx="566928" cy="566928"/>
          </a:xfrm>
          <a:prstGeom prst="ellipse">
            <a:avLst/>
          </a:prstGeom>
          <a:solidFill>
            <a:schemeClr val="accent2"/>
          </a:solidFill>
          <a:ln w="12700">
            <a:solidFill>
              <a:schemeClr val="accent2"/>
            </a:solidFill>
            <a:prstDash val="solid"/>
          </a:ln>
        </p:spPr>
      </p:sp>
      <p:sp>
        <p:nvSpPr>
          <p:cNvPr id="15" name="Text 11"/>
          <p:cNvSpPr txBox="1"/>
          <p:nvPr/>
        </p:nvSpPr>
        <p:spPr>
          <a:xfrm>
            <a:off x="11076127" y="4928616"/>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6" name="Text 12"/>
          <p:cNvSpPr txBox="1"/>
          <p:nvPr/>
        </p:nvSpPr>
        <p:spPr>
          <a:xfrm>
            <a:off x="6812280" y="4882896"/>
            <a:ext cx="4069080" cy="1051560"/>
          </a:xfrm>
          <a:prstGeom prst="rect">
            <a:avLst/>
          </a:prstGeom>
          <a:noFill/>
          <a:ln/>
        </p:spPr>
        <p:txBody>
          <a:bodyPr wrap="square" lIns="0" tIns="0" rIns="0" bIns="0" rtlCol="0" anchor="t"/>
          <a:lstStyle/>
          <a:p>
            <a:pPr rtl="1" algn="r" indent="0" marL="0">
              <a:buNone/>
            </a:pPr>
            <a:r>
              <a:rPr lang="ar-SA" altLang="en-US" sz="1500" b="1" dirty="0">
                <a:solidFill>
                  <a:schemeClr val="tx1"/>
                </a:solidFill>
              </a:rPr>
              <a:t>جديد: «نقطة البداية» — يختار الزائر الرف الذي يقف عنده، فيبدأ الطريق منه بدل المدخل، ومن دور آخر يبدأ بالتوجّه إلى الدرج.</a:t>
            </a:r>
            <a:endParaRPr lang="ar-SA" sz="1500" dirty="0"/>
          </a:p>
        </p:txBody>
      </p:sp>
      <p:sp>
        <p:nvSpPr>
          <p:cNvPr id="25" name="Slide Number Placeholder 0"/>
          <p:cNvSpPr>
            <a:spLocks noGrp="1"/>
          </p:cNvSpPr>
          <p:nvPr>
            <p:ph type="sldNum" sz="quarter" idx="4294967295"/>
          </p:nvPr>
        </p:nvSpPr>
        <p:spPr>
          <a:xfrm>
            <a:off x="5486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470"/>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1463040" y="347472"/>
            <a:ext cx="10177272" cy="731520"/>
          </a:xfrm>
          <a:prstGeom prst="rect">
            <a:avLst/>
          </a:prstGeom>
          <a:noFill/>
          <a:ln/>
        </p:spPr>
        <p:txBody>
          <a:bodyPr wrap="square" lIns="0" tIns="0" rIns="0" bIns="0" rtlCol="0" anchor="ctr"/>
          <a:lstStyle/>
          <a:p>
            <a:pPr rtl="1" algn="r" indent="0" marL="0">
              <a:buNone/>
            </a:pPr>
            <a:r>
              <a:rPr lang="en-US" sz="3200" b="1" dirty="0">
                <a:solidFill>
                  <a:schemeClr val="tx2"/>
                </a:solidFill>
              </a:rPr>
              <a:t>دورة الإعارة من الطلب إلى الإرجاع</a:t>
            </a:r>
            <a:endParaRPr lang="en-US" sz="3200" dirty="0"/>
          </a:p>
        </p:txBody>
      </p:sp>
      <p:sp>
        <p:nvSpPr>
          <p:cNvPr id="3" name="state REQUESTED"/>
          <p:cNvSpPr/>
          <p:nvPr/>
        </p:nvSpPr>
        <p:spPr>
          <a:xfrm>
            <a:off x="10317175" y="1417320"/>
            <a:ext cx="1325880" cy="1188720"/>
          </a:xfrm>
          <a:prstGeom prst="roundRect">
            <a:avLst>
              <a:gd name="adj" fmla="val 9231"/>
            </a:avLst>
          </a:prstGeom>
          <a:solidFill>
            <a:schemeClr val="accent1"/>
          </a:solidFill>
          <a:ln w="12700">
            <a:solidFill>
              <a:schemeClr val="accent1"/>
            </a:solidFill>
            <a:prstDash val="solid"/>
          </a:ln>
        </p:spPr>
      </p:sp>
      <p:sp>
        <p:nvSpPr>
          <p:cNvPr id="4" name="Text 2"/>
          <p:cNvSpPr txBox="1"/>
          <p:nvPr/>
        </p:nvSpPr>
        <p:spPr>
          <a:xfrm>
            <a:off x="10317175" y="1481328"/>
            <a:ext cx="1325880" cy="548640"/>
          </a:xfrm>
          <a:prstGeom prst="rect">
            <a:avLst/>
          </a:prstGeom>
          <a:noFill/>
          <a:ln/>
        </p:spPr>
        <p:txBody>
          <a:bodyPr wrap="square" lIns="0" tIns="0" rIns="0" bIns="0" rtlCol="0" anchor="ctr"/>
          <a:lstStyle/>
          <a:p>
            <a:pPr rtl="1" algn="ctr" indent="0" marL="0">
              <a:buNone/>
            </a:pPr>
            <a:r>
              <a:rPr lang="en-US" sz="2000" b="1" dirty="0">
                <a:solidFill>
                  <a:schemeClr val="bg1"/>
                </a:solidFill>
              </a:rPr>
              <a:t>طلب</a:t>
            </a:r>
            <a:endParaRPr lang="en-US" sz="2000" dirty="0"/>
          </a:p>
        </p:txBody>
      </p:sp>
      <p:sp>
        <p:nvSpPr>
          <p:cNvPr id="5" name="Text 3"/>
          <p:cNvSpPr txBox="1"/>
          <p:nvPr/>
        </p:nvSpPr>
        <p:spPr>
          <a:xfrm>
            <a:off x="10317175" y="2011680"/>
            <a:ext cx="1325880" cy="365760"/>
          </a:xfrm>
          <a:prstGeom prst="rect">
            <a:avLst/>
          </a:prstGeom>
          <a:noFill/>
          <a:ln/>
        </p:spPr>
        <p:txBody>
          <a:bodyPr wrap="square" lIns="0" tIns="0" rIns="0" bIns="0" rtlCol="0" anchor="ctr"/>
          <a:lstStyle/>
          <a:p>
            <a:pPr algn="ctr" indent="0" marL="0">
              <a:buNone/>
            </a:pPr>
            <a:r>
              <a:rPr lang="en-US" sz="1100" dirty="0">
                <a:solidFill>
                  <a:schemeClr val="accent4"/>
                </a:solidFill>
              </a:rPr>
              <a:t>REQUESTED</a:t>
            </a:r>
            <a:endParaRPr lang="en-US" sz="1100" dirty="0"/>
          </a:p>
        </p:txBody>
      </p:sp>
      <p:sp>
        <p:nvSpPr>
          <p:cNvPr id="6" name="Text 4"/>
          <p:cNvSpPr txBox="1"/>
          <p:nvPr/>
        </p:nvSpPr>
        <p:spPr>
          <a:xfrm>
            <a:off x="10244023" y="2697480"/>
            <a:ext cx="1472184" cy="868680"/>
          </a:xfrm>
          <a:prstGeom prst="rect">
            <a:avLst/>
          </a:prstGeom>
          <a:noFill/>
          <a:ln/>
        </p:spPr>
        <p:txBody>
          <a:bodyPr wrap="square" lIns="0" tIns="0" rIns="0" bIns="0" rtlCol="0" anchor="ctr"/>
          <a:lstStyle/>
          <a:p>
            <a:pPr rtl="1" algn="ctr" indent="0" marL="0">
              <a:buNone/>
            </a:pPr>
            <a:r>
              <a:rPr lang="en-US" sz="1200" dirty="0">
                <a:solidFill>
                  <a:schemeClr val="tx1"/>
                </a:solidFill>
              </a:rPr>
              <a:t>الزائر يرسل الطلب مع صورة هويته</a:t>
            </a:r>
            <a:endParaRPr lang="en-US" sz="1200" dirty="0"/>
          </a:p>
        </p:txBody>
      </p:sp>
      <p:sp>
        <p:nvSpPr>
          <p:cNvPr id="7" name="state arrow 1"/>
          <p:cNvSpPr/>
          <p:nvPr/>
        </p:nvSpPr>
        <p:spPr>
          <a:xfrm flipH="1">
            <a:off x="10097719" y="2011680"/>
            <a:ext cx="192024" cy="0"/>
          </a:xfrm>
          <a:prstGeom prst="line">
            <a:avLst/>
          </a:prstGeom>
          <a:noFill/>
          <a:ln w="25400">
            <a:solidFill>
              <a:srgbClr val="8B8B8B"/>
            </a:solidFill>
            <a:prstDash val="solid"/>
            <a:tailEnd type="triangle"/>
          </a:ln>
        </p:spPr>
      </p:sp>
      <p:sp>
        <p:nvSpPr>
          <p:cNvPr id="8" name="state APPROVED"/>
          <p:cNvSpPr/>
          <p:nvPr/>
        </p:nvSpPr>
        <p:spPr>
          <a:xfrm>
            <a:off x="8744407" y="1417320"/>
            <a:ext cx="1325880" cy="1188720"/>
          </a:xfrm>
          <a:prstGeom prst="roundRect">
            <a:avLst>
              <a:gd name="adj" fmla="val 9231"/>
            </a:avLst>
          </a:prstGeom>
          <a:solidFill>
            <a:schemeClr val="accent1"/>
          </a:solidFill>
          <a:ln w="12700">
            <a:solidFill>
              <a:schemeClr val="accent1"/>
            </a:solidFill>
            <a:prstDash val="solid"/>
          </a:ln>
        </p:spPr>
      </p:sp>
      <p:sp>
        <p:nvSpPr>
          <p:cNvPr id="9" name="Text 7"/>
          <p:cNvSpPr txBox="1"/>
          <p:nvPr/>
        </p:nvSpPr>
        <p:spPr>
          <a:xfrm>
            <a:off x="8744407" y="1481328"/>
            <a:ext cx="1325880" cy="548640"/>
          </a:xfrm>
          <a:prstGeom prst="rect">
            <a:avLst/>
          </a:prstGeom>
          <a:noFill/>
          <a:ln/>
        </p:spPr>
        <p:txBody>
          <a:bodyPr wrap="square" lIns="0" tIns="0" rIns="0" bIns="0" rtlCol="0" anchor="ctr"/>
          <a:lstStyle/>
          <a:p>
            <a:pPr rtl="1" algn="ctr" indent="0" marL="0">
              <a:buNone/>
            </a:pPr>
            <a:r>
              <a:rPr lang="en-US" sz="2000" b="1" dirty="0">
                <a:solidFill>
                  <a:schemeClr val="bg1"/>
                </a:solidFill>
              </a:rPr>
              <a:t>محجوز</a:t>
            </a:r>
            <a:endParaRPr lang="en-US" sz="2000" dirty="0"/>
          </a:p>
        </p:txBody>
      </p:sp>
      <p:sp>
        <p:nvSpPr>
          <p:cNvPr id="10" name="Text 8"/>
          <p:cNvSpPr txBox="1"/>
          <p:nvPr/>
        </p:nvSpPr>
        <p:spPr>
          <a:xfrm>
            <a:off x="8744407" y="2011680"/>
            <a:ext cx="1325880" cy="365760"/>
          </a:xfrm>
          <a:prstGeom prst="rect">
            <a:avLst/>
          </a:prstGeom>
          <a:noFill/>
          <a:ln/>
        </p:spPr>
        <p:txBody>
          <a:bodyPr wrap="square" lIns="0" tIns="0" rIns="0" bIns="0" rtlCol="0" anchor="ctr"/>
          <a:lstStyle/>
          <a:p>
            <a:pPr algn="ctr" indent="0" marL="0">
              <a:buNone/>
            </a:pPr>
            <a:r>
              <a:rPr lang="en-US" sz="1100" dirty="0">
                <a:solidFill>
                  <a:schemeClr val="accent4"/>
                </a:solidFill>
              </a:rPr>
              <a:t>APPROVED</a:t>
            </a:r>
            <a:endParaRPr lang="en-US" sz="1100" dirty="0"/>
          </a:p>
        </p:txBody>
      </p:sp>
      <p:sp>
        <p:nvSpPr>
          <p:cNvPr id="11" name="Text 9"/>
          <p:cNvSpPr txBox="1"/>
          <p:nvPr/>
        </p:nvSpPr>
        <p:spPr>
          <a:xfrm>
            <a:off x="8671255" y="2697480"/>
            <a:ext cx="1472184" cy="868680"/>
          </a:xfrm>
          <a:prstGeom prst="rect">
            <a:avLst/>
          </a:prstGeom>
          <a:noFill/>
          <a:ln/>
        </p:spPr>
        <p:txBody>
          <a:bodyPr wrap="square" lIns="0" tIns="0" rIns="0" bIns="0" rtlCol="0" anchor="ctr"/>
          <a:lstStyle/>
          <a:p>
            <a:pPr rtl="1" algn="ctr" indent="0" marL="0">
              <a:buNone/>
            </a:pPr>
            <a:r>
              <a:rPr lang="en-US" sz="1200" dirty="0">
                <a:solidFill>
                  <a:schemeClr val="tx1"/>
                </a:solidFill>
              </a:rPr>
              <a:t>المشرفة تطابق الهوية وتحجز نسخة</a:t>
            </a:r>
            <a:endParaRPr lang="en-US" sz="1200" dirty="0"/>
          </a:p>
        </p:txBody>
      </p:sp>
      <p:sp>
        <p:nvSpPr>
          <p:cNvPr id="12" name="state arrow 2"/>
          <p:cNvSpPr/>
          <p:nvPr/>
        </p:nvSpPr>
        <p:spPr>
          <a:xfrm flipH="1">
            <a:off x="8524951" y="2011680"/>
            <a:ext cx="192024" cy="0"/>
          </a:xfrm>
          <a:prstGeom prst="line">
            <a:avLst/>
          </a:prstGeom>
          <a:noFill/>
          <a:ln w="25400">
            <a:solidFill>
              <a:srgbClr val="8B8B8B"/>
            </a:solidFill>
            <a:prstDash val="solid"/>
            <a:tailEnd type="triangle"/>
          </a:ln>
        </p:spPr>
      </p:sp>
      <p:sp>
        <p:nvSpPr>
          <p:cNvPr id="13" name="state ACTIVE"/>
          <p:cNvSpPr/>
          <p:nvPr/>
        </p:nvSpPr>
        <p:spPr>
          <a:xfrm>
            <a:off x="7171639" y="1417320"/>
            <a:ext cx="1325880" cy="1188720"/>
          </a:xfrm>
          <a:prstGeom prst="roundRect">
            <a:avLst>
              <a:gd name="adj" fmla="val 9231"/>
            </a:avLst>
          </a:prstGeom>
          <a:solidFill>
            <a:schemeClr val="accent1"/>
          </a:solidFill>
          <a:ln w="12700">
            <a:solidFill>
              <a:schemeClr val="accent1"/>
            </a:solidFill>
            <a:prstDash val="solid"/>
          </a:ln>
        </p:spPr>
      </p:sp>
      <p:sp>
        <p:nvSpPr>
          <p:cNvPr id="14" name="Text 12"/>
          <p:cNvSpPr txBox="1"/>
          <p:nvPr/>
        </p:nvSpPr>
        <p:spPr>
          <a:xfrm>
            <a:off x="7171639" y="1481328"/>
            <a:ext cx="1325880" cy="548640"/>
          </a:xfrm>
          <a:prstGeom prst="rect">
            <a:avLst/>
          </a:prstGeom>
          <a:noFill/>
          <a:ln/>
        </p:spPr>
        <p:txBody>
          <a:bodyPr wrap="square" lIns="0" tIns="0" rIns="0" bIns="0" rtlCol="0" anchor="ctr"/>
          <a:lstStyle/>
          <a:p>
            <a:pPr rtl="1" algn="ctr" indent="0" marL="0">
              <a:buNone/>
            </a:pPr>
            <a:r>
              <a:rPr lang="en-US" sz="2000" b="1" dirty="0">
                <a:solidFill>
                  <a:schemeClr val="bg1"/>
                </a:solidFill>
              </a:rPr>
              <a:t>مُعار</a:t>
            </a:r>
            <a:endParaRPr lang="en-US" sz="2000" dirty="0"/>
          </a:p>
        </p:txBody>
      </p:sp>
      <p:sp>
        <p:nvSpPr>
          <p:cNvPr id="15" name="Text 13"/>
          <p:cNvSpPr txBox="1"/>
          <p:nvPr/>
        </p:nvSpPr>
        <p:spPr>
          <a:xfrm>
            <a:off x="7171639" y="2011680"/>
            <a:ext cx="1325880" cy="365760"/>
          </a:xfrm>
          <a:prstGeom prst="rect">
            <a:avLst/>
          </a:prstGeom>
          <a:noFill/>
          <a:ln/>
        </p:spPr>
        <p:txBody>
          <a:bodyPr wrap="square" lIns="0" tIns="0" rIns="0" bIns="0" rtlCol="0" anchor="ctr"/>
          <a:lstStyle/>
          <a:p>
            <a:pPr algn="ctr" indent="0" marL="0">
              <a:buNone/>
            </a:pPr>
            <a:r>
              <a:rPr lang="en-US" sz="1100" dirty="0">
                <a:solidFill>
                  <a:schemeClr val="accent4"/>
                </a:solidFill>
              </a:rPr>
              <a:t>ACTIVE</a:t>
            </a:r>
            <a:endParaRPr lang="en-US" sz="1100" dirty="0"/>
          </a:p>
        </p:txBody>
      </p:sp>
      <p:sp>
        <p:nvSpPr>
          <p:cNvPr id="16" name="Text 14"/>
          <p:cNvSpPr txBox="1"/>
          <p:nvPr/>
        </p:nvSpPr>
        <p:spPr>
          <a:xfrm>
            <a:off x="7098487" y="2697480"/>
            <a:ext cx="1472184" cy="868680"/>
          </a:xfrm>
          <a:prstGeom prst="rect">
            <a:avLst/>
          </a:prstGeom>
          <a:noFill/>
          <a:ln/>
        </p:spPr>
        <p:txBody>
          <a:bodyPr wrap="square" lIns="0" tIns="0" rIns="0" bIns="0" rtlCol="0" anchor="ctr"/>
          <a:lstStyle/>
          <a:p>
            <a:pPr rtl="1" algn="ctr" indent="0" marL="0">
              <a:buNone/>
            </a:pPr>
            <a:r>
              <a:rPr lang="en-US" sz="1200" dirty="0">
                <a:solidFill>
                  <a:schemeClr val="tx1"/>
                </a:solidFill>
              </a:rPr>
              <a:t>التسليم ويبدأ العدّ لموعد الإرجاع</a:t>
            </a:r>
            <a:endParaRPr lang="en-US" sz="1200" dirty="0"/>
          </a:p>
        </p:txBody>
      </p:sp>
      <p:sp>
        <p:nvSpPr>
          <p:cNvPr id="17" name="state arrow 3"/>
          <p:cNvSpPr/>
          <p:nvPr/>
        </p:nvSpPr>
        <p:spPr>
          <a:xfrm flipH="1">
            <a:off x="6952183" y="2011680"/>
            <a:ext cx="192024" cy="0"/>
          </a:xfrm>
          <a:prstGeom prst="line">
            <a:avLst/>
          </a:prstGeom>
          <a:noFill/>
          <a:ln w="25400">
            <a:solidFill>
              <a:srgbClr val="8B8B8B"/>
            </a:solidFill>
            <a:prstDash val="solid"/>
            <a:tailEnd type="triangle"/>
          </a:ln>
        </p:spPr>
      </p:sp>
      <p:sp>
        <p:nvSpPr>
          <p:cNvPr id="18" name="state RETURNED"/>
          <p:cNvSpPr/>
          <p:nvPr/>
        </p:nvSpPr>
        <p:spPr>
          <a:xfrm>
            <a:off x="5598871" y="1417320"/>
            <a:ext cx="1325880" cy="1188720"/>
          </a:xfrm>
          <a:prstGeom prst="roundRect">
            <a:avLst>
              <a:gd name="adj" fmla="val 9231"/>
            </a:avLst>
          </a:prstGeom>
          <a:solidFill>
            <a:schemeClr val="accent2"/>
          </a:solidFill>
          <a:ln w="12700">
            <a:solidFill>
              <a:schemeClr val="accent2"/>
            </a:solidFill>
            <a:prstDash val="solid"/>
          </a:ln>
        </p:spPr>
      </p:sp>
      <p:sp>
        <p:nvSpPr>
          <p:cNvPr id="19" name="Text 17"/>
          <p:cNvSpPr txBox="1"/>
          <p:nvPr/>
        </p:nvSpPr>
        <p:spPr>
          <a:xfrm>
            <a:off x="5598871" y="1481328"/>
            <a:ext cx="1325880" cy="548640"/>
          </a:xfrm>
          <a:prstGeom prst="rect">
            <a:avLst/>
          </a:prstGeom>
          <a:noFill/>
          <a:ln/>
        </p:spPr>
        <p:txBody>
          <a:bodyPr wrap="square" lIns="0" tIns="0" rIns="0" bIns="0" rtlCol="0" anchor="ctr"/>
          <a:lstStyle/>
          <a:p>
            <a:pPr rtl="1" algn="ctr" indent="0" marL="0">
              <a:buNone/>
            </a:pPr>
            <a:r>
              <a:rPr lang="en-US" sz="2000" b="1" dirty="0">
                <a:solidFill>
                  <a:schemeClr val="bg1"/>
                </a:solidFill>
              </a:rPr>
              <a:t>مُعاد</a:t>
            </a:r>
            <a:endParaRPr lang="en-US" sz="2000" dirty="0"/>
          </a:p>
        </p:txBody>
      </p:sp>
      <p:sp>
        <p:nvSpPr>
          <p:cNvPr id="20" name="Text 18"/>
          <p:cNvSpPr txBox="1"/>
          <p:nvPr/>
        </p:nvSpPr>
        <p:spPr>
          <a:xfrm>
            <a:off x="5598871" y="2011680"/>
            <a:ext cx="1325880" cy="365760"/>
          </a:xfrm>
          <a:prstGeom prst="rect">
            <a:avLst/>
          </a:prstGeom>
          <a:noFill/>
          <a:ln/>
        </p:spPr>
        <p:txBody>
          <a:bodyPr wrap="square" lIns="0" tIns="0" rIns="0" bIns="0" rtlCol="0" anchor="ctr"/>
          <a:lstStyle/>
          <a:p>
            <a:pPr algn="ctr" indent="0" marL="0">
              <a:buNone/>
            </a:pPr>
            <a:r>
              <a:rPr lang="en-US" sz="1100" dirty="0">
                <a:solidFill>
                  <a:schemeClr val="bg1"/>
                </a:solidFill>
              </a:rPr>
              <a:t>RETURNED</a:t>
            </a:r>
            <a:endParaRPr lang="en-US" sz="1100" dirty="0"/>
          </a:p>
        </p:txBody>
      </p:sp>
      <p:sp>
        <p:nvSpPr>
          <p:cNvPr id="21" name="Text 19"/>
          <p:cNvSpPr txBox="1"/>
          <p:nvPr/>
        </p:nvSpPr>
        <p:spPr>
          <a:xfrm>
            <a:off x="5525719" y="2697480"/>
            <a:ext cx="1472184" cy="868680"/>
          </a:xfrm>
          <a:prstGeom prst="rect">
            <a:avLst/>
          </a:prstGeom>
          <a:noFill/>
          <a:ln/>
        </p:spPr>
        <p:txBody>
          <a:bodyPr wrap="square" lIns="0" tIns="0" rIns="0" bIns="0" rtlCol="0" anchor="ctr"/>
          <a:lstStyle/>
          <a:p>
            <a:pPr rtl="1" algn="ctr" indent="0" marL="0">
              <a:buNone/>
            </a:pPr>
            <a:r>
              <a:rPr lang="en-US" sz="1200" dirty="0">
                <a:solidFill>
                  <a:schemeClr val="tx1"/>
                </a:solidFill>
              </a:rPr>
              <a:t>الاسترجاع وتعود النسخة للرف</a:t>
            </a:r>
            <a:endParaRPr lang="en-US" sz="1200" dirty="0"/>
          </a:p>
        </p:txBody>
      </p:sp>
      <p:pic>
        <p:nvPicPr>
          <p:cNvPr id="22" name="borrow request screenshot" descr="/tmp/claude-0/-home-user-CLAUDE/0be54b07-c1ba-5b31-958a-45d5f68df334/scratchpad/deck/img/u_borrow.png">    </p:cNvPr>
          <p:cNvPicPr>
            <a:picLocks noChangeAspect="1"/>
          </p:cNvPicPr>
          <p:nvPr/>
        </p:nvPicPr>
        <p:blipFill>
          <a:blip r:embed="rId1"/>
          <a:stretch>
            <a:fillRect/>
          </a:stretch>
        </p:blipFill>
        <p:spPr>
          <a:xfrm>
            <a:off x="640080" y="1234440"/>
            <a:ext cx="2221992" cy="4937760"/>
          </a:xfrm>
          <a:prstGeom prst="rect">
            <a:avLst/>
          </a:prstGeom>
        </p:spPr>
      </p:pic>
      <p:pic>
        <p:nvPicPr>
          <p:cNvPr id="23" name="admin loan screenshot" descr="/tmp/claude-0/-home-user-CLAUDE/0be54b07-c1ba-5b31-958a-45d5f68df334/scratchpad/deck/img/a_loan.png">    </p:cNvPr>
          <p:cNvPicPr>
            <a:picLocks noChangeAspect="1"/>
          </p:cNvPicPr>
          <p:nvPr/>
        </p:nvPicPr>
        <p:blipFill>
          <a:blip r:embed="rId2"/>
          <a:stretch>
            <a:fillRect/>
          </a:stretch>
        </p:blipFill>
        <p:spPr>
          <a:xfrm>
            <a:off x="2971800" y="1234440"/>
            <a:ext cx="2221992" cy="4937760"/>
          </a:xfrm>
          <a:prstGeom prst="rect">
            <a:avLst/>
          </a:prstGeom>
        </p:spPr>
      </p:pic>
      <p:sp>
        <p:nvSpPr>
          <p:cNvPr id="24" name="loan point 1 circle"/>
          <p:cNvSpPr/>
          <p:nvPr/>
        </p:nvSpPr>
        <p:spPr>
          <a:xfrm>
            <a:off x="11094415" y="3794760"/>
            <a:ext cx="548640" cy="548640"/>
          </a:xfrm>
          <a:prstGeom prst="ellipse">
            <a:avLst/>
          </a:prstGeom>
          <a:solidFill>
            <a:schemeClr val="accent4"/>
          </a:solidFill>
          <a:ln w="12700">
            <a:solidFill>
              <a:schemeClr val="accent4"/>
            </a:solidFill>
            <a:prstDash val="solid"/>
          </a:ln>
        </p:spPr>
      </p:sp>
      <p:pic>
        <p:nvPicPr>
          <p:cNvPr id="25" name="loan point 1 icon" descr="preencoded.png">    </p:cNvPr>
          <p:cNvPicPr>
            <a:picLocks noChangeAspect="1"/>
          </p:cNvPicPr>
          <p:nvPr/>
        </p:nvPicPr>
        <p:blipFill>
          <a:blip r:embed="rId3"/>
          <a:stretch>
            <a:fillRect/>
          </a:stretch>
        </p:blipFill>
        <p:spPr>
          <a:xfrm>
            <a:off x="11237062" y="3937406"/>
            <a:ext cx="263347" cy="263347"/>
          </a:xfrm>
          <a:prstGeom prst="rect">
            <a:avLst/>
          </a:prstGeom>
        </p:spPr>
      </p:pic>
      <p:sp>
        <p:nvSpPr>
          <p:cNvPr id="26" name="Text 21"/>
          <p:cNvSpPr txBox="1"/>
          <p:nvPr/>
        </p:nvSpPr>
        <p:spPr>
          <a:xfrm>
            <a:off x="5623560" y="3767328"/>
            <a:ext cx="5303520" cy="731520"/>
          </a:xfrm>
          <a:prstGeom prst="rect">
            <a:avLst/>
          </a:prstGeom>
          <a:noFill/>
          <a:ln/>
        </p:spPr>
        <p:txBody>
          <a:bodyPr wrap="square" lIns="0" tIns="0" rIns="0" bIns="0" rtlCol="0" anchor="ctr"/>
          <a:lstStyle/>
          <a:p>
            <a:pPr rtl="1" algn="r" indent="0" marL="0">
              <a:buNone/>
            </a:pPr>
            <a:r>
              <a:rPr lang="ar-SA" altLang="en-US" sz="1500" dirty="0">
                <a:solidFill>
                  <a:schemeClr val="tx1"/>
                </a:solidFill>
              </a:rPr>
              <a:t>المتاح = عدد النسخ − المحجوز − المُعار، ويُحسب داخل معاملة واحدة.</a:t>
            </a:r>
            <a:endParaRPr lang="ar-SA" sz="1500" dirty="0"/>
          </a:p>
        </p:txBody>
      </p:sp>
      <p:sp>
        <p:nvSpPr>
          <p:cNvPr id="27" name="loan point 2 circle"/>
          <p:cNvSpPr/>
          <p:nvPr/>
        </p:nvSpPr>
        <p:spPr>
          <a:xfrm>
            <a:off x="11094415" y="4663440"/>
            <a:ext cx="548640" cy="548640"/>
          </a:xfrm>
          <a:prstGeom prst="ellipse">
            <a:avLst/>
          </a:prstGeom>
          <a:solidFill>
            <a:schemeClr val="accent4"/>
          </a:solidFill>
          <a:ln w="12700">
            <a:solidFill>
              <a:schemeClr val="accent4"/>
            </a:solidFill>
            <a:prstDash val="solid"/>
          </a:ln>
        </p:spPr>
      </p:sp>
      <p:pic>
        <p:nvPicPr>
          <p:cNvPr id="28" name="loan point 2 icon" descr="preencoded.png">    </p:cNvPr>
          <p:cNvPicPr>
            <a:picLocks noChangeAspect="1"/>
          </p:cNvPicPr>
          <p:nvPr/>
        </p:nvPicPr>
        <p:blipFill>
          <a:blip r:embed="rId4"/>
          <a:stretch>
            <a:fillRect/>
          </a:stretch>
        </p:blipFill>
        <p:spPr>
          <a:xfrm>
            <a:off x="11237062" y="4806086"/>
            <a:ext cx="263347" cy="263347"/>
          </a:xfrm>
          <a:prstGeom prst="rect">
            <a:avLst/>
          </a:prstGeom>
        </p:spPr>
      </p:pic>
      <p:sp>
        <p:nvSpPr>
          <p:cNvPr id="29" name="Text 23"/>
          <p:cNvSpPr txBox="1"/>
          <p:nvPr/>
        </p:nvSpPr>
        <p:spPr>
          <a:xfrm>
            <a:off x="5623560" y="4636008"/>
            <a:ext cx="5303520" cy="731520"/>
          </a:xfrm>
          <a:prstGeom prst="rect">
            <a:avLst/>
          </a:prstGeom>
          <a:noFill/>
          <a:ln/>
        </p:spPr>
        <p:txBody>
          <a:bodyPr wrap="square" lIns="0" tIns="0" rIns="0" bIns="0" rtlCol="0" anchor="ctr"/>
          <a:lstStyle/>
          <a:p>
            <a:pPr rtl="1" algn="r" indent="0" marL="0">
              <a:buNone/>
            </a:pPr>
            <a:r>
              <a:rPr lang="ar-SA" altLang="en-US" sz="1500" dirty="0">
                <a:solidFill>
                  <a:schemeClr val="tx1"/>
                </a:solidFill>
              </a:rPr>
              <a:t>مطابقة الاسم ورقم الهوية بالصورة قبل الموافقة، وتُحذف الصورة عند إغلاق الإعارة.</a:t>
            </a:r>
            <a:endParaRPr lang="ar-SA" sz="1500" dirty="0"/>
          </a:p>
        </p:txBody>
      </p:sp>
      <p:sp>
        <p:nvSpPr>
          <p:cNvPr id="30" name="loan point 3 circle"/>
          <p:cNvSpPr/>
          <p:nvPr/>
        </p:nvSpPr>
        <p:spPr>
          <a:xfrm>
            <a:off x="11094415" y="5532120"/>
            <a:ext cx="548640" cy="548640"/>
          </a:xfrm>
          <a:prstGeom prst="ellipse">
            <a:avLst/>
          </a:prstGeom>
          <a:solidFill>
            <a:schemeClr val="accent4"/>
          </a:solidFill>
          <a:ln w="12700">
            <a:solidFill>
              <a:schemeClr val="accent4"/>
            </a:solidFill>
            <a:prstDash val="solid"/>
          </a:ln>
        </p:spPr>
      </p:sp>
      <p:pic>
        <p:nvPicPr>
          <p:cNvPr id="31" name="loan point 3 icon" descr="preencoded.png">    </p:cNvPr>
          <p:cNvPicPr>
            <a:picLocks noChangeAspect="1"/>
          </p:cNvPicPr>
          <p:nvPr/>
        </p:nvPicPr>
        <p:blipFill>
          <a:blip r:embed="rId5"/>
          <a:stretch>
            <a:fillRect/>
          </a:stretch>
        </p:blipFill>
        <p:spPr>
          <a:xfrm>
            <a:off x="11237062" y="5674766"/>
            <a:ext cx="263347" cy="263347"/>
          </a:xfrm>
          <a:prstGeom prst="rect">
            <a:avLst/>
          </a:prstGeom>
        </p:spPr>
      </p:pic>
      <p:sp>
        <p:nvSpPr>
          <p:cNvPr id="32" name="Text 25"/>
          <p:cNvSpPr txBox="1"/>
          <p:nvPr/>
        </p:nvSpPr>
        <p:spPr>
          <a:xfrm>
            <a:off x="5623560" y="5504688"/>
            <a:ext cx="5303520" cy="731520"/>
          </a:xfrm>
          <a:prstGeom prst="rect">
            <a:avLst/>
          </a:prstGeom>
          <a:noFill/>
          <a:ln/>
        </p:spPr>
        <p:txBody>
          <a:bodyPr wrap="square" lIns="0" tIns="0" rIns="0" bIns="0" rtlCol="0" anchor="ctr"/>
          <a:lstStyle/>
          <a:p>
            <a:pPr rtl="1" algn="r" indent="0" marL="0">
              <a:buNone/>
            </a:pPr>
            <a:r>
              <a:rPr lang="ar-SA" altLang="en-US" sz="1500" dirty="0">
                <a:solidFill>
                  <a:schemeClr val="tx1"/>
                </a:solidFill>
              </a:rPr>
              <a:t>تجديد، وإلغاء، ورفض، وإعارة يدوية من المكتب لمن لا يملك التطبيق.</a:t>
            </a:r>
            <a:endParaRPr lang="ar-SA" sz="1500" dirty="0"/>
          </a:p>
        </p:txBody>
      </p:sp>
      <p:sp>
        <p:nvSpPr>
          <p:cNvPr id="25" name="Slide Number Placeholder 0"/>
          <p:cNvSpPr>
            <a:spLocks noGrp="1"/>
          </p:cNvSpPr>
          <p:nvPr>
            <p:ph type="sldNum" sz="quarter" idx="4294967295"/>
          </p:nvPr>
        </p:nvSpPr>
        <p:spPr>
          <a:xfrm>
            <a:off x="5486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470"/>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1463040" y="347472"/>
            <a:ext cx="10177272" cy="731520"/>
          </a:xfrm>
          <a:prstGeom prst="rect">
            <a:avLst/>
          </a:prstGeom>
          <a:noFill/>
          <a:ln/>
        </p:spPr>
        <p:txBody>
          <a:bodyPr wrap="square" lIns="0" tIns="0" rIns="0" bIns="0" rtlCol="0" anchor="ctr"/>
          <a:lstStyle/>
          <a:p>
            <a:pPr rtl="1" algn="r" indent="0" marL="0">
              <a:buNone/>
            </a:pPr>
            <a:r>
              <a:rPr lang="en-US" sz="3200" b="1" dirty="0">
                <a:solidFill>
                  <a:schemeClr val="tx2"/>
                </a:solidFill>
              </a:rPr>
              <a:t>تطبيق المشرف</a:t>
            </a:r>
            <a:endParaRPr lang="en-US" sz="3200" dirty="0"/>
          </a:p>
        </p:txBody>
      </p:sp>
      <p:pic>
        <p:nvPicPr>
          <p:cNvPr id="3" name="لوحة التحكم" descr="/tmp/claude-0/-home-user-CLAUDE/0be54b07-c1ba-5b31-958a-45d5f68df334/scratchpad/deck/img/a_dash.png">    </p:cNvPr>
          <p:cNvPicPr>
            <a:picLocks noChangeAspect="1"/>
          </p:cNvPicPr>
          <p:nvPr/>
        </p:nvPicPr>
        <p:blipFill>
          <a:blip r:embed="rId1"/>
          <a:stretch>
            <a:fillRect/>
          </a:stretch>
        </p:blipFill>
        <p:spPr>
          <a:xfrm>
            <a:off x="685800" y="1325880"/>
            <a:ext cx="2057400" cy="4572000"/>
          </a:xfrm>
          <a:prstGeom prst="rect">
            <a:avLst/>
          </a:prstGeom>
        </p:spPr>
      </p:pic>
      <p:sp>
        <p:nvSpPr>
          <p:cNvPr id="4" name="Text 1"/>
          <p:cNvSpPr txBox="1"/>
          <p:nvPr/>
        </p:nvSpPr>
        <p:spPr>
          <a:xfrm>
            <a:off x="594360" y="5897880"/>
            <a:ext cx="2240280" cy="320040"/>
          </a:xfrm>
          <a:prstGeom prst="rect">
            <a:avLst/>
          </a:prstGeom>
          <a:noFill/>
          <a:ln/>
        </p:spPr>
        <p:txBody>
          <a:bodyPr wrap="square" lIns="0" tIns="0" rIns="0" bIns="0" rtlCol="0" anchor="ctr"/>
          <a:lstStyle/>
          <a:p>
            <a:pPr rtl="1" algn="ctr" indent="0" marL="0">
              <a:buNone/>
            </a:pPr>
            <a:r>
              <a:rPr lang="en-US" sz="1300" b="1" dirty="0">
                <a:solidFill>
                  <a:schemeClr val="tx2"/>
                </a:solidFill>
              </a:rPr>
              <a:t>لوحة التحكم</a:t>
            </a:r>
            <a:endParaRPr lang="en-US" sz="1300" dirty="0"/>
          </a:p>
        </p:txBody>
      </p:sp>
      <p:pic>
        <p:nvPicPr>
          <p:cNvPr id="5" name="محرّر الأدوار" descr="/tmp/claude-0/-home-user-CLAUDE/0be54b07-c1ba-5b31-958a-45d5f68df334/scratchpad/deck/img/a_floor.png">    </p:cNvPr>
          <p:cNvPicPr>
            <a:picLocks noChangeAspect="1"/>
          </p:cNvPicPr>
          <p:nvPr/>
        </p:nvPicPr>
        <p:blipFill>
          <a:blip r:embed="rId2"/>
          <a:stretch>
            <a:fillRect/>
          </a:stretch>
        </p:blipFill>
        <p:spPr>
          <a:xfrm>
            <a:off x="3108960" y="1325880"/>
            <a:ext cx="2057400" cy="4572000"/>
          </a:xfrm>
          <a:prstGeom prst="rect">
            <a:avLst/>
          </a:prstGeom>
        </p:spPr>
      </p:pic>
      <p:sp>
        <p:nvSpPr>
          <p:cNvPr id="6" name="Text 2"/>
          <p:cNvSpPr txBox="1"/>
          <p:nvPr/>
        </p:nvSpPr>
        <p:spPr>
          <a:xfrm>
            <a:off x="3017520" y="5897880"/>
            <a:ext cx="2240280" cy="320040"/>
          </a:xfrm>
          <a:prstGeom prst="rect">
            <a:avLst/>
          </a:prstGeom>
          <a:noFill/>
          <a:ln/>
        </p:spPr>
        <p:txBody>
          <a:bodyPr wrap="square" lIns="0" tIns="0" rIns="0" bIns="0" rtlCol="0" anchor="ctr"/>
          <a:lstStyle/>
          <a:p>
            <a:pPr rtl="1" algn="ctr" indent="0" marL="0">
              <a:buNone/>
            </a:pPr>
            <a:r>
              <a:rPr lang="en-US" sz="1300" b="1" dirty="0">
                <a:solidFill>
                  <a:schemeClr val="tx2"/>
                </a:solidFill>
              </a:rPr>
              <a:t>محرّر الأدوار</a:t>
            </a:r>
            <a:endParaRPr lang="en-US" sz="1300" dirty="0"/>
          </a:p>
        </p:txBody>
      </p:sp>
      <p:pic>
        <p:nvPicPr>
          <p:cNvPr id="7" name="التقارير" descr="/tmp/claude-0/-home-user-CLAUDE/0be54b07-c1ba-5b31-958a-45d5f68df334/scratchpad/deck/img/a_reports.png">    </p:cNvPr>
          <p:cNvPicPr>
            <a:picLocks noChangeAspect="1"/>
          </p:cNvPicPr>
          <p:nvPr/>
        </p:nvPicPr>
        <p:blipFill>
          <a:blip r:embed="rId3"/>
          <a:stretch>
            <a:fillRect/>
          </a:stretch>
        </p:blipFill>
        <p:spPr>
          <a:xfrm>
            <a:off x="5532120" y="1325880"/>
            <a:ext cx="2057400" cy="4572000"/>
          </a:xfrm>
          <a:prstGeom prst="rect">
            <a:avLst/>
          </a:prstGeom>
        </p:spPr>
      </p:pic>
      <p:sp>
        <p:nvSpPr>
          <p:cNvPr id="8" name="Text 3"/>
          <p:cNvSpPr txBox="1"/>
          <p:nvPr/>
        </p:nvSpPr>
        <p:spPr>
          <a:xfrm>
            <a:off x="5440680" y="5897880"/>
            <a:ext cx="2240280" cy="320040"/>
          </a:xfrm>
          <a:prstGeom prst="rect">
            <a:avLst/>
          </a:prstGeom>
          <a:noFill/>
          <a:ln/>
        </p:spPr>
        <p:txBody>
          <a:bodyPr wrap="square" lIns="0" tIns="0" rIns="0" bIns="0" rtlCol="0" anchor="ctr"/>
          <a:lstStyle/>
          <a:p>
            <a:pPr rtl="1" algn="ctr" indent="0" marL="0">
              <a:buNone/>
            </a:pPr>
            <a:r>
              <a:rPr lang="en-US" sz="1300" b="1" dirty="0">
                <a:solidFill>
                  <a:schemeClr val="tx2"/>
                </a:solidFill>
              </a:rPr>
              <a:t>التقارير</a:t>
            </a:r>
            <a:endParaRPr lang="en-US" sz="1300" dirty="0"/>
          </a:p>
        </p:txBody>
      </p:sp>
      <p:sp>
        <p:nvSpPr>
          <p:cNvPr id="9" name="admin feature 1 circle"/>
          <p:cNvSpPr/>
          <p:nvPr/>
        </p:nvSpPr>
        <p:spPr>
          <a:xfrm>
            <a:off x="10957255" y="1463040"/>
            <a:ext cx="685800" cy="685800"/>
          </a:xfrm>
          <a:prstGeom prst="ellipse">
            <a:avLst/>
          </a:prstGeom>
          <a:solidFill>
            <a:schemeClr val="accent1"/>
          </a:solidFill>
          <a:ln w="12700">
            <a:solidFill>
              <a:schemeClr val="accent1"/>
            </a:solidFill>
            <a:prstDash val="solid"/>
          </a:ln>
        </p:spPr>
      </p:sp>
      <p:pic>
        <p:nvPicPr>
          <p:cNvPr id="10" name="admin feature 1 icon" descr="preencoded.png">    </p:cNvPr>
          <p:cNvPicPr>
            <a:picLocks noChangeAspect="1"/>
          </p:cNvPicPr>
          <p:nvPr/>
        </p:nvPicPr>
        <p:blipFill>
          <a:blip r:embed="rId4"/>
          <a:stretch>
            <a:fillRect/>
          </a:stretch>
        </p:blipFill>
        <p:spPr>
          <a:xfrm>
            <a:off x="11135563" y="1641348"/>
            <a:ext cx="329184" cy="329184"/>
          </a:xfrm>
          <a:prstGeom prst="rect">
            <a:avLst/>
          </a:prstGeom>
        </p:spPr>
      </p:pic>
      <p:sp>
        <p:nvSpPr>
          <p:cNvPr id="11" name="Text 5"/>
          <p:cNvSpPr txBox="1"/>
          <p:nvPr/>
        </p:nvSpPr>
        <p:spPr>
          <a:xfrm>
            <a:off x="7909560" y="1463040"/>
            <a:ext cx="2971800" cy="365760"/>
          </a:xfrm>
          <a:prstGeom prst="rect">
            <a:avLst/>
          </a:prstGeom>
          <a:noFill/>
          <a:ln/>
        </p:spPr>
        <p:txBody>
          <a:bodyPr wrap="square" lIns="0" tIns="0" rIns="0" bIns="0" rtlCol="0" anchor="t"/>
          <a:lstStyle/>
          <a:p>
            <a:pPr rtl="1" algn="r" indent="0" marL="0">
              <a:buNone/>
            </a:pPr>
            <a:r>
              <a:rPr lang="ar-SA" altLang="en-US" sz="1800" b="1" dirty="0">
                <a:solidFill>
                  <a:schemeClr val="tx2"/>
                </a:solidFill>
              </a:rPr>
              <a:t>تعريف المبنى</a:t>
            </a:r>
            <a:endParaRPr lang="ar-SA" sz="1800" dirty="0"/>
          </a:p>
        </p:txBody>
      </p:sp>
      <p:sp>
        <p:nvSpPr>
          <p:cNvPr id="12" name="Text 6"/>
          <p:cNvSpPr txBox="1"/>
          <p:nvPr/>
        </p:nvSpPr>
        <p:spPr>
          <a:xfrm>
            <a:off x="7909560" y="1847088"/>
            <a:ext cx="2971800" cy="548640"/>
          </a:xfrm>
          <a:prstGeom prst="rect">
            <a:avLst/>
          </a:prstGeom>
          <a:noFill/>
          <a:ln/>
        </p:spPr>
        <p:txBody>
          <a:bodyPr wrap="square" lIns="0" tIns="0" rIns="0" bIns="0" rtlCol="0" anchor="t"/>
          <a:lstStyle/>
          <a:p>
            <a:pPr rtl="1" algn="r" indent="0" marL="0">
              <a:buNone/>
            </a:pPr>
            <a:r>
              <a:rPr lang="ar-SA" altLang="en-US" sz="1400" dirty="0">
                <a:solidFill>
                  <a:schemeClr val="tx1"/>
                </a:solidFill>
              </a:rPr>
              <a:t>الأدوار والبلوكات والممرات والرفوف</a:t>
            </a:r>
            <a:endParaRPr lang="ar-SA" sz="1400" dirty="0"/>
          </a:p>
        </p:txBody>
      </p:sp>
      <p:sp>
        <p:nvSpPr>
          <p:cNvPr id="13" name="admin feature 2 circle"/>
          <p:cNvSpPr/>
          <p:nvPr/>
        </p:nvSpPr>
        <p:spPr>
          <a:xfrm>
            <a:off x="10957255" y="2578608"/>
            <a:ext cx="685800" cy="685800"/>
          </a:xfrm>
          <a:prstGeom prst="ellipse">
            <a:avLst/>
          </a:prstGeom>
          <a:solidFill>
            <a:schemeClr val="accent2"/>
          </a:solidFill>
          <a:ln w="12700">
            <a:solidFill>
              <a:schemeClr val="accent2"/>
            </a:solidFill>
            <a:prstDash val="solid"/>
          </a:ln>
        </p:spPr>
      </p:sp>
      <p:pic>
        <p:nvPicPr>
          <p:cNvPr id="14" name="admin feature 2 icon" descr="preencoded.png">    </p:cNvPr>
          <p:cNvPicPr>
            <a:picLocks noChangeAspect="1"/>
          </p:cNvPicPr>
          <p:nvPr/>
        </p:nvPicPr>
        <p:blipFill>
          <a:blip r:embed="rId5"/>
          <a:stretch>
            <a:fillRect/>
          </a:stretch>
        </p:blipFill>
        <p:spPr>
          <a:xfrm>
            <a:off x="11135563" y="2756916"/>
            <a:ext cx="329184" cy="329184"/>
          </a:xfrm>
          <a:prstGeom prst="rect">
            <a:avLst/>
          </a:prstGeom>
        </p:spPr>
      </p:pic>
      <p:sp>
        <p:nvSpPr>
          <p:cNvPr id="15" name="Text 8"/>
          <p:cNvSpPr txBox="1"/>
          <p:nvPr/>
        </p:nvSpPr>
        <p:spPr>
          <a:xfrm>
            <a:off x="7909560" y="2578608"/>
            <a:ext cx="2971800" cy="365760"/>
          </a:xfrm>
          <a:prstGeom prst="rect">
            <a:avLst/>
          </a:prstGeom>
          <a:noFill/>
          <a:ln/>
        </p:spPr>
        <p:txBody>
          <a:bodyPr wrap="square" lIns="0" tIns="0" rIns="0" bIns="0" rtlCol="0" anchor="t"/>
          <a:lstStyle/>
          <a:p>
            <a:pPr rtl="1" algn="r" indent="0" marL="0">
              <a:buNone/>
            </a:pPr>
            <a:r>
              <a:rPr lang="ar-SA" altLang="en-US" sz="1800" b="1" dirty="0">
                <a:solidFill>
                  <a:schemeClr val="tx2"/>
                </a:solidFill>
              </a:rPr>
              <a:t>إدارة الفهرس</a:t>
            </a:r>
            <a:endParaRPr lang="ar-SA" sz="1800" dirty="0"/>
          </a:p>
        </p:txBody>
      </p:sp>
      <p:sp>
        <p:nvSpPr>
          <p:cNvPr id="16" name="Text 9"/>
          <p:cNvSpPr txBox="1"/>
          <p:nvPr/>
        </p:nvSpPr>
        <p:spPr>
          <a:xfrm>
            <a:off x="7909560" y="2962656"/>
            <a:ext cx="2971800" cy="548640"/>
          </a:xfrm>
          <a:prstGeom prst="rect">
            <a:avLst/>
          </a:prstGeom>
          <a:noFill/>
          <a:ln/>
        </p:spPr>
        <p:txBody>
          <a:bodyPr wrap="square" lIns="0" tIns="0" rIns="0" bIns="0" rtlCol="0" anchor="t"/>
          <a:lstStyle/>
          <a:p>
            <a:pPr rtl="1" algn="r" indent="0" marL="0">
              <a:buNone/>
            </a:pPr>
            <a:r>
              <a:rPr lang="ar-SA" altLang="en-US" sz="1400" dirty="0">
                <a:solidFill>
                  <a:schemeClr val="tx1"/>
                </a:solidFill>
              </a:rPr>
              <a:t>إضافة الكتب وصور الأغلفة والتصنيفات</a:t>
            </a:r>
            <a:endParaRPr lang="ar-SA" sz="1400" dirty="0"/>
          </a:p>
        </p:txBody>
      </p:sp>
      <p:sp>
        <p:nvSpPr>
          <p:cNvPr id="17" name="admin feature 3 circle"/>
          <p:cNvSpPr/>
          <p:nvPr/>
        </p:nvSpPr>
        <p:spPr>
          <a:xfrm>
            <a:off x="10957255" y="3694176"/>
            <a:ext cx="685800" cy="685800"/>
          </a:xfrm>
          <a:prstGeom prst="ellipse">
            <a:avLst/>
          </a:prstGeom>
          <a:solidFill>
            <a:schemeClr val="accent1"/>
          </a:solidFill>
          <a:ln w="12700">
            <a:solidFill>
              <a:schemeClr val="accent1"/>
            </a:solidFill>
            <a:prstDash val="solid"/>
          </a:ln>
        </p:spPr>
      </p:sp>
      <p:pic>
        <p:nvPicPr>
          <p:cNvPr id="18" name="admin feature 3 icon" descr="preencoded.png">    </p:cNvPr>
          <p:cNvPicPr>
            <a:picLocks noChangeAspect="1"/>
          </p:cNvPicPr>
          <p:nvPr/>
        </p:nvPicPr>
        <p:blipFill>
          <a:blip r:embed="rId6"/>
          <a:stretch>
            <a:fillRect/>
          </a:stretch>
        </p:blipFill>
        <p:spPr>
          <a:xfrm>
            <a:off x="11135563" y="3872484"/>
            <a:ext cx="329184" cy="329184"/>
          </a:xfrm>
          <a:prstGeom prst="rect">
            <a:avLst/>
          </a:prstGeom>
        </p:spPr>
      </p:pic>
      <p:sp>
        <p:nvSpPr>
          <p:cNvPr id="19" name="Text 11"/>
          <p:cNvSpPr txBox="1"/>
          <p:nvPr/>
        </p:nvSpPr>
        <p:spPr>
          <a:xfrm>
            <a:off x="7909560" y="3694176"/>
            <a:ext cx="2971800" cy="365760"/>
          </a:xfrm>
          <a:prstGeom prst="rect">
            <a:avLst/>
          </a:prstGeom>
          <a:noFill/>
          <a:ln/>
        </p:spPr>
        <p:txBody>
          <a:bodyPr wrap="square" lIns="0" tIns="0" rIns="0" bIns="0" rtlCol="0" anchor="t"/>
          <a:lstStyle/>
          <a:p>
            <a:pPr rtl="1" algn="r" indent="0" marL="0">
              <a:buNone/>
            </a:pPr>
            <a:r>
              <a:rPr lang="ar-SA" altLang="en-US" sz="1800" b="1" dirty="0">
                <a:solidFill>
                  <a:schemeClr val="tx2"/>
                </a:solidFill>
              </a:rPr>
              <a:t>الأعضاء والصلاحيات</a:t>
            </a:r>
            <a:endParaRPr lang="ar-SA" sz="1800" dirty="0"/>
          </a:p>
        </p:txBody>
      </p:sp>
      <p:sp>
        <p:nvSpPr>
          <p:cNvPr id="20" name="Text 12"/>
          <p:cNvSpPr txBox="1"/>
          <p:nvPr/>
        </p:nvSpPr>
        <p:spPr>
          <a:xfrm>
            <a:off x="7909560" y="4078224"/>
            <a:ext cx="2971800" cy="548640"/>
          </a:xfrm>
          <a:prstGeom prst="rect">
            <a:avLst/>
          </a:prstGeom>
          <a:noFill/>
          <a:ln/>
        </p:spPr>
        <p:txBody>
          <a:bodyPr wrap="square" lIns="0" tIns="0" rIns="0" bIns="0" rtlCol="0" anchor="t"/>
          <a:lstStyle/>
          <a:p>
            <a:pPr rtl="1" algn="r" indent="0" marL="0">
              <a:buNone/>
            </a:pPr>
            <a:r>
              <a:rPr lang="ar-SA" altLang="en-US" sz="1400" dirty="0">
                <a:solidFill>
                  <a:schemeClr val="tx1"/>
                </a:solidFill>
              </a:rPr>
              <a:t>منح صلاحية المشرف وسحبها</a:t>
            </a:r>
            <a:endParaRPr lang="ar-SA" sz="1400" dirty="0"/>
          </a:p>
        </p:txBody>
      </p:sp>
      <p:sp>
        <p:nvSpPr>
          <p:cNvPr id="21" name="admin feature 4 circle"/>
          <p:cNvSpPr/>
          <p:nvPr/>
        </p:nvSpPr>
        <p:spPr>
          <a:xfrm>
            <a:off x="10957255" y="4809744"/>
            <a:ext cx="685800" cy="685800"/>
          </a:xfrm>
          <a:prstGeom prst="ellipse">
            <a:avLst/>
          </a:prstGeom>
          <a:solidFill>
            <a:schemeClr val="accent2"/>
          </a:solidFill>
          <a:ln w="12700">
            <a:solidFill>
              <a:schemeClr val="accent2"/>
            </a:solidFill>
            <a:prstDash val="solid"/>
          </a:ln>
        </p:spPr>
      </p:sp>
      <p:pic>
        <p:nvPicPr>
          <p:cNvPr id="22" name="admin feature 4 icon" descr="preencoded.png">    </p:cNvPr>
          <p:cNvPicPr>
            <a:picLocks noChangeAspect="1"/>
          </p:cNvPicPr>
          <p:nvPr/>
        </p:nvPicPr>
        <p:blipFill>
          <a:blip r:embed="rId7"/>
          <a:stretch>
            <a:fillRect/>
          </a:stretch>
        </p:blipFill>
        <p:spPr>
          <a:xfrm>
            <a:off x="11135563" y="4988052"/>
            <a:ext cx="329184" cy="329184"/>
          </a:xfrm>
          <a:prstGeom prst="rect">
            <a:avLst/>
          </a:prstGeom>
        </p:spPr>
      </p:pic>
      <p:sp>
        <p:nvSpPr>
          <p:cNvPr id="23" name="Text 14"/>
          <p:cNvSpPr txBox="1"/>
          <p:nvPr/>
        </p:nvSpPr>
        <p:spPr>
          <a:xfrm>
            <a:off x="7909560" y="4809744"/>
            <a:ext cx="2971800" cy="365760"/>
          </a:xfrm>
          <a:prstGeom prst="rect">
            <a:avLst/>
          </a:prstGeom>
          <a:noFill/>
          <a:ln/>
        </p:spPr>
        <p:txBody>
          <a:bodyPr wrap="square" lIns="0" tIns="0" rIns="0" bIns="0" rtlCol="0" anchor="t"/>
          <a:lstStyle/>
          <a:p>
            <a:pPr rtl="1" algn="r" indent="0" marL="0">
              <a:buNone/>
            </a:pPr>
            <a:r>
              <a:rPr lang="ar-SA" altLang="en-US" sz="1800" b="1" dirty="0">
                <a:solidFill>
                  <a:schemeClr val="tx2"/>
                </a:solidFill>
              </a:rPr>
              <a:t>التقارير وسجل النشاط</a:t>
            </a:r>
            <a:endParaRPr lang="ar-SA" sz="1800" dirty="0"/>
          </a:p>
        </p:txBody>
      </p:sp>
      <p:sp>
        <p:nvSpPr>
          <p:cNvPr id="24" name="Text 15"/>
          <p:cNvSpPr txBox="1"/>
          <p:nvPr/>
        </p:nvSpPr>
        <p:spPr>
          <a:xfrm>
            <a:off x="7909560" y="5193792"/>
            <a:ext cx="2971800" cy="548640"/>
          </a:xfrm>
          <a:prstGeom prst="rect">
            <a:avLst/>
          </a:prstGeom>
          <a:noFill/>
          <a:ln/>
        </p:spPr>
        <p:txBody>
          <a:bodyPr wrap="square" lIns="0" tIns="0" rIns="0" bIns="0" rtlCol="0" anchor="t"/>
          <a:lstStyle/>
          <a:p>
            <a:pPr rtl="1" algn="r" indent="0" marL="0">
              <a:buNone/>
            </a:pPr>
            <a:r>
              <a:rPr lang="ar-SA" altLang="en-US" sz="1400" dirty="0">
                <a:solidFill>
                  <a:schemeClr val="tx1"/>
                </a:solidFill>
              </a:rPr>
              <a:t>إحصاءات الإعارة وكل عملية باسم منفّذها</a:t>
            </a:r>
            <a:endParaRPr lang="ar-SA" sz="1400" dirty="0"/>
          </a:p>
        </p:txBody>
      </p:sp>
      <p:sp>
        <p:nvSpPr>
          <p:cNvPr id="25" name="Slide Number Placeholder 0"/>
          <p:cNvSpPr>
            <a:spLocks noGrp="1"/>
          </p:cNvSpPr>
          <p:nvPr>
            <p:ph type="sldNum" sz="quarter" idx="4294967295"/>
          </p:nvPr>
        </p:nvSpPr>
        <p:spPr>
          <a:xfrm>
            <a:off x="5486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470"/>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1463040" y="347472"/>
            <a:ext cx="10177272" cy="731520"/>
          </a:xfrm>
          <a:prstGeom prst="rect">
            <a:avLst/>
          </a:prstGeom>
          <a:noFill/>
          <a:ln/>
        </p:spPr>
        <p:txBody>
          <a:bodyPr wrap="square" lIns="0" tIns="0" rIns="0" bIns="0" rtlCol="0" anchor="ctr"/>
          <a:lstStyle/>
          <a:p>
            <a:pPr rtl="1" algn="r" indent="0" marL="0">
              <a:buNone/>
            </a:pPr>
            <a:r>
              <a:rPr lang="en-US" sz="3200" b="1" dirty="0">
                <a:solidFill>
                  <a:schemeClr val="tx2"/>
                </a:solidFill>
              </a:rPr>
              <a:t>الأمان والصلاحيات</a:t>
            </a:r>
            <a:endParaRPr lang="en-US" sz="3200" dirty="0"/>
          </a:p>
        </p:txBody>
      </p:sp>
      <p:sp>
        <p:nvSpPr>
          <p:cNvPr id="3" name="security card 1"/>
          <p:cNvSpPr/>
          <p:nvPr/>
        </p:nvSpPr>
        <p:spPr>
          <a:xfrm>
            <a:off x="6248095" y="1417320"/>
            <a:ext cx="5394960" cy="2148840"/>
          </a:xfrm>
          <a:prstGeom prst="roundRect">
            <a:avLst>
              <a:gd name="adj" fmla="val 5106"/>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4" name="security 1 circle"/>
          <p:cNvSpPr/>
          <p:nvPr/>
        </p:nvSpPr>
        <p:spPr>
          <a:xfrm>
            <a:off x="10682935" y="1691640"/>
            <a:ext cx="731520" cy="731520"/>
          </a:xfrm>
          <a:prstGeom prst="ellipse">
            <a:avLst/>
          </a:prstGeom>
          <a:solidFill>
            <a:schemeClr val="accent1"/>
          </a:solidFill>
          <a:ln w="12700">
            <a:solidFill>
              <a:schemeClr val="accent1"/>
            </a:solidFill>
            <a:prstDash val="solid"/>
          </a:ln>
        </p:spPr>
      </p:sp>
      <p:pic>
        <p:nvPicPr>
          <p:cNvPr id="5" name="security 1 icon" descr="preencoded.png">    </p:cNvPr>
          <p:cNvPicPr>
            <a:picLocks noChangeAspect="1"/>
          </p:cNvPicPr>
          <p:nvPr/>
        </p:nvPicPr>
        <p:blipFill>
          <a:blip r:embed="rId1"/>
          <a:stretch>
            <a:fillRect/>
          </a:stretch>
        </p:blipFill>
        <p:spPr>
          <a:xfrm>
            <a:off x="10873130" y="1881835"/>
            <a:ext cx="351130" cy="351130"/>
          </a:xfrm>
          <a:prstGeom prst="rect">
            <a:avLst/>
          </a:prstGeom>
        </p:spPr>
      </p:pic>
      <p:sp>
        <p:nvSpPr>
          <p:cNvPr id="6" name="Text 3"/>
          <p:cNvSpPr txBox="1"/>
          <p:nvPr/>
        </p:nvSpPr>
        <p:spPr>
          <a:xfrm>
            <a:off x="6522415" y="1737360"/>
            <a:ext cx="3977640" cy="457200"/>
          </a:xfrm>
          <a:prstGeom prst="rect">
            <a:avLst/>
          </a:prstGeom>
          <a:noFill/>
          <a:ln/>
        </p:spPr>
        <p:txBody>
          <a:bodyPr wrap="square" lIns="0" tIns="0" rIns="0" bIns="0" rtlCol="0" anchor="t"/>
          <a:lstStyle/>
          <a:p>
            <a:pPr rtl="1" algn="r" indent="0" marL="0">
              <a:buNone/>
            </a:pPr>
            <a:r>
              <a:rPr lang="ar-SA" altLang="en-US" sz="1900" b="1" dirty="0">
                <a:solidFill>
                  <a:schemeClr val="tx2"/>
                </a:solidFill>
              </a:rPr>
              <a:t>المصادقة</a:t>
            </a:r>
            <a:endParaRPr lang="ar-SA" sz="1900" dirty="0"/>
          </a:p>
        </p:txBody>
      </p:sp>
      <p:sp>
        <p:nvSpPr>
          <p:cNvPr id="7" name="Text 4"/>
          <p:cNvSpPr txBox="1"/>
          <p:nvPr/>
        </p:nvSpPr>
        <p:spPr>
          <a:xfrm>
            <a:off x="6522415" y="2514600"/>
            <a:ext cx="4846320" cy="914400"/>
          </a:xfrm>
          <a:prstGeom prst="rect">
            <a:avLst/>
          </a:prstGeom>
          <a:noFill/>
          <a:ln/>
        </p:spPr>
        <p:txBody>
          <a:bodyPr wrap="square" lIns="0" tIns="0" rIns="0" bIns="0" rtlCol="0" anchor="t"/>
          <a:lstStyle/>
          <a:p>
            <a:pPr rtl="1" algn="r" indent="0" marL="0">
              <a:buNone/>
            </a:pPr>
            <a:r>
              <a:rPr lang="ar-SA" altLang="en-US" sz="1500" dirty="0">
                <a:solidFill>
                  <a:schemeClr val="tx1"/>
                </a:solidFill>
              </a:rPr>
              <a:t>Firebase Authentication بالبريد وكلمة المرور، وبحساب Google، وكزائر للتصفّح فقط.</a:t>
            </a:r>
            <a:endParaRPr lang="ar-SA" sz="1500" dirty="0"/>
          </a:p>
        </p:txBody>
      </p:sp>
      <p:sp>
        <p:nvSpPr>
          <p:cNvPr id="8" name="security card 2"/>
          <p:cNvSpPr/>
          <p:nvPr/>
        </p:nvSpPr>
        <p:spPr>
          <a:xfrm>
            <a:off x="551383" y="1417320"/>
            <a:ext cx="5394960" cy="2148840"/>
          </a:xfrm>
          <a:prstGeom prst="roundRect">
            <a:avLst>
              <a:gd name="adj" fmla="val 5106"/>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9" name="security 2 circle"/>
          <p:cNvSpPr/>
          <p:nvPr/>
        </p:nvSpPr>
        <p:spPr>
          <a:xfrm>
            <a:off x="4986223" y="1691640"/>
            <a:ext cx="731520" cy="731520"/>
          </a:xfrm>
          <a:prstGeom prst="ellipse">
            <a:avLst/>
          </a:prstGeom>
          <a:solidFill>
            <a:schemeClr val="accent1"/>
          </a:solidFill>
          <a:ln w="12700">
            <a:solidFill>
              <a:schemeClr val="accent1"/>
            </a:solidFill>
            <a:prstDash val="solid"/>
          </a:ln>
        </p:spPr>
      </p:sp>
      <p:pic>
        <p:nvPicPr>
          <p:cNvPr id="10" name="security 2 icon" descr="preencoded.png">    </p:cNvPr>
          <p:cNvPicPr>
            <a:picLocks noChangeAspect="1"/>
          </p:cNvPicPr>
          <p:nvPr/>
        </p:nvPicPr>
        <p:blipFill>
          <a:blip r:embed="rId2"/>
          <a:stretch>
            <a:fillRect/>
          </a:stretch>
        </p:blipFill>
        <p:spPr>
          <a:xfrm>
            <a:off x="5176418" y="1881835"/>
            <a:ext cx="351130" cy="351130"/>
          </a:xfrm>
          <a:prstGeom prst="rect">
            <a:avLst/>
          </a:prstGeom>
        </p:spPr>
      </p:pic>
      <p:sp>
        <p:nvSpPr>
          <p:cNvPr id="11" name="Text 7"/>
          <p:cNvSpPr txBox="1"/>
          <p:nvPr/>
        </p:nvSpPr>
        <p:spPr>
          <a:xfrm>
            <a:off x="825703" y="1737360"/>
            <a:ext cx="3977640" cy="457200"/>
          </a:xfrm>
          <a:prstGeom prst="rect">
            <a:avLst/>
          </a:prstGeom>
          <a:noFill/>
          <a:ln/>
        </p:spPr>
        <p:txBody>
          <a:bodyPr wrap="square" lIns="0" tIns="0" rIns="0" bIns="0" rtlCol="0" anchor="t"/>
          <a:lstStyle/>
          <a:p>
            <a:pPr rtl="1" algn="r" indent="0" marL="0">
              <a:buNone/>
            </a:pPr>
            <a:r>
              <a:rPr lang="ar-SA" altLang="en-US" sz="1900" b="1" dirty="0">
                <a:solidFill>
                  <a:schemeClr val="tx2"/>
                </a:solidFill>
              </a:rPr>
              <a:t>أول حساب = مالك المكتبة</a:t>
            </a:r>
            <a:endParaRPr lang="ar-SA" sz="1900" dirty="0"/>
          </a:p>
        </p:txBody>
      </p:sp>
      <p:sp>
        <p:nvSpPr>
          <p:cNvPr id="12" name="Text 8"/>
          <p:cNvSpPr txBox="1"/>
          <p:nvPr/>
        </p:nvSpPr>
        <p:spPr>
          <a:xfrm>
            <a:off x="825703" y="2514600"/>
            <a:ext cx="4846320" cy="914400"/>
          </a:xfrm>
          <a:prstGeom prst="rect">
            <a:avLst/>
          </a:prstGeom>
          <a:noFill/>
          <a:ln/>
        </p:spPr>
        <p:txBody>
          <a:bodyPr wrap="square" lIns="0" tIns="0" rIns="0" bIns="0" rtlCol="0" anchor="t"/>
          <a:lstStyle/>
          <a:p>
            <a:pPr rtl="1" algn="r" indent="0" marL="0">
              <a:buNone/>
            </a:pPr>
            <a:r>
              <a:rPr lang="ar-SA" altLang="en-US" sz="1500" dirty="0">
                <a:solidFill>
                  <a:schemeClr val="tx1"/>
                </a:solidFill>
              </a:rPr>
              <a:t>قفل meta/setup يُنشأ مرة واحدة مع مستند صلاحية المالك في دفعة واحدة، فلا يفوز بالملكية إلا حساب واحد.</a:t>
            </a:r>
            <a:endParaRPr lang="ar-SA" sz="1500" dirty="0"/>
          </a:p>
        </p:txBody>
      </p:sp>
      <p:sp>
        <p:nvSpPr>
          <p:cNvPr id="13" name="security card 3"/>
          <p:cNvSpPr/>
          <p:nvPr/>
        </p:nvSpPr>
        <p:spPr>
          <a:xfrm>
            <a:off x="6248095" y="3840480"/>
            <a:ext cx="5394960" cy="2148840"/>
          </a:xfrm>
          <a:prstGeom prst="roundRect">
            <a:avLst>
              <a:gd name="adj" fmla="val 5106"/>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14" name="security 3 circle"/>
          <p:cNvSpPr/>
          <p:nvPr/>
        </p:nvSpPr>
        <p:spPr>
          <a:xfrm>
            <a:off x="10682935" y="4114800"/>
            <a:ext cx="731520" cy="731520"/>
          </a:xfrm>
          <a:prstGeom prst="ellipse">
            <a:avLst/>
          </a:prstGeom>
          <a:solidFill>
            <a:schemeClr val="accent2"/>
          </a:solidFill>
          <a:ln w="12700">
            <a:solidFill>
              <a:schemeClr val="accent2"/>
            </a:solidFill>
            <a:prstDash val="solid"/>
          </a:ln>
        </p:spPr>
      </p:sp>
      <p:pic>
        <p:nvPicPr>
          <p:cNvPr id="15" name="security 3 icon" descr="preencoded.png">    </p:cNvPr>
          <p:cNvPicPr>
            <a:picLocks noChangeAspect="1"/>
          </p:cNvPicPr>
          <p:nvPr/>
        </p:nvPicPr>
        <p:blipFill>
          <a:blip r:embed="rId3"/>
          <a:stretch>
            <a:fillRect/>
          </a:stretch>
        </p:blipFill>
        <p:spPr>
          <a:xfrm>
            <a:off x="10873130" y="4304995"/>
            <a:ext cx="351130" cy="351130"/>
          </a:xfrm>
          <a:prstGeom prst="rect">
            <a:avLst/>
          </a:prstGeom>
        </p:spPr>
      </p:pic>
      <p:sp>
        <p:nvSpPr>
          <p:cNvPr id="16" name="Text 11"/>
          <p:cNvSpPr txBox="1"/>
          <p:nvPr/>
        </p:nvSpPr>
        <p:spPr>
          <a:xfrm>
            <a:off x="6522415" y="4160520"/>
            <a:ext cx="3977640" cy="457200"/>
          </a:xfrm>
          <a:prstGeom prst="rect">
            <a:avLst/>
          </a:prstGeom>
          <a:noFill/>
          <a:ln/>
        </p:spPr>
        <p:txBody>
          <a:bodyPr wrap="square" lIns="0" tIns="0" rIns="0" bIns="0" rtlCol="0" anchor="t"/>
          <a:lstStyle/>
          <a:p>
            <a:pPr rtl="1" algn="r" indent="0" marL="0">
              <a:buNone/>
            </a:pPr>
            <a:r>
              <a:rPr lang="ar-SA" altLang="en-US" sz="1900" b="1" dirty="0">
                <a:solidFill>
                  <a:schemeClr val="tx2"/>
                </a:solidFill>
              </a:rPr>
              <a:t>الحماية على الخادم</a:t>
            </a:r>
            <a:endParaRPr lang="ar-SA" sz="1900" dirty="0"/>
          </a:p>
        </p:txBody>
      </p:sp>
      <p:sp>
        <p:nvSpPr>
          <p:cNvPr id="17" name="Text 12"/>
          <p:cNvSpPr txBox="1"/>
          <p:nvPr/>
        </p:nvSpPr>
        <p:spPr>
          <a:xfrm>
            <a:off x="6522415" y="4937760"/>
            <a:ext cx="4846320" cy="914400"/>
          </a:xfrm>
          <a:prstGeom prst="rect">
            <a:avLst/>
          </a:prstGeom>
          <a:noFill/>
          <a:ln/>
        </p:spPr>
        <p:txBody>
          <a:bodyPr wrap="square" lIns="0" tIns="0" rIns="0" bIns="0" rtlCol="0" anchor="t"/>
          <a:lstStyle/>
          <a:p>
            <a:pPr rtl="1" algn="r" indent="0" marL="0">
              <a:buNone/>
            </a:pPr>
            <a:r>
              <a:rPr lang="ar-SA" altLang="en-US" sz="1500" dirty="0">
                <a:solidFill>
                  <a:schemeClr val="tx1"/>
                </a:solidFill>
              </a:rPr>
              <a:t>المشرف = وجود مستند admins/{uid}. قواعد الأمان تفحص ذلك قبل كل كتابة، فلا يمكن تجاوزها بتطبيق معدّل.</a:t>
            </a:r>
            <a:endParaRPr lang="ar-SA" sz="1500" dirty="0"/>
          </a:p>
        </p:txBody>
      </p:sp>
      <p:sp>
        <p:nvSpPr>
          <p:cNvPr id="18" name="security card 4"/>
          <p:cNvSpPr/>
          <p:nvPr/>
        </p:nvSpPr>
        <p:spPr>
          <a:xfrm>
            <a:off x="551383" y="3840480"/>
            <a:ext cx="5394960" cy="2148840"/>
          </a:xfrm>
          <a:prstGeom prst="roundRect">
            <a:avLst>
              <a:gd name="adj" fmla="val 5106"/>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19" name="security 4 circle"/>
          <p:cNvSpPr/>
          <p:nvPr/>
        </p:nvSpPr>
        <p:spPr>
          <a:xfrm>
            <a:off x="4986223" y="4114800"/>
            <a:ext cx="731520" cy="731520"/>
          </a:xfrm>
          <a:prstGeom prst="ellipse">
            <a:avLst/>
          </a:prstGeom>
          <a:solidFill>
            <a:schemeClr val="accent1"/>
          </a:solidFill>
          <a:ln w="12700">
            <a:solidFill>
              <a:schemeClr val="accent1"/>
            </a:solidFill>
            <a:prstDash val="solid"/>
          </a:ln>
        </p:spPr>
      </p:sp>
      <p:pic>
        <p:nvPicPr>
          <p:cNvPr id="20" name="security 4 icon" descr="preencoded.png">    </p:cNvPr>
          <p:cNvPicPr>
            <a:picLocks noChangeAspect="1"/>
          </p:cNvPicPr>
          <p:nvPr/>
        </p:nvPicPr>
        <p:blipFill>
          <a:blip r:embed="rId4"/>
          <a:stretch>
            <a:fillRect/>
          </a:stretch>
        </p:blipFill>
        <p:spPr>
          <a:xfrm>
            <a:off x="5176418" y="4304995"/>
            <a:ext cx="351130" cy="351130"/>
          </a:xfrm>
          <a:prstGeom prst="rect">
            <a:avLst/>
          </a:prstGeom>
        </p:spPr>
      </p:pic>
      <p:sp>
        <p:nvSpPr>
          <p:cNvPr id="21" name="Text 15"/>
          <p:cNvSpPr txBox="1"/>
          <p:nvPr/>
        </p:nvSpPr>
        <p:spPr>
          <a:xfrm>
            <a:off x="825703" y="4160520"/>
            <a:ext cx="3977640" cy="457200"/>
          </a:xfrm>
          <a:prstGeom prst="rect">
            <a:avLst/>
          </a:prstGeom>
          <a:noFill/>
          <a:ln/>
        </p:spPr>
        <p:txBody>
          <a:bodyPr wrap="square" lIns="0" tIns="0" rIns="0" bIns="0" rtlCol="0" anchor="t"/>
          <a:lstStyle/>
          <a:p>
            <a:pPr rtl="1" algn="r" indent="0" marL="0">
              <a:buNone/>
            </a:pPr>
            <a:r>
              <a:rPr lang="ar-SA" altLang="en-US" sz="1900" b="1" dirty="0">
                <a:solidFill>
                  <a:schemeClr val="tx2"/>
                </a:solidFill>
              </a:rPr>
              <a:t>خصوصية الزائر</a:t>
            </a:r>
            <a:endParaRPr lang="ar-SA" sz="1900" dirty="0"/>
          </a:p>
        </p:txBody>
      </p:sp>
      <p:sp>
        <p:nvSpPr>
          <p:cNvPr id="22" name="Text 16"/>
          <p:cNvSpPr txBox="1"/>
          <p:nvPr/>
        </p:nvSpPr>
        <p:spPr>
          <a:xfrm>
            <a:off x="825703" y="4937760"/>
            <a:ext cx="4846320" cy="914400"/>
          </a:xfrm>
          <a:prstGeom prst="rect">
            <a:avLst/>
          </a:prstGeom>
          <a:noFill/>
          <a:ln/>
        </p:spPr>
        <p:txBody>
          <a:bodyPr wrap="square" lIns="0" tIns="0" rIns="0" bIns="0" rtlCol="0" anchor="t"/>
          <a:lstStyle/>
          <a:p>
            <a:pPr rtl="1" algn="r" indent="0" marL="0">
              <a:buNone/>
            </a:pPr>
            <a:r>
              <a:rPr lang="ar-SA" altLang="en-US" sz="1500" dirty="0">
                <a:solidFill>
                  <a:schemeClr val="tx1"/>
                </a:solidFill>
              </a:rPr>
              <a:t>لا يقرأ الزائر إلا إعاراته، وتُحذف صورة الهوية بعد إغلاق الإعارة.</a:t>
            </a:r>
            <a:endParaRPr lang="ar-SA" sz="1500" dirty="0"/>
          </a:p>
        </p:txBody>
      </p:sp>
      <p:sp>
        <p:nvSpPr>
          <p:cNvPr id="25" name="Slide Number Placeholder 0"/>
          <p:cNvSpPr>
            <a:spLocks noGrp="1"/>
          </p:cNvSpPr>
          <p:nvPr>
            <p:ph type="sldNum" sz="quarter" idx="4294967295"/>
          </p:nvPr>
        </p:nvSpPr>
        <p:spPr>
          <a:xfrm>
            <a:off x="5486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470"/>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1463040" y="347472"/>
            <a:ext cx="10177272" cy="731520"/>
          </a:xfrm>
          <a:prstGeom prst="rect">
            <a:avLst/>
          </a:prstGeom>
          <a:noFill/>
          <a:ln/>
        </p:spPr>
        <p:txBody>
          <a:bodyPr wrap="square" lIns="0" tIns="0" rIns="0" bIns="0" rtlCol="0" anchor="ctr"/>
          <a:lstStyle/>
          <a:p>
            <a:pPr rtl="1" algn="r" indent="0" marL="0">
              <a:buNone/>
            </a:pPr>
            <a:r>
              <a:rPr lang="en-US" sz="3200" b="1" dirty="0">
                <a:solidFill>
                  <a:schemeClr val="tx2"/>
                </a:solidFill>
              </a:rPr>
              <a:t>لغتان ومظهران</a:t>
            </a:r>
            <a:endParaRPr lang="en-US" sz="3200" dirty="0"/>
          </a:p>
        </p:txBody>
      </p:sp>
      <p:pic>
        <p:nvPicPr>
          <p:cNvPr id="3" name="فاتح" descr="/tmp/claude-0/-home-user-CLAUDE/0be54b07-c1ba-5b31-958a-45d5f68df334/scratchpad/deck/img/u_lang.png">    </p:cNvPr>
          <p:cNvPicPr>
            <a:picLocks noChangeAspect="1"/>
          </p:cNvPicPr>
          <p:nvPr/>
        </p:nvPicPr>
        <p:blipFill>
          <a:blip r:embed="rId1"/>
          <a:stretch>
            <a:fillRect/>
          </a:stretch>
        </p:blipFill>
        <p:spPr>
          <a:xfrm>
            <a:off x="548640" y="1325880"/>
            <a:ext cx="1995678" cy="4434840"/>
          </a:xfrm>
          <a:prstGeom prst="rect">
            <a:avLst/>
          </a:prstGeom>
        </p:spPr>
      </p:pic>
      <p:sp>
        <p:nvSpPr>
          <p:cNvPr id="4" name="Text 1"/>
          <p:cNvSpPr txBox="1"/>
          <p:nvPr/>
        </p:nvSpPr>
        <p:spPr>
          <a:xfrm>
            <a:off x="457200" y="5760720"/>
            <a:ext cx="2176272" cy="320040"/>
          </a:xfrm>
          <a:prstGeom prst="rect">
            <a:avLst/>
          </a:prstGeom>
          <a:noFill/>
          <a:ln/>
        </p:spPr>
        <p:txBody>
          <a:bodyPr wrap="square" lIns="0" tIns="0" rIns="0" bIns="0" rtlCol="0" anchor="ctr"/>
          <a:lstStyle/>
          <a:p>
            <a:pPr rtl="1" algn="ctr" indent="0" marL="0">
              <a:buNone/>
            </a:pPr>
            <a:r>
              <a:rPr lang="en-US" sz="1300" b="1" dirty="0">
                <a:solidFill>
                  <a:schemeClr val="tx2"/>
                </a:solidFill>
              </a:rPr>
              <a:t>فاتح</a:t>
            </a:r>
            <a:endParaRPr lang="en-US" sz="1300" dirty="0"/>
          </a:p>
        </p:txBody>
      </p:sp>
      <p:pic>
        <p:nvPicPr>
          <p:cNvPr id="5" name="داكن" descr="/tmp/claude-0/-home-user-CLAUDE/0be54b07-c1ba-5b31-958a-45d5f68df334/scratchpad/deck/img/d_lang.png">    </p:cNvPr>
          <p:cNvPicPr>
            <a:picLocks noChangeAspect="1"/>
          </p:cNvPicPr>
          <p:nvPr/>
        </p:nvPicPr>
        <p:blipFill>
          <a:blip r:embed="rId2"/>
          <a:stretch>
            <a:fillRect/>
          </a:stretch>
        </p:blipFill>
        <p:spPr>
          <a:xfrm>
            <a:off x="2651760" y="1325880"/>
            <a:ext cx="1995678" cy="4434840"/>
          </a:xfrm>
          <a:prstGeom prst="rect">
            <a:avLst/>
          </a:prstGeom>
        </p:spPr>
      </p:pic>
      <p:sp>
        <p:nvSpPr>
          <p:cNvPr id="6" name="Text 2"/>
          <p:cNvSpPr txBox="1"/>
          <p:nvPr/>
        </p:nvSpPr>
        <p:spPr>
          <a:xfrm>
            <a:off x="2560320" y="5760720"/>
            <a:ext cx="2176272" cy="320040"/>
          </a:xfrm>
          <a:prstGeom prst="rect">
            <a:avLst/>
          </a:prstGeom>
          <a:noFill/>
          <a:ln/>
        </p:spPr>
        <p:txBody>
          <a:bodyPr wrap="square" lIns="0" tIns="0" rIns="0" bIns="0" rtlCol="0" anchor="ctr"/>
          <a:lstStyle/>
          <a:p>
            <a:pPr rtl="1" algn="ctr" indent="0" marL="0">
              <a:buNone/>
            </a:pPr>
            <a:r>
              <a:rPr lang="en-US" sz="1300" b="1" dirty="0">
                <a:solidFill>
                  <a:schemeClr val="tx2"/>
                </a:solidFill>
              </a:rPr>
              <a:t>داكن</a:t>
            </a:r>
            <a:endParaRPr lang="en-US" sz="1300" dirty="0"/>
          </a:p>
        </p:txBody>
      </p:sp>
      <p:pic>
        <p:nvPicPr>
          <p:cNvPr id="7" name="الطريق في الداكن" descr="/tmp/claude-0/-home-user-CLAUDE/0be54b07-c1ba-5b31-958a-45d5f68df334/scratchpad/deck/img/d_route.png">    </p:cNvPr>
          <p:cNvPicPr>
            <a:picLocks noChangeAspect="1"/>
          </p:cNvPicPr>
          <p:nvPr/>
        </p:nvPicPr>
        <p:blipFill>
          <a:blip r:embed="rId3"/>
          <a:stretch>
            <a:fillRect/>
          </a:stretch>
        </p:blipFill>
        <p:spPr>
          <a:xfrm>
            <a:off x="4754880" y="1325880"/>
            <a:ext cx="1995678" cy="4434840"/>
          </a:xfrm>
          <a:prstGeom prst="rect">
            <a:avLst/>
          </a:prstGeom>
        </p:spPr>
      </p:pic>
      <p:sp>
        <p:nvSpPr>
          <p:cNvPr id="8" name="Text 3"/>
          <p:cNvSpPr txBox="1"/>
          <p:nvPr/>
        </p:nvSpPr>
        <p:spPr>
          <a:xfrm>
            <a:off x="4663440" y="5760720"/>
            <a:ext cx="2176272" cy="320040"/>
          </a:xfrm>
          <a:prstGeom prst="rect">
            <a:avLst/>
          </a:prstGeom>
          <a:noFill/>
          <a:ln/>
        </p:spPr>
        <p:txBody>
          <a:bodyPr wrap="square" lIns="0" tIns="0" rIns="0" bIns="0" rtlCol="0" anchor="ctr"/>
          <a:lstStyle/>
          <a:p>
            <a:pPr rtl="1" algn="ctr" indent="0" marL="0">
              <a:buNone/>
            </a:pPr>
            <a:r>
              <a:rPr lang="en-US" sz="1300" b="1" dirty="0">
                <a:solidFill>
                  <a:schemeClr val="tx2"/>
                </a:solidFill>
              </a:rPr>
              <a:t>الطريق في الداكن</a:t>
            </a:r>
            <a:endParaRPr lang="en-US" sz="1300" dirty="0"/>
          </a:p>
        </p:txBody>
      </p:sp>
      <p:pic>
        <p:nvPicPr>
          <p:cNvPr id="9" name="المشرف في الداكن" descr="/tmp/claude-0/-home-user-CLAUDE/0be54b07-c1ba-5b31-958a-45d5f68df334/scratchpad/deck/img/ad_dash.png">    </p:cNvPr>
          <p:cNvPicPr>
            <a:picLocks noChangeAspect="1"/>
          </p:cNvPicPr>
          <p:nvPr/>
        </p:nvPicPr>
        <p:blipFill>
          <a:blip r:embed="rId4"/>
          <a:stretch>
            <a:fillRect/>
          </a:stretch>
        </p:blipFill>
        <p:spPr>
          <a:xfrm>
            <a:off x="6858000" y="1325880"/>
            <a:ext cx="1995678" cy="4434840"/>
          </a:xfrm>
          <a:prstGeom prst="rect">
            <a:avLst/>
          </a:prstGeom>
        </p:spPr>
      </p:pic>
      <p:sp>
        <p:nvSpPr>
          <p:cNvPr id="10" name="Text 4"/>
          <p:cNvSpPr txBox="1"/>
          <p:nvPr/>
        </p:nvSpPr>
        <p:spPr>
          <a:xfrm>
            <a:off x="6766560" y="5760720"/>
            <a:ext cx="2176272" cy="320040"/>
          </a:xfrm>
          <a:prstGeom prst="rect">
            <a:avLst/>
          </a:prstGeom>
          <a:noFill/>
          <a:ln/>
        </p:spPr>
        <p:txBody>
          <a:bodyPr wrap="square" lIns="0" tIns="0" rIns="0" bIns="0" rtlCol="0" anchor="ctr"/>
          <a:lstStyle/>
          <a:p>
            <a:pPr rtl="1" algn="ctr" indent="0" marL="0">
              <a:buNone/>
            </a:pPr>
            <a:r>
              <a:rPr lang="en-US" sz="1300" b="1" dirty="0">
                <a:solidFill>
                  <a:schemeClr val="tx2"/>
                </a:solidFill>
              </a:rPr>
              <a:t>المشرف في الداكن</a:t>
            </a:r>
            <a:endParaRPr lang="en-US" sz="1300" dirty="0"/>
          </a:p>
        </p:txBody>
      </p:sp>
      <p:sp>
        <p:nvSpPr>
          <p:cNvPr id="11" name="extra 1 circle"/>
          <p:cNvSpPr/>
          <p:nvPr/>
        </p:nvSpPr>
        <p:spPr>
          <a:xfrm>
            <a:off x="10865815" y="1554480"/>
            <a:ext cx="777240" cy="777240"/>
          </a:xfrm>
          <a:prstGeom prst="ellipse">
            <a:avLst/>
          </a:prstGeom>
          <a:solidFill>
            <a:schemeClr val="accent1"/>
          </a:solidFill>
          <a:ln w="12700">
            <a:solidFill>
              <a:schemeClr val="accent1"/>
            </a:solidFill>
            <a:prstDash val="solid"/>
          </a:ln>
        </p:spPr>
      </p:sp>
      <p:pic>
        <p:nvPicPr>
          <p:cNvPr id="12" name="extra 1 icon" descr="preencoded.png">    </p:cNvPr>
          <p:cNvPicPr>
            <a:picLocks noChangeAspect="1"/>
          </p:cNvPicPr>
          <p:nvPr/>
        </p:nvPicPr>
        <p:blipFill>
          <a:blip r:embed="rId5"/>
          <a:stretch>
            <a:fillRect/>
          </a:stretch>
        </p:blipFill>
        <p:spPr>
          <a:xfrm>
            <a:off x="11067898" y="1756562"/>
            <a:ext cx="373075" cy="373075"/>
          </a:xfrm>
          <a:prstGeom prst="rect">
            <a:avLst/>
          </a:prstGeom>
        </p:spPr>
      </p:pic>
      <p:sp>
        <p:nvSpPr>
          <p:cNvPr id="13" name="Text 6"/>
          <p:cNvSpPr txBox="1"/>
          <p:nvPr/>
        </p:nvSpPr>
        <p:spPr>
          <a:xfrm>
            <a:off x="9098280" y="2468880"/>
            <a:ext cx="2542032" cy="411480"/>
          </a:xfrm>
          <a:prstGeom prst="rect">
            <a:avLst/>
          </a:prstGeom>
          <a:noFill/>
          <a:ln/>
        </p:spPr>
        <p:txBody>
          <a:bodyPr wrap="square" lIns="0" tIns="0" rIns="0" bIns="0" rtlCol="0" anchor="t"/>
          <a:lstStyle/>
          <a:p>
            <a:pPr rtl="1" algn="r" indent="0" marL="0">
              <a:buNone/>
            </a:pPr>
            <a:r>
              <a:rPr lang="ar-SA" altLang="en-US" sz="1800" b="1" dirty="0">
                <a:solidFill>
                  <a:schemeClr val="tx2"/>
                </a:solidFill>
              </a:rPr>
              <a:t>عربي وإنجليزي</a:t>
            </a:r>
            <a:endParaRPr lang="ar-SA" sz="1800" dirty="0"/>
          </a:p>
        </p:txBody>
      </p:sp>
      <p:sp>
        <p:nvSpPr>
          <p:cNvPr id="14" name="Text 7"/>
          <p:cNvSpPr txBox="1"/>
          <p:nvPr/>
        </p:nvSpPr>
        <p:spPr>
          <a:xfrm>
            <a:off x="9098280" y="2880360"/>
            <a:ext cx="2542032" cy="685800"/>
          </a:xfrm>
          <a:prstGeom prst="rect">
            <a:avLst/>
          </a:prstGeom>
          <a:noFill/>
          <a:ln/>
        </p:spPr>
        <p:txBody>
          <a:bodyPr wrap="square" lIns="0" tIns="0" rIns="0" bIns="0" rtlCol="0" anchor="t"/>
          <a:lstStyle/>
          <a:p>
            <a:pPr rtl="1" algn="r" indent="0" marL="0">
              <a:buNone/>
            </a:pPr>
            <a:r>
              <a:rPr lang="ar-SA" altLang="en-US" sz="1300" dirty="0">
                <a:solidFill>
                  <a:schemeClr val="tx1"/>
                </a:solidFill>
              </a:rPr>
              <a:t>يتغيّر اتجاه الواجهة كاملًا فورًا، ويبقى محتوى المكتبة كما أدخلته المشرفة.</a:t>
            </a:r>
            <a:endParaRPr lang="ar-SA" sz="1300" dirty="0"/>
          </a:p>
        </p:txBody>
      </p:sp>
      <p:sp>
        <p:nvSpPr>
          <p:cNvPr id="15" name="extra 2 circle"/>
          <p:cNvSpPr/>
          <p:nvPr/>
        </p:nvSpPr>
        <p:spPr>
          <a:xfrm>
            <a:off x="10865815" y="3611880"/>
            <a:ext cx="777240" cy="777240"/>
          </a:xfrm>
          <a:prstGeom prst="ellipse">
            <a:avLst/>
          </a:prstGeom>
          <a:solidFill>
            <a:schemeClr val="accent2"/>
          </a:solidFill>
          <a:ln w="12700">
            <a:solidFill>
              <a:schemeClr val="accent2"/>
            </a:solidFill>
            <a:prstDash val="solid"/>
          </a:ln>
        </p:spPr>
      </p:sp>
      <p:pic>
        <p:nvPicPr>
          <p:cNvPr id="16" name="extra 2 icon" descr="preencoded.png">    </p:cNvPr>
          <p:cNvPicPr>
            <a:picLocks noChangeAspect="1"/>
          </p:cNvPicPr>
          <p:nvPr/>
        </p:nvPicPr>
        <p:blipFill>
          <a:blip r:embed="rId6"/>
          <a:stretch>
            <a:fillRect/>
          </a:stretch>
        </p:blipFill>
        <p:spPr>
          <a:xfrm>
            <a:off x="11067898" y="3813962"/>
            <a:ext cx="373075" cy="373075"/>
          </a:xfrm>
          <a:prstGeom prst="rect">
            <a:avLst/>
          </a:prstGeom>
        </p:spPr>
      </p:pic>
      <p:sp>
        <p:nvSpPr>
          <p:cNvPr id="17" name="Text 9"/>
          <p:cNvSpPr txBox="1"/>
          <p:nvPr/>
        </p:nvSpPr>
        <p:spPr>
          <a:xfrm>
            <a:off x="9098280" y="4526280"/>
            <a:ext cx="2542032" cy="411480"/>
          </a:xfrm>
          <a:prstGeom prst="rect">
            <a:avLst/>
          </a:prstGeom>
          <a:noFill/>
          <a:ln/>
        </p:spPr>
        <p:txBody>
          <a:bodyPr wrap="square" lIns="0" tIns="0" rIns="0" bIns="0" rtlCol="0" anchor="t"/>
          <a:lstStyle/>
          <a:p>
            <a:pPr rtl="1" algn="r" indent="0" marL="0">
              <a:buNone/>
            </a:pPr>
            <a:r>
              <a:rPr lang="ar-SA" altLang="en-US" sz="1800" b="1" dirty="0">
                <a:solidFill>
                  <a:schemeClr val="tx2"/>
                </a:solidFill>
              </a:rPr>
              <a:t>فاتح · داكن · حسب الجهاز</a:t>
            </a:r>
            <a:endParaRPr lang="ar-SA" sz="1800" dirty="0"/>
          </a:p>
        </p:txBody>
      </p:sp>
      <p:sp>
        <p:nvSpPr>
          <p:cNvPr id="18" name="Text 10"/>
          <p:cNvSpPr txBox="1"/>
          <p:nvPr/>
        </p:nvSpPr>
        <p:spPr>
          <a:xfrm>
            <a:off x="9098280" y="4937760"/>
            <a:ext cx="2542032" cy="685800"/>
          </a:xfrm>
          <a:prstGeom prst="rect">
            <a:avLst/>
          </a:prstGeom>
          <a:noFill/>
          <a:ln/>
        </p:spPr>
        <p:txBody>
          <a:bodyPr wrap="square" lIns="0" tIns="0" rIns="0" bIns="0" rtlCol="0" anchor="t"/>
          <a:lstStyle/>
          <a:p>
            <a:pPr rtl="1" algn="r" indent="0" marL="0">
              <a:buNone/>
            </a:pPr>
            <a:r>
              <a:rPr lang="ar-SA" altLang="en-US" sz="1300" dirty="0">
                <a:solidFill>
                  <a:schemeClr val="tx1"/>
                </a:solidFill>
              </a:rPr>
              <a:t>كل لون له قيمتان، والاختيار يُحفظ ويُطبَّق على كل الشاشات فورًا، مع شعار خاص بالداكن.</a:t>
            </a:r>
            <a:endParaRPr lang="ar-SA" sz="1300" dirty="0"/>
          </a:p>
        </p:txBody>
      </p:sp>
      <p:sp>
        <p:nvSpPr>
          <p:cNvPr id="25" name="Slide Number Placeholder 0"/>
          <p:cNvSpPr>
            <a:spLocks noGrp="1"/>
          </p:cNvSpPr>
          <p:nvPr>
            <p:ph type="sldNum" sz="quarter" idx="4294967295"/>
          </p:nvPr>
        </p:nvSpPr>
        <p:spPr>
          <a:xfrm>
            <a:off x="5486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470"/>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1463040" y="347472"/>
            <a:ext cx="10177272" cy="731520"/>
          </a:xfrm>
          <a:prstGeom prst="rect">
            <a:avLst/>
          </a:prstGeom>
          <a:noFill/>
          <a:ln/>
        </p:spPr>
        <p:txBody>
          <a:bodyPr wrap="square" lIns="0" tIns="0" rIns="0" bIns="0" rtlCol="0" anchor="ctr"/>
          <a:lstStyle/>
          <a:p>
            <a:pPr rtl="1" algn="r" indent="0" marL="0">
              <a:buNone/>
            </a:pPr>
            <a:r>
              <a:rPr lang="en-US" sz="3200" b="1" dirty="0">
                <a:solidFill>
                  <a:schemeClr val="tx2"/>
                </a:solidFill>
              </a:rPr>
              <a:t>الاختبار</a:t>
            </a:r>
            <a:endParaRPr lang="en-US" sz="3200" dirty="0"/>
          </a:p>
        </p:txBody>
      </p:sp>
      <p:sp>
        <p:nvSpPr>
          <p:cNvPr id="3" name="stat 1"/>
          <p:cNvSpPr/>
          <p:nvPr/>
        </p:nvSpPr>
        <p:spPr>
          <a:xfrm>
            <a:off x="8122615" y="1417320"/>
            <a:ext cx="3520440" cy="1783080"/>
          </a:xfrm>
          <a:prstGeom prst="roundRect">
            <a:avLst>
              <a:gd name="adj" fmla="val 6154"/>
            </a:avLst>
          </a:prstGeom>
          <a:solidFill>
            <a:schemeClr val="bg2"/>
          </a:solidFill>
          <a:ln w="12700">
            <a:solidFill>
              <a:schemeClr val="bg2"/>
            </a:solidFill>
            <a:prstDash val="solid"/>
          </a:ln>
        </p:spPr>
      </p:sp>
      <p:sp>
        <p:nvSpPr>
          <p:cNvPr id="4" name="Text 2"/>
          <p:cNvSpPr txBox="1"/>
          <p:nvPr/>
        </p:nvSpPr>
        <p:spPr>
          <a:xfrm>
            <a:off x="8122615" y="1508760"/>
            <a:ext cx="3520440" cy="1005840"/>
          </a:xfrm>
          <a:prstGeom prst="rect">
            <a:avLst/>
          </a:prstGeom>
          <a:noFill/>
          <a:ln/>
        </p:spPr>
        <p:txBody>
          <a:bodyPr wrap="square" lIns="0" tIns="0" rIns="0" bIns="0" rtlCol="0" anchor="ctr"/>
          <a:lstStyle/>
          <a:p>
            <a:pPr algn="ctr" indent="0" marL="0">
              <a:buNone/>
            </a:pPr>
            <a:r>
              <a:rPr lang="en-US" sz="6000" b="1" dirty="0">
                <a:solidFill>
                  <a:schemeClr val="tx2"/>
                </a:solidFill>
              </a:rPr>
              <a:t>26</a:t>
            </a:r>
            <a:endParaRPr lang="en-US" sz="6000" dirty="0"/>
          </a:p>
        </p:txBody>
      </p:sp>
      <p:sp>
        <p:nvSpPr>
          <p:cNvPr id="5" name="Text 3"/>
          <p:cNvSpPr txBox="1"/>
          <p:nvPr/>
        </p:nvSpPr>
        <p:spPr>
          <a:xfrm>
            <a:off x="8122615" y="2514600"/>
            <a:ext cx="3520440" cy="457200"/>
          </a:xfrm>
          <a:prstGeom prst="rect">
            <a:avLst/>
          </a:prstGeom>
          <a:noFill/>
          <a:ln/>
        </p:spPr>
        <p:txBody>
          <a:bodyPr wrap="square" lIns="0" tIns="0" rIns="0" bIns="0" rtlCol="0" anchor="ctr"/>
          <a:lstStyle/>
          <a:p>
            <a:pPr rtl="1" algn="ctr" indent="0" marL="0">
              <a:buNone/>
            </a:pPr>
            <a:r>
              <a:rPr lang="en-US" sz="1600" dirty="0">
                <a:solidFill>
                  <a:schemeClr val="tx1"/>
                </a:solidFill>
              </a:rPr>
              <a:t>حالة اختبار موثّقة</a:t>
            </a:r>
            <a:endParaRPr lang="en-US" sz="1600" dirty="0"/>
          </a:p>
        </p:txBody>
      </p:sp>
      <p:sp>
        <p:nvSpPr>
          <p:cNvPr id="6" name="stat 2"/>
          <p:cNvSpPr/>
          <p:nvPr/>
        </p:nvSpPr>
        <p:spPr>
          <a:xfrm>
            <a:off x="4336999" y="1417320"/>
            <a:ext cx="3520440" cy="1783080"/>
          </a:xfrm>
          <a:prstGeom prst="roundRect">
            <a:avLst>
              <a:gd name="adj" fmla="val 6154"/>
            </a:avLst>
          </a:prstGeom>
          <a:solidFill>
            <a:schemeClr val="accent1"/>
          </a:solidFill>
          <a:ln w="12700">
            <a:solidFill>
              <a:schemeClr val="accent1"/>
            </a:solidFill>
            <a:prstDash val="solid"/>
          </a:ln>
        </p:spPr>
      </p:sp>
      <p:sp>
        <p:nvSpPr>
          <p:cNvPr id="7" name="Text 5"/>
          <p:cNvSpPr txBox="1"/>
          <p:nvPr/>
        </p:nvSpPr>
        <p:spPr>
          <a:xfrm>
            <a:off x="4336999" y="1508760"/>
            <a:ext cx="3520440" cy="1005840"/>
          </a:xfrm>
          <a:prstGeom prst="rect">
            <a:avLst/>
          </a:prstGeom>
          <a:noFill/>
          <a:ln/>
        </p:spPr>
        <p:txBody>
          <a:bodyPr wrap="square" lIns="0" tIns="0" rIns="0" bIns="0" rtlCol="0" anchor="ctr"/>
          <a:lstStyle/>
          <a:p>
            <a:pPr algn="ctr" indent="0" marL="0">
              <a:buNone/>
            </a:pPr>
            <a:r>
              <a:rPr lang="en-US" sz="6000" b="1" dirty="0">
                <a:solidFill>
                  <a:schemeClr val="bg1"/>
                </a:solidFill>
              </a:rPr>
              <a:t>26</a:t>
            </a:r>
            <a:endParaRPr lang="en-US" sz="6000" dirty="0"/>
          </a:p>
        </p:txBody>
      </p:sp>
      <p:sp>
        <p:nvSpPr>
          <p:cNvPr id="8" name="Text 6"/>
          <p:cNvSpPr txBox="1"/>
          <p:nvPr/>
        </p:nvSpPr>
        <p:spPr>
          <a:xfrm>
            <a:off x="4336999" y="2514600"/>
            <a:ext cx="3520440" cy="457200"/>
          </a:xfrm>
          <a:prstGeom prst="rect">
            <a:avLst/>
          </a:prstGeom>
          <a:noFill/>
          <a:ln/>
        </p:spPr>
        <p:txBody>
          <a:bodyPr wrap="square" lIns="0" tIns="0" rIns="0" bIns="0" rtlCol="0" anchor="ctr"/>
          <a:lstStyle/>
          <a:p>
            <a:pPr rtl="1" algn="ctr" indent="0" marL="0">
              <a:buNone/>
            </a:pPr>
            <a:r>
              <a:rPr lang="en-US" sz="1600" dirty="0">
                <a:solidFill>
                  <a:schemeClr val="accent4"/>
                </a:solidFill>
              </a:rPr>
              <a:t>حالة ناجحة</a:t>
            </a:r>
            <a:endParaRPr lang="en-US" sz="1600" dirty="0"/>
          </a:p>
        </p:txBody>
      </p:sp>
      <p:sp>
        <p:nvSpPr>
          <p:cNvPr id="9" name="stat 3"/>
          <p:cNvSpPr/>
          <p:nvPr/>
        </p:nvSpPr>
        <p:spPr>
          <a:xfrm>
            <a:off x="551383" y="1417320"/>
            <a:ext cx="3520440" cy="1783080"/>
          </a:xfrm>
          <a:prstGeom prst="roundRect">
            <a:avLst>
              <a:gd name="adj" fmla="val 6154"/>
            </a:avLst>
          </a:prstGeom>
          <a:solidFill>
            <a:schemeClr val="bg2"/>
          </a:solidFill>
          <a:ln w="12700">
            <a:solidFill>
              <a:schemeClr val="bg2"/>
            </a:solidFill>
            <a:prstDash val="solid"/>
          </a:ln>
        </p:spPr>
      </p:sp>
      <p:sp>
        <p:nvSpPr>
          <p:cNvPr id="10" name="Text 8"/>
          <p:cNvSpPr txBox="1"/>
          <p:nvPr/>
        </p:nvSpPr>
        <p:spPr>
          <a:xfrm>
            <a:off x="551383" y="1508760"/>
            <a:ext cx="3520440" cy="1005840"/>
          </a:xfrm>
          <a:prstGeom prst="rect">
            <a:avLst/>
          </a:prstGeom>
          <a:noFill/>
          <a:ln/>
        </p:spPr>
        <p:txBody>
          <a:bodyPr wrap="square" lIns="0" tIns="0" rIns="0" bIns="0" rtlCol="0" anchor="ctr"/>
          <a:lstStyle/>
          <a:p>
            <a:pPr algn="ctr" indent="0" marL="0">
              <a:buNone/>
            </a:pPr>
            <a:r>
              <a:rPr lang="en-US" sz="6000" b="1" dirty="0">
                <a:solidFill>
                  <a:schemeClr val="tx2"/>
                </a:solidFill>
              </a:rPr>
              <a:t>45</a:t>
            </a:r>
            <a:endParaRPr lang="en-US" sz="6000" dirty="0"/>
          </a:p>
        </p:txBody>
      </p:sp>
      <p:sp>
        <p:nvSpPr>
          <p:cNvPr id="11" name="Text 9"/>
          <p:cNvSpPr txBox="1"/>
          <p:nvPr/>
        </p:nvSpPr>
        <p:spPr>
          <a:xfrm>
            <a:off x="551383" y="2514600"/>
            <a:ext cx="3520440" cy="457200"/>
          </a:xfrm>
          <a:prstGeom prst="rect">
            <a:avLst/>
          </a:prstGeom>
          <a:noFill/>
          <a:ln/>
        </p:spPr>
        <p:txBody>
          <a:bodyPr wrap="square" lIns="0" tIns="0" rIns="0" bIns="0" rtlCol="0" anchor="ctr"/>
          <a:lstStyle/>
          <a:p>
            <a:pPr rtl="1" algn="ctr" indent="0" marL="0">
              <a:buNone/>
            </a:pPr>
            <a:r>
              <a:rPr lang="en-US" sz="1600" dirty="0">
                <a:solidFill>
                  <a:schemeClr val="tx1"/>
                </a:solidFill>
              </a:rPr>
              <a:t>شاشة في التطبيقين</a:t>
            </a:r>
            <a:endParaRPr lang="en-US" sz="1600" dirty="0"/>
          </a:p>
        </p:txBody>
      </p:sp>
      <p:sp>
        <p:nvSpPr>
          <p:cNvPr id="12" name="test type 1 circle"/>
          <p:cNvSpPr/>
          <p:nvPr/>
        </p:nvSpPr>
        <p:spPr>
          <a:xfrm>
            <a:off x="11002975" y="3520440"/>
            <a:ext cx="640080" cy="640080"/>
          </a:xfrm>
          <a:prstGeom prst="ellipse">
            <a:avLst/>
          </a:prstGeom>
          <a:solidFill>
            <a:schemeClr val="accent4"/>
          </a:solidFill>
          <a:ln w="12700">
            <a:solidFill>
              <a:schemeClr val="accent4"/>
            </a:solidFill>
            <a:prstDash val="solid"/>
          </a:ln>
        </p:spPr>
      </p:sp>
      <p:pic>
        <p:nvPicPr>
          <p:cNvPr id="13" name="test type 1 icon" descr="preencoded.png">    </p:cNvPr>
          <p:cNvPicPr>
            <a:picLocks noChangeAspect="1"/>
          </p:cNvPicPr>
          <p:nvPr/>
        </p:nvPicPr>
        <p:blipFill>
          <a:blip r:embed="rId1"/>
          <a:stretch>
            <a:fillRect/>
          </a:stretch>
        </p:blipFill>
        <p:spPr>
          <a:xfrm>
            <a:off x="11169396" y="3686861"/>
            <a:ext cx="307238" cy="307238"/>
          </a:xfrm>
          <a:prstGeom prst="rect">
            <a:avLst/>
          </a:prstGeom>
        </p:spPr>
      </p:pic>
      <p:sp>
        <p:nvSpPr>
          <p:cNvPr id="14" name="Text 11"/>
          <p:cNvSpPr txBox="1"/>
          <p:nvPr/>
        </p:nvSpPr>
        <p:spPr>
          <a:xfrm>
            <a:off x="6248095" y="3502152"/>
            <a:ext cx="4572000" cy="384048"/>
          </a:xfrm>
          <a:prstGeom prst="rect">
            <a:avLst/>
          </a:prstGeom>
          <a:noFill/>
          <a:ln/>
        </p:spPr>
        <p:txBody>
          <a:bodyPr wrap="square" lIns="0" tIns="0" rIns="0" bIns="0" rtlCol="0" anchor="t"/>
          <a:lstStyle/>
          <a:p>
            <a:pPr rtl="1" algn="r" indent="0" marL="0">
              <a:buNone/>
            </a:pPr>
            <a:r>
              <a:rPr lang="ar-SA" altLang="en-US" sz="1800" b="1" dirty="0">
                <a:solidFill>
                  <a:schemeClr val="tx2"/>
                </a:solidFill>
              </a:rPr>
              <a:t>اختبار وظيفي</a:t>
            </a:r>
            <a:endParaRPr lang="ar-SA" sz="1800" dirty="0"/>
          </a:p>
        </p:txBody>
      </p:sp>
      <p:sp>
        <p:nvSpPr>
          <p:cNvPr id="15" name="Text 12"/>
          <p:cNvSpPr txBox="1"/>
          <p:nvPr/>
        </p:nvSpPr>
        <p:spPr>
          <a:xfrm>
            <a:off x="6248095" y="3904488"/>
            <a:ext cx="4572000" cy="777240"/>
          </a:xfrm>
          <a:prstGeom prst="rect">
            <a:avLst/>
          </a:prstGeom>
          <a:noFill/>
          <a:ln/>
        </p:spPr>
        <p:txBody>
          <a:bodyPr wrap="square" lIns="0" tIns="0" rIns="0" bIns="0" rtlCol="0" anchor="t"/>
          <a:lstStyle/>
          <a:p>
            <a:pPr rtl="1" algn="r" indent="0" marL="0">
              <a:buNone/>
            </a:pPr>
            <a:r>
              <a:rPr lang="ar-SA" altLang="en-US" sz="1400" dirty="0">
                <a:solidFill>
                  <a:schemeClr val="tx1"/>
                </a:solidFill>
              </a:rPr>
              <a:t>لكل مسار: التهيئة والدخول والبحث والطريق والإعارة والصلاحيات</a:t>
            </a:r>
            <a:endParaRPr lang="ar-SA" sz="1400" dirty="0"/>
          </a:p>
        </p:txBody>
      </p:sp>
      <p:sp>
        <p:nvSpPr>
          <p:cNvPr id="16" name="test type 2 circle"/>
          <p:cNvSpPr/>
          <p:nvPr/>
        </p:nvSpPr>
        <p:spPr>
          <a:xfrm>
            <a:off x="5306263" y="3520440"/>
            <a:ext cx="640080" cy="640080"/>
          </a:xfrm>
          <a:prstGeom prst="ellipse">
            <a:avLst/>
          </a:prstGeom>
          <a:solidFill>
            <a:schemeClr val="accent4"/>
          </a:solidFill>
          <a:ln w="12700">
            <a:solidFill>
              <a:schemeClr val="accent4"/>
            </a:solidFill>
            <a:prstDash val="solid"/>
          </a:ln>
        </p:spPr>
      </p:sp>
      <p:pic>
        <p:nvPicPr>
          <p:cNvPr id="17" name="test type 2 icon" descr="preencoded.png">    </p:cNvPr>
          <p:cNvPicPr>
            <a:picLocks noChangeAspect="1"/>
          </p:cNvPicPr>
          <p:nvPr/>
        </p:nvPicPr>
        <p:blipFill>
          <a:blip r:embed="rId2"/>
          <a:stretch>
            <a:fillRect/>
          </a:stretch>
        </p:blipFill>
        <p:spPr>
          <a:xfrm>
            <a:off x="5472684" y="3686861"/>
            <a:ext cx="307238" cy="307238"/>
          </a:xfrm>
          <a:prstGeom prst="rect">
            <a:avLst/>
          </a:prstGeom>
        </p:spPr>
      </p:pic>
      <p:sp>
        <p:nvSpPr>
          <p:cNvPr id="18" name="Text 14"/>
          <p:cNvSpPr txBox="1"/>
          <p:nvPr/>
        </p:nvSpPr>
        <p:spPr>
          <a:xfrm>
            <a:off x="551383" y="3502152"/>
            <a:ext cx="4572000" cy="384048"/>
          </a:xfrm>
          <a:prstGeom prst="rect">
            <a:avLst/>
          </a:prstGeom>
          <a:noFill/>
          <a:ln/>
        </p:spPr>
        <p:txBody>
          <a:bodyPr wrap="square" lIns="0" tIns="0" rIns="0" bIns="0" rtlCol="0" anchor="t"/>
          <a:lstStyle/>
          <a:p>
            <a:pPr rtl="1" algn="r" indent="0" marL="0">
              <a:buNone/>
            </a:pPr>
            <a:r>
              <a:rPr lang="ar-SA" altLang="en-US" sz="1800" b="1" dirty="0">
                <a:solidFill>
                  <a:schemeClr val="tx2"/>
                </a:solidFill>
              </a:rPr>
              <a:t>اختبار التزامن</a:t>
            </a:r>
            <a:endParaRPr lang="ar-SA" sz="1800" dirty="0"/>
          </a:p>
        </p:txBody>
      </p:sp>
      <p:sp>
        <p:nvSpPr>
          <p:cNvPr id="19" name="Text 15"/>
          <p:cNvSpPr txBox="1"/>
          <p:nvPr/>
        </p:nvSpPr>
        <p:spPr>
          <a:xfrm>
            <a:off x="551383" y="3904488"/>
            <a:ext cx="4572000" cy="777240"/>
          </a:xfrm>
          <a:prstGeom prst="rect">
            <a:avLst/>
          </a:prstGeom>
          <a:noFill/>
          <a:ln/>
        </p:spPr>
        <p:txBody>
          <a:bodyPr wrap="square" lIns="0" tIns="0" rIns="0" bIns="0" rtlCol="0" anchor="t"/>
          <a:lstStyle/>
          <a:p>
            <a:pPr rtl="1" algn="r" indent="0" marL="0">
              <a:buNone/>
            </a:pPr>
            <a:r>
              <a:rPr lang="ar-SA" altLang="en-US" sz="1400" dirty="0">
                <a:solidFill>
                  <a:schemeClr val="tx1"/>
                </a:solidFill>
              </a:rPr>
              <a:t>طلبان على آخر نسخة من جهازين في اللحظة نفسها — تنجح معاملة واحدة فقط</a:t>
            </a:r>
            <a:endParaRPr lang="ar-SA" sz="1400" dirty="0"/>
          </a:p>
        </p:txBody>
      </p:sp>
      <p:sp>
        <p:nvSpPr>
          <p:cNvPr id="20" name="test type 3 circle"/>
          <p:cNvSpPr/>
          <p:nvPr/>
        </p:nvSpPr>
        <p:spPr>
          <a:xfrm>
            <a:off x="11002975" y="4892040"/>
            <a:ext cx="640080" cy="640080"/>
          </a:xfrm>
          <a:prstGeom prst="ellipse">
            <a:avLst/>
          </a:prstGeom>
          <a:solidFill>
            <a:schemeClr val="accent4"/>
          </a:solidFill>
          <a:ln w="12700">
            <a:solidFill>
              <a:schemeClr val="accent4"/>
            </a:solidFill>
            <a:prstDash val="solid"/>
          </a:ln>
        </p:spPr>
      </p:sp>
      <p:pic>
        <p:nvPicPr>
          <p:cNvPr id="21" name="test type 3 icon" descr="preencoded.png">    </p:cNvPr>
          <p:cNvPicPr>
            <a:picLocks noChangeAspect="1"/>
          </p:cNvPicPr>
          <p:nvPr/>
        </p:nvPicPr>
        <p:blipFill>
          <a:blip r:embed="rId3"/>
          <a:stretch>
            <a:fillRect/>
          </a:stretch>
        </p:blipFill>
        <p:spPr>
          <a:xfrm>
            <a:off x="11169396" y="5058461"/>
            <a:ext cx="307238" cy="307238"/>
          </a:xfrm>
          <a:prstGeom prst="rect">
            <a:avLst/>
          </a:prstGeom>
        </p:spPr>
      </p:pic>
      <p:sp>
        <p:nvSpPr>
          <p:cNvPr id="22" name="Text 17"/>
          <p:cNvSpPr txBox="1"/>
          <p:nvPr/>
        </p:nvSpPr>
        <p:spPr>
          <a:xfrm>
            <a:off x="6248095" y="4873752"/>
            <a:ext cx="4572000" cy="384048"/>
          </a:xfrm>
          <a:prstGeom prst="rect">
            <a:avLst/>
          </a:prstGeom>
          <a:noFill/>
          <a:ln/>
        </p:spPr>
        <p:txBody>
          <a:bodyPr wrap="square" lIns="0" tIns="0" rIns="0" bIns="0" rtlCol="0" anchor="t"/>
          <a:lstStyle/>
          <a:p>
            <a:pPr rtl="1" algn="r" indent="0" marL="0">
              <a:buNone/>
            </a:pPr>
            <a:r>
              <a:rPr lang="ar-SA" altLang="en-US" sz="1800" b="1" dirty="0">
                <a:solidFill>
                  <a:schemeClr val="tx2"/>
                </a:solidFill>
              </a:rPr>
              <a:t>اختبار الأمان</a:t>
            </a:r>
            <a:endParaRPr lang="ar-SA" sz="1800" dirty="0"/>
          </a:p>
        </p:txBody>
      </p:sp>
      <p:sp>
        <p:nvSpPr>
          <p:cNvPr id="23" name="Text 18"/>
          <p:cNvSpPr txBox="1"/>
          <p:nvPr/>
        </p:nvSpPr>
        <p:spPr>
          <a:xfrm>
            <a:off x="6248095" y="5276088"/>
            <a:ext cx="4572000" cy="777240"/>
          </a:xfrm>
          <a:prstGeom prst="rect">
            <a:avLst/>
          </a:prstGeom>
          <a:noFill/>
          <a:ln/>
        </p:spPr>
        <p:txBody>
          <a:bodyPr wrap="square" lIns="0" tIns="0" rIns="0" bIns="0" rtlCol="0" anchor="t"/>
          <a:lstStyle/>
          <a:p>
            <a:pPr rtl="1" algn="r" indent="0" marL="0">
              <a:buNone/>
            </a:pPr>
            <a:r>
              <a:rPr lang="ar-SA" altLang="en-US" sz="1400" dirty="0">
                <a:solidFill>
                  <a:schemeClr val="tx1"/>
                </a:solidFill>
              </a:rPr>
              <a:t>محاولة كتابة بحساب غير مشرف — يرفضها الخادم</a:t>
            </a:r>
            <a:endParaRPr lang="ar-SA" sz="1400" dirty="0"/>
          </a:p>
        </p:txBody>
      </p:sp>
      <p:sp>
        <p:nvSpPr>
          <p:cNvPr id="24" name="test type 4 circle"/>
          <p:cNvSpPr/>
          <p:nvPr/>
        </p:nvSpPr>
        <p:spPr>
          <a:xfrm>
            <a:off x="5306263" y="4892040"/>
            <a:ext cx="640080" cy="640080"/>
          </a:xfrm>
          <a:prstGeom prst="ellipse">
            <a:avLst/>
          </a:prstGeom>
          <a:solidFill>
            <a:schemeClr val="accent4"/>
          </a:solidFill>
          <a:ln w="12700">
            <a:solidFill>
              <a:schemeClr val="accent4"/>
            </a:solidFill>
            <a:prstDash val="solid"/>
          </a:ln>
        </p:spPr>
      </p:sp>
      <p:pic>
        <p:nvPicPr>
          <p:cNvPr id="25" name="test type 4 icon" descr="preencoded.png">    </p:cNvPr>
          <p:cNvPicPr>
            <a:picLocks noChangeAspect="1"/>
          </p:cNvPicPr>
          <p:nvPr/>
        </p:nvPicPr>
        <p:blipFill>
          <a:blip r:embed="rId4"/>
          <a:stretch>
            <a:fillRect/>
          </a:stretch>
        </p:blipFill>
        <p:spPr>
          <a:xfrm>
            <a:off x="5472684" y="5058461"/>
            <a:ext cx="307238" cy="307238"/>
          </a:xfrm>
          <a:prstGeom prst="rect">
            <a:avLst/>
          </a:prstGeom>
        </p:spPr>
      </p:pic>
      <p:sp>
        <p:nvSpPr>
          <p:cNvPr id="26" name="Text 20"/>
          <p:cNvSpPr txBox="1"/>
          <p:nvPr/>
        </p:nvSpPr>
        <p:spPr>
          <a:xfrm>
            <a:off x="551383" y="4873752"/>
            <a:ext cx="4572000" cy="384048"/>
          </a:xfrm>
          <a:prstGeom prst="rect">
            <a:avLst/>
          </a:prstGeom>
          <a:noFill/>
          <a:ln/>
        </p:spPr>
        <p:txBody>
          <a:bodyPr wrap="square" lIns="0" tIns="0" rIns="0" bIns="0" rtlCol="0" anchor="t"/>
          <a:lstStyle/>
          <a:p>
            <a:pPr rtl="1" algn="r" indent="0" marL="0">
              <a:buNone/>
            </a:pPr>
            <a:r>
              <a:rPr lang="ar-SA" altLang="en-US" sz="1800" b="1" dirty="0">
                <a:solidFill>
                  <a:schemeClr val="tx2"/>
                </a:solidFill>
              </a:rPr>
              <a:t>اختبار على الجهاز</a:t>
            </a:r>
            <a:endParaRPr lang="ar-SA" sz="1800" dirty="0"/>
          </a:p>
        </p:txBody>
      </p:sp>
      <p:sp>
        <p:nvSpPr>
          <p:cNvPr id="27" name="Text 21"/>
          <p:cNvSpPr txBox="1"/>
          <p:nvPr/>
        </p:nvSpPr>
        <p:spPr>
          <a:xfrm>
            <a:off x="551383" y="5276088"/>
            <a:ext cx="4572000" cy="777240"/>
          </a:xfrm>
          <a:prstGeom prst="rect">
            <a:avLst/>
          </a:prstGeom>
          <a:noFill/>
          <a:ln/>
        </p:spPr>
        <p:txBody>
          <a:bodyPr wrap="square" lIns="0" tIns="0" rIns="0" bIns="0" rtlCol="0" anchor="t"/>
          <a:lstStyle/>
          <a:p>
            <a:pPr rtl="1" algn="r" indent="0" marL="0">
              <a:buNone/>
            </a:pPr>
            <a:r>
              <a:rPr lang="ar-SA" altLang="en-US" sz="1400" dirty="0">
                <a:solidFill>
                  <a:schemeClr val="tx1"/>
                </a:solidFill>
              </a:rPr>
              <a:t>وضوح رموز الرفوف أثناء المشي، ودوران صور الكاميرا، وسرعة القوائم</a:t>
            </a:r>
            <a:endParaRPr lang="ar-SA" sz="1400" dirty="0"/>
          </a:p>
        </p:txBody>
      </p:sp>
      <p:sp>
        <p:nvSpPr>
          <p:cNvPr id="25" name="Slide Number Placeholder 0"/>
          <p:cNvSpPr>
            <a:spLocks noGrp="1"/>
          </p:cNvSpPr>
          <p:nvPr>
            <p:ph type="sldNum" sz="quarter" idx="4294967295"/>
          </p:nvPr>
        </p:nvSpPr>
        <p:spPr>
          <a:xfrm>
            <a:off x="5486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470"/>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1463040" y="347472"/>
            <a:ext cx="10177272" cy="731520"/>
          </a:xfrm>
          <a:prstGeom prst="rect">
            <a:avLst/>
          </a:prstGeom>
          <a:noFill/>
          <a:ln/>
        </p:spPr>
        <p:txBody>
          <a:bodyPr wrap="square" lIns="0" tIns="0" rIns="0" bIns="0" rtlCol="0" anchor="ctr"/>
          <a:lstStyle/>
          <a:p>
            <a:pPr rtl="1" algn="r" indent="0" marL="0">
              <a:buNone/>
            </a:pPr>
            <a:r>
              <a:rPr lang="en-US" sz="3200" b="1" dirty="0">
                <a:solidFill>
                  <a:schemeClr val="tx2"/>
                </a:solidFill>
              </a:rPr>
              <a:t>التحديات وكيف تجاوزناها</a:t>
            </a:r>
            <a:endParaRPr lang="en-US" sz="3200" dirty="0"/>
          </a:p>
        </p:txBody>
      </p:sp>
      <p:graphicFrame>
        <p:nvGraphicFramePr>
          <p:cNvPr id="20" name="challenges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4206240"/>
                <a:gridCol w="3959352"/>
                <a:gridCol w="2926080"/>
              </a:tblGrid>
              <a:tr h="868680">
                <a:tc>
                  <a:txBody>
                    <a:bodyPr/>
                    <a:lstStyle/>
                    <a:p>
                      <a:pPr rtl="1" algn="r" indent="0" marL="0">
                        <a:buNone/>
                      </a:pPr>
                      <a:r>
                        <a:rPr lang="en-US" sz="1600" b="1" dirty="0">
                          <a:solidFill>
                            <a:srgbClr val="FFFFFF"/>
                          </a:solidFill>
                        </a:rPr>
                        <a:t>الحل</a:t>
                      </a:r>
                      <a:endParaRPr lang="en-US" sz="1600" dirty="0"/>
                    </a:p>
                  </a:txBody>
                  <a:tcPr marL="164592" marR="164592" marT="73152" marB="73152" anchor="ctr">
                    <a:lnL w="9525" cap="flat" cmpd="sng" algn="ctr">
                      <a:solidFill>
                        <a:srgbClr val="E3DCCC"/>
                      </a:solidFill>
                      <a:prstDash val="solid"/>
                      <a:round/>
                      <a:headEnd type="none" w="med" len="med"/>
                      <a:tailEnd type="none" w="med" len="med"/>
                    </a:lnL>
                    <a:lnR w="9525" cap="flat" cmpd="sng" algn="ctr">
                      <a:solidFill>
                        <a:srgbClr val="E3DCCC"/>
                      </a:solidFill>
                      <a:prstDash val="solid"/>
                      <a:round/>
                      <a:headEnd type="none" w="med" len="med"/>
                      <a:tailEnd type="none" w="med" len="med"/>
                    </a:lnR>
                    <a:lnT w="9525" cap="flat" cmpd="sng" algn="ctr">
                      <a:solidFill>
                        <a:srgbClr val="E3DCCC"/>
                      </a:solidFill>
                      <a:prstDash val="solid"/>
                      <a:round/>
                      <a:headEnd type="none" w="med" len="med"/>
                      <a:tailEnd type="none" w="med" len="med"/>
                    </a:lnT>
                    <a:lnB w="9525" cap="flat" cmpd="sng" algn="ctr">
                      <a:solidFill>
                        <a:srgbClr val="E3DCCC"/>
                      </a:solidFill>
                      <a:prstDash val="solid"/>
                      <a:round/>
                      <a:headEnd type="none" w="med" len="med"/>
                      <a:tailEnd type="none" w="med" len="med"/>
                    </a:lnB>
                    <a:solidFill>
                      <a:srgbClr val="1F4E46"/>
                    </a:solidFill>
                  </a:tcPr>
                </a:tc>
                <a:tc>
                  <a:txBody>
                    <a:bodyPr/>
                    <a:lstStyle/>
                    <a:p>
                      <a:pPr rtl="1" algn="r" indent="0" marL="0">
                        <a:buNone/>
                      </a:pPr>
                      <a:r>
                        <a:rPr lang="en-US" sz="1600" b="1" dirty="0">
                          <a:solidFill>
                            <a:srgbClr val="FFFFFF"/>
                          </a:solidFill>
                        </a:rPr>
                        <a:t>التحدي</a:t>
                      </a:r>
                      <a:endParaRPr lang="en-US" sz="1600" dirty="0"/>
                    </a:p>
                  </a:txBody>
                  <a:tcPr marL="164592" marR="164592" marT="73152" marB="73152" anchor="ctr">
                    <a:lnL w="9525" cap="flat" cmpd="sng" algn="ctr">
                      <a:solidFill>
                        <a:srgbClr val="E3DCCC"/>
                      </a:solidFill>
                      <a:prstDash val="solid"/>
                      <a:round/>
                      <a:headEnd type="none" w="med" len="med"/>
                      <a:tailEnd type="none" w="med" len="med"/>
                    </a:lnL>
                    <a:lnR w="9525" cap="flat" cmpd="sng" algn="ctr">
                      <a:solidFill>
                        <a:srgbClr val="E3DCCC"/>
                      </a:solidFill>
                      <a:prstDash val="solid"/>
                      <a:round/>
                      <a:headEnd type="none" w="med" len="med"/>
                      <a:tailEnd type="none" w="med" len="med"/>
                    </a:lnR>
                    <a:lnT w="9525" cap="flat" cmpd="sng" algn="ctr">
                      <a:solidFill>
                        <a:srgbClr val="E3DCCC"/>
                      </a:solidFill>
                      <a:prstDash val="solid"/>
                      <a:round/>
                      <a:headEnd type="none" w="med" len="med"/>
                      <a:tailEnd type="none" w="med" len="med"/>
                    </a:lnT>
                    <a:lnB w="9525" cap="flat" cmpd="sng" algn="ctr">
                      <a:solidFill>
                        <a:srgbClr val="E3DCCC"/>
                      </a:solidFill>
                      <a:prstDash val="solid"/>
                      <a:round/>
                      <a:headEnd type="none" w="med" len="med"/>
                      <a:tailEnd type="none" w="med" len="med"/>
                    </a:lnB>
                    <a:solidFill>
                      <a:srgbClr val="1F4E46"/>
                    </a:solidFill>
                  </a:tcPr>
                </a:tc>
                <a:tc>
                  <a:txBody>
                    <a:bodyPr/>
                    <a:lstStyle/>
                    <a:p>
                      <a:pPr rtl="1" algn="r" indent="0" marL="0">
                        <a:buNone/>
                      </a:pPr>
                      <a:r>
                        <a:rPr lang="en-US" sz="1600" b="1" dirty="0">
                          <a:solidFill>
                            <a:srgbClr val="FFFFFF"/>
                          </a:solidFill>
                        </a:rPr>
                        <a:t>الصعوبة</a:t>
                      </a:r>
                      <a:endParaRPr lang="en-US" sz="1600" dirty="0"/>
                    </a:p>
                  </a:txBody>
                  <a:tcPr marL="164592" marR="164592" marT="73152" marB="73152" anchor="ctr">
                    <a:lnL w="9525" cap="flat" cmpd="sng" algn="ctr">
                      <a:solidFill>
                        <a:srgbClr val="E3DCCC"/>
                      </a:solidFill>
                      <a:prstDash val="solid"/>
                      <a:round/>
                      <a:headEnd type="none" w="med" len="med"/>
                      <a:tailEnd type="none" w="med" len="med"/>
                    </a:lnL>
                    <a:lnR w="9525" cap="flat" cmpd="sng" algn="ctr">
                      <a:solidFill>
                        <a:srgbClr val="E3DCCC"/>
                      </a:solidFill>
                      <a:prstDash val="solid"/>
                      <a:round/>
                      <a:headEnd type="none" w="med" len="med"/>
                      <a:tailEnd type="none" w="med" len="med"/>
                    </a:lnR>
                    <a:lnT w="9525" cap="flat" cmpd="sng" algn="ctr">
                      <a:solidFill>
                        <a:srgbClr val="E3DCCC"/>
                      </a:solidFill>
                      <a:prstDash val="solid"/>
                      <a:round/>
                      <a:headEnd type="none" w="med" len="med"/>
                      <a:tailEnd type="none" w="med" len="med"/>
                    </a:lnT>
                    <a:lnB w="9525" cap="flat" cmpd="sng" algn="ctr">
                      <a:solidFill>
                        <a:srgbClr val="E3DCCC"/>
                      </a:solidFill>
                      <a:prstDash val="solid"/>
                      <a:round/>
                      <a:headEnd type="none" w="med" len="med"/>
                      <a:tailEnd type="none" w="med" len="med"/>
                    </a:lnB>
                    <a:solidFill>
                      <a:srgbClr val="1F4E46"/>
                    </a:solidFill>
                  </a:tcPr>
                </a:tc>
              </a:tr>
              <a:tr h="868680">
                <a:tc>
                  <a:txBody>
                    <a:bodyPr/>
                    <a:lstStyle/>
                    <a:p>
                      <a:pPr rtl="1" algn="r" indent="0" marL="0">
                        <a:buNone/>
                      </a:pPr>
                      <a:r>
                        <a:rPr lang="en-US" sz="1500" dirty="0">
                          <a:solidFill>
                            <a:srgbClr val="2E3A36"/>
                          </a:solidFill>
                        </a:rPr>
                        <a:t>قفل meta/setup يمنح الملكية لأول حساب تلقائيًا</a:t>
                      </a:r>
                      <a:endParaRPr lang="en-US" sz="1500" dirty="0"/>
                    </a:p>
                  </a:txBody>
                  <a:tcPr marL="164592" marR="164592" marT="73152" marB="73152" anchor="ctr">
                    <a:lnL w="9525" cap="flat" cmpd="sng" algn="ctr">
                      <a:solidFill>
                        <a:srgbClr val="E3DCCC"/>
                      </a:solidFill>
                      <a:prstDash val="solid"/>
                      <a:round/>
                      <a:headEnd type="none" w="med" len="med"/>
                      <a:tailEnd type="none" w="med" len="med"/>
                    </a:lnL>
                    <a:lnR w="9525" cap="flat" cmpd="sng" algn="ctr">
                      <a:solidFill>
                        <a:srgbClr val="E3DCCC"/>
                      </a:solidFill>
                      <a:prstDash val="solid"/>
                      <a:round/>
                      <a:headEnd type="none" w="med" len="med"/>
                      <a:tailEnd type="none" w="med" len="med"/>
                    </a:lnR>
                    <a:lnT w="9525" cap="flat" cmpd="sng" algn="ctr">
                      <a:solidFill>
                        <a:srgbClr val="E3DCCC"/>
                      </a:solidFill>
                      <a:prstDash val="solid"/>
                      <a:round/>
                      <a:headEnd type="none" w="med" len="med"/>
                      <a:tailEnd type="none" w="med" len="med"/>
                    </a:lnT>
                    <a:lnB w="9525" cap="flat" cmpd="sng" algn="ctr">
                      <a:solidFill>
                        <a:srgbClr val="E3DCCC"/>
                      </a:solidFill>
                      <a:prstDash val="solid"/>
                      <a:round/>
                      <a:headEnd type="none" w="med" len="med"/>
                      <a:tailEnd type="none" w="med" len="med"/>
                    </a:lnB>
                    <a:solidFill>
                      <a:srgbClr val="F7F5EE"/>
                    </a:solidFill>
                  </a:tcPr>
                </a:tc>
                <a:tc>
                  <a:txBody>
                    <a:bodyPr/>
                    <a:lstStyle/>
                    <a:p>
                      <a:pPr rtl="1" algn="r" indent="0" marL="0">
                        <a:buNone/>
                      </a:pPr>
                      <a:r>
                        <a:rPr lang="en-US" sz="1500" dirty="0">
                          <a:solidFill>
                            <a:srgbClr val="2E3A36"/>
                          </a:solidFill>
                        </a:rPr>
                        <a:t>كانت تتطلّب إدخالًا يدويًا في لوحة Firebase</a:t>
                      </a:r>
                      <a:endParaRPr lang="en-US" sz="1500" dirty="0"/>
                    </a:p>
                  </a:txBody>
                  <a:tcPr marL="164592" marR="164592" marT="73152" marB="73152" anchor="ctr">
                    <a:lnL w="9525" cap="flat" cmpd="sng" algn="ctr">
                      <a:solidFill>
                        <a:srgbClr val="E3DCCC"/>
                      </a:solidFill>
                      <a:prstDash val="solid"/>
                      <a:round/>
                      <a:headEnd type="none" w="med" len="med"/>
                      <a:tailEnd type="none" w="med" len="med"/>
                    </a:lnL>
                    <a:lnR w="9525" cap="flat" cmpd="sng" algn="ctr">
                      <a:solidFill>
                        <a:srgbClr val="E3DCCC"/>
                      </a:solidFill>
                      <a:prstDash val="solid"/>
                      <a:round/>
                      <a:headEnd type="none" w="med" len="med"/>
                      <a:tailEnd type="none" w="med" len="med"/>
                    </a:lnR>
                    <a:lnT w="9525" cap="flat" cmpd="sng" algn="ctr">
                      <a:solidFill>
                        <a:srgbClr val="E3DCCC"/>
                      </a:solidFill>
                      <a:prstDash val="solid"/>
                      <a:round/>
                      <a:headEnd type="none" w="med" len="med"/>
                      <a:tailEnd type="none" w="med" len="med"/>
                    </a:lnT>
                    <a:lnB w="9525" cap="flat" cmpd="sng" algn="ctr">
                      <a:solidFill>
                        <a:srgbClr val="E3DCCC"/>
                      </a:solidFill>
                      <a:prstDash val="solid"/>
                      <a:round/>
                      <a:headEnd type="none" w="med" len="med"/>
                      <a:tailEnd type="none" w="med" len="med"/>
                    </a:lnB>
                    <a:solidFill>
                      <a:srgbClr val="F7F5EE"/>
                    </a:solidFill>
                  </a:tcPr>
                </a:tc>
                <a:tc>
                  <a:txBody>
                    <a:bodyPr/>
                    <a:lstStyle/>
                    <a:p>
                      <a:pPr rtl="1" algn="r" indent="0" marL="0">
                        <a:buNone/>
                      </a:pPr>
                      <a:r>
                        <a:rPr lang="en-US" sz="1500" b="1" dirty="0">
                          <a:solidFill>
                            <a:srgbClr val="2E3A36"/>
                          </a:solidFill>
                        </a:rPr>
                        <a:t>تهيئة أول مشرف</a:t>
                      </a:r>
                      <a:endParaRPr lang="en-US" sz="1500" dirty="0"/>
                    </a:p>
                  </a:txBody>
                  <a:tcPr marL="164592" marR="164592" marT="73152" marB="73152" anchor="ctr">
                    <a:lnL w="9525" cap="flat" cmpd="sng" algn="ctr">
                      <a:solidFill>
                        <a:srgbClr val="E3DCCC"/>
                      </a:solidFill>
                      <a:prstDash val="solid"/>
                      <a:round/>
                      <a:headEnd type="none" w="med" len="med"/>
                      <a:tailEnd type="none" w="med" len="med"/>
                    </a:lnL>
                    <a:lnR w="9525" cap="flat" cmpd="sng" algn="ctr">
                      <a:solidFill>
                        <a:srgbClr val="E3DCCC"/>
                      </a:solidFill>
                      <a:prstDash val="solid"/>
                      <a:round/>
                      <a:headEnd type="none" w="med" len="med"/>
                      <a:tailEnd type="none" w="med" len="med"/>
                    </a:lnR>
                    <a:lnT w="9525" cap="flat" cmpd="sng" algn="ctr">
                      <a:solidFill>
                        <a:srgbClr val="E3DCCC"/>
                      </a:solidFill>
                      <a:prstDash val="solid"/>
                      <a:round/>
                      <a:headEnd type="none" w="med" len="med"/>
                      <a:tailEnd type="none" w="med" len="med"/>
                    </a:lnT>
                    <a:lnB w="9525" cap="flat" cmpd="sng" algn="ctr">
                      <a:solidFill>
                        <a:srgbClr val="E3DCCC"/>
                      </a:solidFill>
                      <a:prstDash val="solid"/>
                      <a:round/>
                      <a:headEnd type="none" w="med" len="med"/>
                      <a:tailEnd type="none" w="med" len="med"/>
                    </a:lnB>
                    <a:solidFill>
                      <a:srgbClr val="F7F5EE"/>
                    </a:solidFill>
                  </a:tcPr>
                </a:tc>
              </a:tr>
              <a:tr h="868680">
                <a:tc>
                  <a:txBody>
                    <a:bodyPr/>
                    <a:lstStyle/>
                    <a:p>
                      <a:pPr rtl="1" algn="r" indent="0" marL="0">
                        <a:buNone/>
                      </a:pPr>
                      <a:r>
                        <a:rPr lang="en-US" sz="1500" dirty="0">
                          <a:solidFill>
                            <a:srgbClr val="2E3A36"/>
                          </a:solidFill>
                        </a:rPr>
                        <a:t>الرف مصدر الحقيقة، والموقع يُحَلّ عند العرض</a:t>
                      </a:r>
                      <a:endParaRPr lang="en-US" sz="1500" dirty="0"/>
                    </a:p>
                  </a:txBody>
                  <a:tcPr marL="164592" marR="164592" marT="73152" marB="73152" anchor="ctr">
                    <a:lnL w="9525" cap="flat" cmpd="sng" algn="ctr">
                      <a:solidFill>
                        <a:srgbClr val="E3DCCC"/>
                      </a:solidFill>
                      <a:prstDash val="solid"/>
                      <a:round/>
                      <a:headEnd type="none" w="med" len="med"/>
                      <a:tailEnd type="none" w="med" len="med"/>
                    </a:lnL>
                    <a:lnR w="9525" cap="flat" cmpd="sng" algn="ctr">
                      <a:solidFill>
                        <a:srgbClr val="E3DCCC"/>
                      </a:solidFill>
                      <a:prstDash val="solid"/>
                      <a:round/>
                      <a:headEnd type="none" w="med" len="med"/>
                      <a:tailEnd type="none" w="med" len="med"/>
                    </a:lnR>
                    <a:lnT w="9525" cap="flat" cmpd="sng" algn="ctr">
                      <a:solidFill>
                        <a:srgbClr val="E3DCCC"/>
                      </a:solidFill>
                      <a:prstDash val="solid"/>
                      <a:round/>
                      <a:headEnd type="none" w="med" len="med"/>
                      <a:tailEnd type="none" w="med" len="med"/>
                    </a:lnT>
                    <a:lnB w="9525" cap="flat" cmpd="sng" algn="ctr">
                      <a:solidFill>
                        <a:srgbClr val="E3DCCC"/>
                      </a:solidFill>
                      <a:prstDash val="solid"/>
                      <a:round/>
                      <a:headEnd type="none" w="med" len="med"/>
                      <a:tailEnd type="none" w="med" len="med"/>
                    </a:lnB>
                    <a:solidFill>
                      <a:srgbClr val="FFFFFF"/>
                    </a:solidFill>
                  </a:tcPr>
                </a:tc>
                <a:tc>
                  <a:txBody>
                    <a:bodyPr/>
                    <a:lstStyle/>
                    <a:p>
                      <a:pPr rtl="1" algn="r" indent="0" marL="0">
                        <a:buNone/>
                      </a:pPr>
                      <a:r>
                        <a:rPr lang="en-US" sz="1500" dirty="0">
                          <a:solidFill>
                            <a:srgbClr val="2E3A36"/>
                          </a:solidFill>
                        </a:rPr>
                        <a:t>نقل رف يترك عشرات الكتب بموقع قديم</a:t>
                      </a:r>
                      <a:endParaRPr lang="en-US" sz="1500" dirty="0"/>
                    </a:p>
                  </a:txBody>
                  <a:tcPr marL="164592" marR="164592" marT="73152" marB="73152" anchor="ctr">
                    <a:lnL w="9525" cap="flat" cmpd="sng" algn="ctr">
                      <a:solidFill>
                        <a:srgbClr val="E3DCCC"/>
                      </a:solidFill>
                      <a:prstDash val="solid"/>
                      <a:round/>
                      <a:headEnd type="none" w="med" len="med"/>
                      <a:tailEnd type="none" w="med" len="med"/>
                    </a:lnL>
                    <a:lnR w="9525" cap="flat" cmpd="sng" algn="ctr">
                      <a:solidFill>
                        <a:srgbClr val="E3DCCC"/>
                      </a:solidFill>
                      <a:prstDash val="solid"/>
                      <a:round/>
                      <a:headEnd type="none" w="med" len="med"/>
                      <a:tailEnd type="none" w="med" len="med"/>
                    </a:lnR>
                    <a:lnT w="9525" cap="flat" cmpd="sng" algn="ctr">
                      <a:solidFill>
                        <a:srgbClr val="E3DCCC"/>
                      </a:solidFill>
                      <a:prstDash val="solid"/>
                      <a:round/>
                      <a:headEnd type="none" w="med" len="med"/>
                      <a:tailEnd type="none" w="med" len="med"/>
                    </a:lnT>
                    <a:lnB w="9525" cap="flat" cmpd="sng" algn="ctr">
                      <a:solidFill>
                        <a:srgbClr val="E3DCCC"/>
                      </a:solidFill>
                      <a:prstDash val="solid"/>
                      <a:round/>
                      <a:headEnd type="none" w="med" len="med"/>
                      <a:tailEnd type="none" w="med" len="med"/>
                    </a:lnB>
                    <a:solidFill>
                      <a:srgbClr val="FFFFFF"/>
                    </a:solidFill>
                  </a:tcPr>
                </a:tc>
                <a:tc>
                  <a:txBody>
                    <a:bodyPr/>
                    <a:lstStyle/>
                    <a:p>
                      <a:pPr rtl="1" algn="r" indent="0" marL="0">
                        <a:buNone/>
                      </a:pPr>
                      <a:r>
                        <a:rPr lang="en-US" sz="1500" b="1" dirty="0">
                          <a:solidFill>
                            <a:srgbClr val="2E3A36"/>
                          </a:solidFill>
                        </a:rPr>
                        <a:t>تعارض بيانات الموقع</a:t>
                      </a:r>
                      <a:endParaRPr lang="en-US" sz="1500" dirty="0"/>
                    </a:p>
                  </a:txBody>
                  <a:tcPr marL="164592" marR="164592" marT="73152" marB="73152" anchor="ctr">
                    <a:lnL w="9525" cap="flat" cmpd="sng" algn="ctr">
                      <a:solidFill>
                        <a:srgbClr val="E3DCCC"/>
                      </a:solidFill>
                      <a:prstDash val="solid"/>
                      <a:round/>
                      <a:headEnd type="none" w="med" len="med"/>
                      <a:tailEnd type="none" w="med" len="med"/>
                    </a:lnL>
                    <a:lnR w="9525" cap="flat" cmpd="sng" algn="ctr">
                      <a:solidFill>
                        <a:srgbClr val="E3DCCC"/>
                      </a:solidFill>
                      <a:prstDash val="solid"/>
                      <a:round/>
                      <a:headEnd type="none" w="med" len="med"/>
                      <a:tailEnd type="none" w="med" len="med"/>
                    </a:lnR>
                    <a:lnT w="9525" cap="flat" cmpd="sng" algn="ctr">
                      <a:solidFill>
                        <a:srgbClr val="E3DCCC"/>
                      </a:solidFill>
                      <a:prstDash val="solid"/>
                      <a:round/>
                      <a:headEnd type="none" w="med" len="med"/>
                      <a:tailEnd type="none" w="med" len="med"/>
                    </a:lnT>
                    <a:lnB w="9525" cap="flat" cmpd="sng" algn="ctr">
                      <a:solidFill>
                        <a:srgbClr val="E3DCCC"/>
                      </a:solidFill>
                      <a:prstDash val="solid"/>
                      <a:round/>
                      <a:headEnd type="none" w="med" len="med"/>
                      <a:tailEnd type="none" w="med" len="med"/>
                    </a:lnB>
                    <a:solidFill>
                      <a:srgbClr val="FFFFFF"/>
                    </a:solidFill>
                  </a:tcPr>
                </a:tc>
              </a:tr>
              <a:tr h="868680">
                <a:tc>
                  <a:txBody>
                    <a:bodyPr/>
                    <a:lstStyle/>
                    <a:p>
                      <a:pPr rtl="1" algn="r" indent="0" marL="0">
                        <a:buNone/>
                      </a:pPr>
                      <a:r>
                        <a:rPr lang="en-US" sz="1500" dirty="0">
                          <a:solidFill>
                            <a:srgbClr val="2E3A36"/>
                          </a:solidFill>
                        </a:rPr>
                        <a:t>رسم الخريطة باتجاه ثابت مستقل عن اتجاه الواجهة</a:t>
                      </a:r>
                      <a:endParaRPr lang="en-US" sz="1500" dirty="0"/>
                    </a:p>
                  </a:txBody>
                  <a:tcPr marL="164592" marR="164592" marT="73152" marB="73152" anchor="ctr">
                    <a:lnL w="9525" cap="flat" cmpd="sng" algn="ctr">
                      <a:solidFill>
                        <a:srgbClr val="E3DCCC"/>
                      </a:solidFill>
                      <a:prstDash val="solid"/>
                      <a:round/>
                      <a:headEnd type="none" w="med" len="med"/>
                      <a:tailEnd type="none" w="med" len="med"/>
                    </a:lnL>
                    <a:lnR w="9525" cap="flat" cmpd="sng" algn="ctr">
                      <a:solidFill>
                        <a:srgbClr val="E3DCCC"/>
                      </a:solidFill>
                      <a:prstDash val="solid"/>
                      <a:round/>
                      <a:headEnd type="none" w="med" len="med"/>
                      <a:tailEnd type="none" w="med" len="med"/>
                    </a:lnR>
                    <a:lnT w="9525" cap="flat" cmpd="sng" algn="ctr">
                      <a:solidFill>
                        <a:srgbClr val="E3DCCC"/>
                      </a:solidFill>
                      <a:prstDash val="solid"/>
                      <a:round/>
                      <a:headEnd type="none" w="med" len="med"/>
                      <a:tailEnd type="none" w="med" len="med"/>
                    </a:lnT>
                    <a:lnB w="9525" cap="flat" cmpd="sng" algn="ctr">
                      <a:solidFill>
                        <a:srgbClr val="E3DCCC"/>
                      </a:solidFill>
                      <a:prstDash val="solid"/>
                      <a:round/>
                      <a:headEnd type="none" w="med" len="med"/>
                      <a:tailEnd type="none" w="med" len="med"/>
                    </a:lnB>
                    <a:solidFill>
                      <a:srgbClr val="F7F5EE"/>
                    </a:solidFill>
                  </a:tcPr>
                </a:tc>
                <a:tc>
                  <a:txBody>
                    <a:bodyPr/>
                    <a:lstStyle/>
                    <a:p>
                      <a:pPr rtl="1" algn="r" indent="0" marL="0">
                        <a:buNone/>
                      </a:pPr>
                      <a:r>
                        <a:rPr lang="en-US" sz="1500" dirty="0">
                          <a:solidFill>
                            <a:srgbClr val="2E3A36"/>
                          </a:solidFill>
                        </a:rPr>
                        <a:t>الواجهة العربية عكست الخريطة فانقلب المدخل</a:t>
                      </a:r>
                      <a:endParaRPr lang="en-US" sz="1500" dirty="0"/>
                    </a:p>
                  </a:txBody>
                  <a:tcPr marL="164592" marR="164592" marT="73152" marB="73152" anchor="ctr">
                    <a:lnL w="9525" cap="flat" cmpd="sng" algn="ctr">
                      <a:solidFill>
                        <a:srgbClr val="E3DCCC"/>
                      </a:solidFill>
                      <a:prstDash val="solid"/>
                      <a:round/>
                      <a:headEnd type="none" w="med" len="med"/>
                      <a:tailEnd type="none" w="med" len="med"/>
                    </a:lnL>
                    <a:lnR w="9525" cap="flat" cmpd="sng" algn="ctr">
                      <a:solidFill>
                        <a:srgbClr val="E3DCCC"/>
                      </a:solidFill>
                      <a:prstDash val="solid"/>
                      <a:round/>
                      <a:headEnd type="none" w="med" len="med"/>
                      <a:tailEnd type="none" w="med" len="med"/>
                    </a:lnR>
                    <a:lnT w="9525" cap="flat" cmpd="sng" algn="ctr">
                      <a:solidFill>
                        <a:srgbClr val="E3DCCC"/>
                      </a:solidFill>
                      <a:prstDash val="solid"/>
                      <a:round/>
                      <a:headEnd type="none" w="med" len="med"/>
                      <a:tailEnd type="none" w="med" len="med"/>
                    </a:lnT>
                    <a:lnB w="9525" cap="flat" cmpd="sng" algn="ctr">
                      <a:solidFill>
                        <a:srgbClr val="E3DCCC"/>
                      </a:solidFill>
                      <a:prstDash val="solid"/>
                      <a:round/>
                      <a:headEnd type="none" w="med" len="med"/>
                      <a:tailEnd type="none" w="med" len="med"/>
                    </a:lnB>
                    <a:solidFill>
                      <a:srgbClr val="F7F5EE"/>
                    </a:solidFill>
                  </a:tcPr>
                </a:tc>
                <a:tc>
                  <a:txBody>
                    <a:bodyPr/>
                    <a:lstStyle/>
                    <a:p>
                      <a:pPr rtl="1" algn="r" indent="0" marL="0">
                        <a:buNone/>
                      </a:pPr>
                      <a:r>
                        <a:rPr lang="en-US" sz="1500" b="1" dirty="0">
                          <a:solidFill>
                            <a:srgbClr val="2E3A36"/>
                          </a:solidFill>
                        </a:rPr>
                        <a:t>اتجاه الخريطة</a:t>
                      </a:r>
                      <a:endParaRPr lang="en-US" sz="1500" dirty="0"/>
                    </a:p>
                  </a:txBody>
                  <a:tcPr marL="164592" marR="164592" marT="73152" marB="73152" anchor="ctr">
                    <a:lnL w="9525" cap="flat" cmpd="sng" algn="ctr">
                      <a:solidFill>
                        <a:srgbClr val="E3DCCC"/>
                      </a:solidFill>
                      <a:prstDash val="solid"/>
                      <a:round/>
                      <a:headEnd type="none" w="med" len="med"/>
                      <a:tailEnd type="none" w="med" len="med"/>
                    </a:lnL>
                    <a:lnR w="9525" cap="flat" cmpd="sng" algn="ctr">
                      <a:solidFill>
                        <a:srgbClr val="E3DCCC"/>
                      </a:solidFill>
                      <a:prstDash val="solid"/>
                      <a:round/>
                      <a:headEnd type="none" w="med" len="med"/>
                      <a:tailEnd type="none" w="med" len="med"/>
                    </a:lnR>
                    <a:lnT w="9525" cap="flat" cmpd="sng" algn="ctr">
                      <a:solidFill>
                        <a:srgbClr val="E3DCCC"/>
                      </a:solidFill>
                      <a:prstDash val="solid"/>
                      <a:round/>
                      <a:headEnd type="none" w="med" len="med"/>
                      <a:tailEnd type="none" w="med" len="med"/>
                    </a:lnT>
                    <a:lnB w="9525" cap="flat" cmpd="sng" algn="ctr">
                      <a:solidFill>
                        <a:srgbClr val="E3DCCC"/>
                      </a:solidFill>
                      <a:prstDash val="solid"/>
                      <a:round/>
                      <a:headEnd type="none" w="med" len="med"/>
                      <a:tailEnd type="none" w="med" len="med"/>
                    </a:lnB>
                    <a:solidFill>
                      <a:srgbClr val="F7F5EE"/>
                    </a:solidFill>
                  </a:tcPr>
                </a:tc>
              </a:tr>
              <a:tr h="868680">
                <a:tc>
                  <a:txBody>
                    <a:bodyPr/>
                    <a:lstStyle/>
                    <a:p>
                      <a:pPr rtl="1" algn="r" indent="0" marL="0">
                        <a:buNone/>
                      </a:pPr>
                      <a:r>
                        <a:rPr lang="en-US" sz="1500" dirty="0">
                          <a:solidFill>
                            <a:srgbClr val="2E3A36"/>
                          </a:solidFill>
                        </a:rPr>
                        <a:t>تصغير وضغط وتصحيح الاتجاه EXIF ثم Base64</a:t>
                      </a:r>
                      <a:endParaRPr lang="en-US" sz="1500" dirty="0"/>
                    </a:p>
                  </a:txBody>
                  <a:tcPr marL="164592" marR="164592" marT="73152" marB="73152" anchor="ctr">
                    <a:lnL w="9525" cap="flat" cmpd="sng" algn="ctr">
                      <a:solidFill>
                        <a:srgbClr val="E3DCCC"/>
                      </a:solidFill>
                      <a:prstDash val="solid"/>
                      <a:round/>
                      <a:headEnd type="none" w="med" len="med"/>
                      <a:tailEnd type="none" w="med" len="med"/>
                    </a:lnL>
                    <a:lnR w="9525" cap="flat" cmpd="sng" algn="ctr">
                      <a:solidFill>
                        <a:srgbClr val="E3DCCC"/>
                      </a:solidFill>
                      <a:prstDash val="solid"/>
                      <a:round/>
                      <a:headEnd type="none" w="med" len="med"/>
                      <a:tailEnd type="none" w="med" len="med"/>
                    </a:lnR>
                    <a:lnT w="9525" cap="flat" cmpd="sng" algn="ctr">
                      <a:solidFill>
                        <a:srgbClr val="E3DCCC"/>
                      </a:solidFill>
                      <a:prstDash val="solid"/>
                      <a:round/>
                      <a:headEnd type="none" w="med" len="med"/>
                      <a:tailEnd type="none" w="med" len="med"/>
                    </a:lnT>
                    <a:lnB w="9525" cap="flat" cmpd="sng" algn="ctr">
                      <a:solidFill>
                        <a:srgbClr val="E3DCCC"/>
                      </a:solidFill>
                      <a:prstDash val="solid"/>
                      <a:round/>
                      <a:headEnd type="none" w="med" len="med"/>
                      <a:tailEnd type="none" w="med" len="med"/>
                    </a:lnB>
                    <a:solidFill>
                      <a:srgbClr val="FFFFFF"/>
                    </a:solidFill>
                  </a:tcPr>
                </a:tc>
                <a:tc>
                  <a:txBody>
                    <a:bodyPr/>
                    <a:lstStyle/>
                    <a:p>
                      <a:pPr rtl="1" algn="r" indent="0" marL="0">
                        <a:buNone/>
                      </a:pPr>
                      <a:r>
                        <a:rPr lang="en-US" sz="1500" dirty="0">
                          <a:solidFill>
                            <a:srgbClr val="2E3A36"/>
                          </a:solidFill>
                        </a:rPr>
                        <a:t>حدّ حجم المستند 1 ميجابايت</a:t>
                      </a:r>
                      <a:endParaRPr lang="en-US" sz="1500" dirty="0"/>
                    </a:p>
                  </a:txBody>
                  <a:tcPr marL="164592" marR="164592" marT="73152" marB="73152" anchor="ctr">
                    <a:lnL w="9525" cap="flat" cmpd="sng" algn="ctr">
                      <a:solidFill>
                        <a:srgbClr val="E3DCCC"/>
                      </a:solidFill>
                      <a:prstDash val="solid"/>
                      <a:round/>
                      <a:headEnd type="none" w="med" len="med"/>
                      <a:tailEnd type="none" w="med" len="med"/>
                    </a:lnL>
                    <a:lnR w="9525" cap="flat" cmpd="sng" algn="ctr">
                      <a:solidFill>
                        <a:srgbClr val="E3DCCC"/>
                      </a:solidFill>
                      <a:prstDash val="solid"/>
                      <a:round/>
                      <a:headEnd type="none" w="med" len="med"/>
                      <a:tailEnd type="none" w="med" len="med"/>
                    </a:lnR>
                    <a:lnT w="9525" cap="flat" cmpd="sng" algn="ctr">
                      <a:solidFill>
                        <a:srgbClr val="E3DCCC"/>
                      </a:solidFill>
                      <a:prstDash val="solid"/>
                      <a:round/>
                      <a:headEnd type="none" w="med" len="med"/>
                      <a:tailEnd type="none" w="med" len="med"/>
                    </a:lnT>
                    <a:lnB w="9525" cap="flat" cmpd="sng" algn="ctr">
                      <a:solidFill>
                        <a:srgbClr val="E3DCCC"/>
                      </a:solidFill>
                      <a:prstDash val="solid"/>
                      <a:round/>
                      <a:headEnd type="none" w="med" len="med"/>
                      <a:tailEnd type="none" w="med" len="med"/>
                    </a:lnB>
                    <a:solidFill>
                      <a:srgbClr val="FFFFFF"/>
                    </a:solidFill>
                  </a:tcPr>
                </a:tc>
                <a:tc>
                  <a:txBody>
                    <a:bodyPr/>
                    <a:lstStyle/>
                    <a:p>
                      <a:pPr rtl="1" algn="r" indent="0" marL="0">
                        <a:buNone/>
                      </a:pPr>
                      <a:r>
                        <a:rPr lang="en-US" sz="1500" b="1" dirty="0">
                          <a:solidFill>
                            <a:srgbClr val="2E3A36"/>
                          </a:solidFill>
                        </a:rPr>
                        <a:t>تخزين الصور</a:t>
                      </a:r>
                      <a:endParaRPr lang="en-US" sz="1500" dirty="0"/>
                    </a:p>
                  </a:txBody>
                  <a:tcPr marL="164592" marR="164592" marT="73152" marB="73152" anchor="ctr">
                    <a:lnL w="9525" cap="flat" cmpd="sng" algn="ctr">
                      <a:solidFill>
                        <a:srgbClr val="E3DCCC"/>
                      </a:solidFill>
                      <a:prstDash val="solid"/>
                      <a:round/>
                      <a:headEnd type="none" w="med" len="med"/>
                      <a:tailEnd type="none" w="med" len="med"/>
                    </a:lnL>
                    <a:lnR w="9525" cap="flat" cmpd="sng" algn="ctr">
                      <a:solidFill>
                        <a:srgbClr val="E3DCCC"/>
                      </a:solidFill>
                      <a:prstDash val="solid"/>
                      <a:round/>
                      <a:headEnd type="none" w="med" len="med"/>
                      <a:tailEnd type="none" w="med" len="med"/>
                    </a:lnR>
                    <a:lnT w="9525" cap="flat" cmpd="sng" algn="ctr">
                      <a:solidFill>
                        <a:srgbClr val="E3DCCC"/>
                      </a:solidFill>
                      <a:prstDash val="solid"/>
                      <a:round/>
                      <a:headEnd type="none" w="med" len="med"/>
                      <a:tailEnd type="none" w="med" len="med"/>
                    </a:lnT>
                    <a:lnB w="9525" cap="flat" cmpd="sng" algn="ctr">
                      <a:solidFill>
                        <a:srgbClr val="E3DCC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5486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470"/>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1463040" y="347472"/>
            <a:ext cx="10177272" cy="731520"/>
          </a:xfrm>
          <a:prstGeom prst="rect">
            <a:avLst/>
          </a:prstGeom>
          <a:noFill/>
          <a:ln/>
        </p:spPr>
        <p:txBody>
          <a:bodyPr wrap="square" lIns="0" tIns="0" rIns="0" bIns="0" rtlCol="0" anchor="ctr"/>
          <a:lstStyle/>
          <a:p>
            <a:pPr rtl="1" algn="r" indent="0" marL="0">
              <a:buNone/>
            </a:pPr>
            <a:r>
              <a:rPr lang="en-US" sz="3200" b="1" dirty="0">
                <a:solidFill>
                  <a:schemeClr val="tx2"/>
                </a:solidFill>
              </a:rPr>
              <a:t>التطوير المستقبلي</a:t>
            </a:r>
            <a:endParaRPr lang="en-US" sz="3200" dirty="0"/>
          </a:p>
        </p:txBody>
      </p:sp>
      <p:sp>
        <p:nvSpPr>
          <p:cNvPr id="3" name="future card 1"/>
          <p:cNvSpPr/>
          <p:nvPr/>
        </p:nvSpPr>
        <p:spPr>
          <a:xfrm>
            <a:off x="8122615" y="1417320"/>
            <a:ext cx="3520440" cy="2103120"/>
          </a:xfrm>
          <a:prstGeom prst="roundRect">
            <a:avLst>
              <a:gd name="adj" fmla="val 5217"/>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4" name="future 1 circle"/>
          <p:cNvSpPr/>
          <p:nvPr/>
        </p:nvSpPr>
        <p:spPr>
          <a:xfrm>
            <a:off x="10728655" y="1691640"/>
            <a:ext cx="685800" cy="685800"/>
          </a:xfrm>
          <a:prstGeom prst="ellipse">
            <a:avLst/>
          </a:prstGeom>
          <a:solidFill>
            <a:schemeClr val="accent2"/>
          </a:solidFill>
          <a:ln w="12700">
            <a:solidFill>
              <a:schemeClr val="accent2"/>
            </a:solidFill>
            <a:prstDash val="solid"/>
          </a:ln>
        </p:spPr>
      </p:sp>
      <p:pic>
        <p:nvPicPr>
          <p:cNvPr id="5" name="future 1 icon" descr="preencoded.png">    </p:cNvPr>
          <p:cNvPicPr>
            <a:picLocks noChangeAspect="1"/>
          </p:cNvPicPr>
          <p:nvPr/>
        </p:nvPicPr>
        <p:blipFill>
          <a:blip r:embed="rId1"/>
          <a:stretch>
            <a:fillRect/>
          </a:stretch>
        </p:blipFill>
        <p:spPr>
          <a:xfrm>
            <a:off x="10906963" y="1869948"/>
            <a:ext cx="329184" cy="329184"/>
          </a:xfrm>
          <a:prstGeom prst="rect">
            <a:avLst/>
          </a:prstGeom>
        </p:spPr>
      </p:pic>
      <p:sp>
        <p:nvSpPr>
          <p:cNvPr id="6" name="Text 3"/>
          <p:cNvSpPr txBox="1"/>
          <p:nvPr/>
        </p:nvSpPr>
        <p:spPr>
          <a:xfrm>
            <a:off x="8351215" y="2514600"/>
            <a:ext cx="3063240" cy="411480"/>
          </a:xfrm>
          <a:prstGeom prst="rect">
            <a:avLst/>
          </a:prstGeom>
          <a:noFill/>
          <a:ln/>
        </p:spPr>
        <p:txBody>
          <a:bodyPr wrap="square" lIns="0" tIns="0" rIns="0" bIns="0" rtlCol="0" anchor="t"/>
          <a:lstStyle/>
          <a:p>
            <a:pPr rtl="1" algn="r" indent="0" marL="0">
              <a:buNone/>
            </a:pPr>
            <a:r>
              <a:rPr lang="ar-SA" altLang="en-US" sz="1700" b="1" dirty="0">
                <a:solidFill>
                  <a:schemeClr val="tx2"/>
                </a:solidFill>
              </a:rPr>
              <a:t>تحديد الموقع داخل المبنى</a:t>
            </a:r>
            <a:endParaRPr lang="ar-SA" sz="1700" dirty="0"/>
          </a:p>
        </p:txBody>
      </p:sp>
      <p:sp>
        <p:nvSpPr>
          <p:cNvPr id="7" name="Text 4"/>
          <p:cNvSpPr txBox="1"/>
          <p:nvPr/>
        </p:nvSpPr>
        <p:spPr>
          <a:xfrm>
            <a:off x="8351215" y="2926080"/>
            <a:ext cx="3063240" cy="457200"/>
          </a:xfrm>
          <a:prstGeom prst="rect">
            <a:avLst/>
          </a:prstGeom>
          <a:noFill/>
          <a:ln/>
        </p:spPr>
        <p:txBody>
          <a:bodyPr wrap="square" lIns="0" tIns="0" rIns="0" bIns="0" rtlCol="0" anchor="t"/>
          <a:lstStyle/>
          <a:p>
            <a:pPr rtl="1" algn="r" indent="0" marL="0">
              <a:buNone/>
            </a:pPr>
            <a:r>
              <a:rPr lang="ar-SA" altLang="en-US" sz="1400" dirty="0">
                <a:solidFill>
                  <a:schemeClr val="tx1"/>
                </a:solidFill>
              </a:rPr>
              <a:t>BLE Beacons لتحديث الطريق أثناء المشي</a:t>
            </a:r>
            <a:endParaRPr lang="ar-SA" sz="1400" dirty="0"/>
          </a:p>
        </p:txBody>
      </p:sp>
      <p:sp>
        <p:nvSpPr>
          <p:cNvPr id="8" name="future card 2"/>
          <p:cNvSpPr/>
          <p:nvPr/>
        </p:nvSpPr>
        <p:spPr>
          <a:xfrm>
            <a:off x="4336999" y="1417320"/>
            <a:ext cx="3520440" cy="2103120"/>
          </a:xfrm>
          <a:prstGeom prst="roundRect">
            <a:avLst>
              <a:gd name="adj" fmla="val 5217"/>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9" name="future 2 circle"/>
          <p:cNvSpPr/>
          <p:nvPr/>
        </p:nvSpPr>
        <p:spPr>
          <a:xfrm>
            <a:off x="6943039" y="1691640"/>
            <a:ext cx="685800" cy="685800"/>
          </a:xfrm>
          <a:prstGeom prst="ellipse">
            <a:avLst/>
          </a:prstGeom>
          <a:solidFill>
            <a:schemeClr val="accent1"/>
          </a:solidFill>
          <a:ln w="12700">
            <a:solidFill>
              <a:schemeClr val="accent1"/>
            </a:solidFill>
            <a:prstDash val="solid"/>
          </a:ln>
        </p:spPr>
      </p:sp>
      <p:pic>
        <p:nvPicPr>
          <p:cNvPr id="10" name="future 2 icon" descr="preencoded.png">    </p:cNvPr>
          <p:cNvPicPr>
            <a:picLocks noChangeAspect="1"/>
          </p:cNvPicPr>
          <p:nvPr/>
        </p:nvPicPr>
        <p:blipFill>
          <a:blip r:embed="rId2"/>
          <a:stretch>
            <a:fillRect/>
          </a:stretch>
        </p:blipFill>
        <p:spPr>
          <a:xfrm>
            <a:off x="7121347" y="1869948"/>
            <a:ext cx="329184" cy="329184"/>
          </a:xfrm>
          <a:prstGeom prst="rect">
            <a:avLst/>
          </a:prstGeom>
        </p:spPr>
      </p:pic>
      <p:sp>
        <p:nvSpPr>
          <p:cNvPr id="11" name="Text 7"/>
          <p:cNvSpPr txBox="1"/>
          <p:nvPr/>
        </p:nvSpPr>
        <p:spPr>
          <a:xfrm>
            <a:off x="4565599" y="2514600"/>
            <a:ext cx="3063240" cy="411480"/>
          </a:xfrm>
          <a:prstGeom prst="rect">
            <a:avLst/>
          </a:prstGeom>
          <a:noFill/>
          <a:ln/>
        </p:spPr>
        <p:txBody>
          <a:bodyPr wrap="square" lIns="0" tIns="0" rIns="0" bIns="0" rtlCol="0" anchor="t"/>
          <a:lstStyle/>
          <a:p>
            <a:pPr rtl="1" algn="r" indent="0" marL="0">
              <a:buNone/>
            </a:pPr>
            <a:r>
              <a:rPr lang="ar-SA" altLang="en-US" sz="1700" b="1" dirty="0">
                <a:solidFill>
                  <a:schemeClr val="tx2"/>
                </a:solidFill>
              </a:rPr>
              <a:t>رمز QR على كل رف</a:t>
            </a:r>
            <a:endParaRPr lang="ar-SA" sz="1700" dirty="0"/>
          </a:p>
        </p:txBody>
      </p:sp>
      <p:sp>
        <p:nvSpPr>
          <p:cNvPr id="12" name="Text 8"/>
          <p:cNvSpPr txBox="1"/>
          <p:nvPr/>
        </p:nvSpPr>
        <p:spPr>
          <a:xfrm>
            <a:off x="4565599" y="2926080"/>
            <a:ext cx="3063240" cy="457200"/>
          </a:xfrm>
          <a:prstGeom prst="rect">
            <a:avLst/>
          </a:prstGeom>
          <a:noFill/>
          <a:ln/>
        </p:spPr>
        <p:txBody>
          <a:bodyPr wrap="square" lIns="0" tIns="0" rIns="0" bIns="0" rtlCol="0" anchor="t"/>
          <a:lstStyle/>
          <a:p>
            <a:pPr rtl="1" algn="r" indent="0" marL="0">
              <a:buNone/>
            </a:pPr>
            <a:r>
              <a:rPr lang="ar-SA" altLang="en-US" sz="1400" dirty="0">
                <a:solidFill>
                  <a:schemeClr val="tx1"/>
                </a:solidFill>
              </a:rPr>
              <a:t>تأكيد الوصول وتسهيل الجرد</a:t>
            </a:r>
            <a:endParaRPr lang="ar-SA" sz="1400" dirty="0"/>
          </a:p>
        </p:txBody>
      </p:sp>
      <p:sp>
        <p:nvSpPr>
          <p:cNvPr id="13" name="future card 3"/>
          <p:cNvSpPr/>
          <p:nvPr/>
        </p:nvSpPr>
        <p:spPr>
          <a:xfrm>
            <a:off x="551383" y="1417320"/>
            <a:ext cx="3520440" cy="2103120"/>
          </a:xfrm>
          <a:prstGeom prst="roundRect">
            <a:avLst>
              <a:gd name="adj" fmla="val 5217"/>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14" name="future 3 circle"/>
          <p:cNvSpPr/>
          <p:nvPr/>
        </p:nvSpPr>
        <p:spPr>
          <a:xfrm>
            <a:off x="3157423" y="1691640"/>
            <a:ext cx="685800" cy="685800"/>
          </a:xfrm>
          <a:prstGeom prst="ellipse">
            <a:avLst/>
          </a:prstGeom>
          <a:solidFill>
            <a:schemeClr val="accent1"/>
          </a:solidFill>
          <a:ln w="12700">
            <a:solidFill>
              <a:schemeClr val="accent1"/>
            </a:solidFill>
            <a:prstDash val="solid"/>
          </a:ln>
        </p:spPr>
      </p:sp>
      <p:pic>
        <p:nvPicPr>
          <p:cNvPr id="15" name="future 3 icon" descr="preencoded.png">    </p:cNvPr>
          <p:cNvPicPr>
            <a:picLocks noChangeAspect="1"/>
          </p:cNvPicPr>
          <p:nvPr/>
        </p:nvPicPr>
        <p:blipFill>
          <a:blip r:embed="rId3"/>
          <a:stretch>
            <a:fillRect/>
          </a:stretch>
        </p:blipFill>
        <p:spPr>
          <a:xfrm>
            <a:off x="3335731" y="1869948"/>
            <a:ext cx="329184" cy="329184"/>
          </a:xfrm>
          <a:prstGeom prst="rect">
            <a:avLst/>
          </a:prstGeom>
        </p:spPr>
      </p:pic>
      <p:sp>
        <p:nvSpPr>
          <p:cNvPr id="16" name="Text 11"/>
          <p:cNvSpPr txBox="1"/>
          <p:nvPr/>
        </p:nvSpPr>
        <p:spPr>
          <a:xfrm>
            <a:off x="779983" y="2514600"/>
            <a:ext cx="3063240" cy="411480"/>
          </a:xfrm>
          <a:prstGeom prst="rect">
            <a:avLst/>
          </a:prstGeom>
          <a:noFill/>
          <a:ln/>
        </p:spPr>
        <p:txBody>
          <a:bodyPr wrap="square" lIns="0" tIns="0" rIns="0" bIns="0" rtlCol="0" anchor="t"/>
          <a:lstStyle/>
          <a:p>
            <a:pPr rtl="1" algn="r" indent="0" marL="0">
              <a:buNone/>
            </a:pPr>
            <a:r>
              <a:rPr lang="ar-SA" altLang="en-US" sz="1700" b="1" dirty="0">
                <a:solidFill>
                  <a:schemeClr val="tx2"/>
                </a:solidFill>
              </a:rPr>
              <a:t>تذكير بالإرجاع</a:t>
            </a:r>
            <a:endParaRPr lang="ar-SA" sz="1700" dirty="0"/>
          </a:p>
        </p:txBody>
      </p:sp>
      <p:sp>
        <p:nvSpPr>
          <p:cNvPr id="17" name="Text 12"/>
          <p:cNvSpPr txBox="1"/>
          <p:nvPr/>
        </p:nvSpPr>
        <p:spPr>
          <a:xfrm>
            <a:off x="779983" y="2926080"/>
            <a:ext cx="3063240" cy="457200"/>
          </a:xfrm>
          <a:prstGeom prst="rect">
            <a:avLst/>
          </a:prstGeom>
          <a:noFill/>
          <a:ln/>
        </p:spPr>
        <p:txBody>
          <a:bodyPr wrap="square" lIns="0" tIns="0" rIns="0" bIns="0" rtlCol="0" anchor="t"/>
          <a:lstStyle/>
          <a:p>
            <a:pPr rtl="1" algn="r" indent="0" marL="0">
              <a:buNone/>
            </a:pPr>
            <a:r>
              <a:rPr lang="ar-SA" altLang="en-US" sz="1400" dirty="0">
                <a:solidFill>
                  <a:schemeClr val="tx1"/>
                </a:solidFill>
              </a:rPr>
              <a:t>إشعارات Push قبل الموعد وبعده</a:t>
            </a:r>
            <a:endParaRPr lang="ar-SA" sz="1400" dirty="0"/>
          </a:p>
        </p:txBody>
      </p:sp>
      <p:sp>
        <p:nvSpPr>
          <p:cNvPr id="18" name="future card 4"/>
          <p:cNvSpPr/>
          <p:nvPr/>
        </p:nvSpPr>
        <p:spPr>
          <a:xfrm>
            <a:off x="8122615" y="3794760"/>
            <a:ext cx="3520440" cy="2103120"/>
          </a:xfrm>
          <a:prstGeom prst="roundRect">
            <a:avLst>
              <a:gd name="adj" fmla="val 5217"/>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19" name="future 4 circle"/>
          <p:cNvSpPr/>
          <p:nvPr/>
        </p:nvSpPr>
        <p:spPr>
          <a:xfrm>
            <a:off x="10728655" y="4069080"/>
            <a:ext cx="685800" cy="685800"/>
          </a:xfrm>
          <a:prstGeom prst="ellipse">
            <a:avLst/>
          </a:prstGeom>
          <a:solidFill>
            <a:schemeClr val="accent1"/>
          </a:solidFill>
          <a:ln w="12700">
            <a:solidFill>
              <a:schemeClr val="accent1"/>
            </a:solidFill>
            <a:prstDash val="solid"/>
          </a:ln>
        </p:spPr>
      </p:sp>
      <p:pic>
        <p:nvPicPr>
          <p:cNvPr id="20" name="future 4 icon" descr="preencoded.png">    </p:cNvPr>
          <p:cNvPicPr>
            <a:picLocks noChangeAspect="1"/>
          </p:cNvPicPr>
          <p:nvPr/>
        </p:nvPicPr>
        <p:blipFill>
          <a:blip r:embed="rId4"/>
          <a:stretch>
            <a:fillRect/>
          </a:stretch>
        </p:blipFill>
        <p:spPr>
          <a:xfrm>
            <a:off x="10906963" y="4247388"/>
            <a:ext cx="329184" cy="329184"/>
          </a:xfrm>
          <a:prstGeom prst="rect">
            <a:avLst/>
          </a:prstGeom>
        </p:spPr>
      </p:pic>
      <p:sp>
        <p:nvSpPr>
          <p:cNvPr id="21" name="Text 15"/>
          <p:cNvSpPr txBox="1"/>
          <p:nvPr/>
        </p:nvSpPr>
        <p:spPr>
          <a:xfrm>
            <a:off x="8351215" y="4892040"/>
            <a:ext cx="3063240" cy="411480"/>
          </a:xfrm>
          <a:prstGeom prst="rect">
            <a:avLst/>
          </a:prstGeom>
          <a:noFill/>
          <a:ln/>
        </p:spPr>
        <p:txBody>
          <a:bodyPr wrap="square" lIns="0" tIns="0" rIns="0" bIns="0" rtlCol="0" anchor="t"/>
          <a:lstStyle/>
          <a:p>
            <a:pPr rtl="1" algn="r" indent="0" marL="0">
              <a:buNone/>
            </a:pPr>
            <a:r>
              <a:rPr lang="ar-SA" altLang="en-US" sz="1700" b="1" dirty="0">
                <a:solidFill>
                  <a:schemeClr val="tx2"/>
                </a:solidFill>
              </a:rPr>
              <a:t>البحث والإرشاد الصوتي</a:t>
            </a:r>
            <a:endParaRPr lang="ar-SA" sz="1700" dirty="0"/>
          </a:p>
        </p:txBody>
      </p:sp>
      <p:sp>
        <p:nvSpPr>
          <p:cNvPr id="22" name="Text 16"/>
          <p:cNvSpPr txBox="1"/>
          <p:nvPr/>
        </p:nvSpPr>
        <p:spPr>
          <a:xfrm>
            <a:off x="8351215" y="5303520"/>
            <a:ext cx="3063240" cy="457200"/>
          </a:xfrm>
          <a:prstGeom prst="rect">
            <a:avLst/>
          </a:prstGeom>
          <a:noFill/>
          <a:ln/>
        </p:spPr>
        <p:txBody>
          <a:bodyPr wrap="square" lIns="0" tIns="0" rIns="0" bIns="0" rtlCol="0" anchor="t"/>
          <a:lstStyle/>
          <a:p>
            <a:pPr rtl="1" algn="r" indent="0" marL="0">
              <a:buNone/>
            </a:pPr>
            <a:r>
              <a:rPr lang="ar-SA" altLang="en-US" sz="1400" dirty="0">
                <a:solidFill>
                  <a:schemeClr val="tx1"/>
                </a:solidFill>
              </a:rPr>
              <a:t>لخدمة ضعاف البصر</a:t>
            </a:r>
            <a:endParaRPr lang="ar-SA" sz="1400" dirty="0"/>
          </a:p>
        </p:txBody>
      </p:sp>
      <p:sp>
        <p:nvSpPr>
          <p:cNvPr id="23" name="future card 5"/>
          <p:cNvSpPr/>
          <p:nvPr/>
        </p:nvSpPr>
        <p:spPr>
          <a:xfrm>
            <a:off x="4336999" y="3794760"/>
            <a:ext cx="3520440" cy="2103120"/>
          </a:xfrm>
          <a:prstGeom prst="roundRect">
            <a:avLst>
              <a:gd name="adj" fmla="val 5217"/>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24" name="future 5 circle"/>
          <p:cNvSpPr/>
          <p:nvPr/>
        </p:nvSpPr>
        <p:spPr>
          <a:xfrm>
            <a:off x="6943039" y="4069080"/>
            <a:ext cx="685800" cy="685800"/>
          </a:xfrm>
          <a:prstGeom prst="ellipse">
            <a:avLst/>
          </a:prstGeom>
          <a:solidFill>
            <a:schemeClr val="accent1"/>
          </a:solidFill>
          <a:ln w="12700">
            <a:solidFill>
              <a:schemeClr val="accent1"/>
            </a:solidFill>
            <a:prstDash val="solid"/>
          </a:ln>
        </p:spPr>
      </p:sp>
      <p:pic>
        <p:nvPicPr>
          <p:cNvPr id="25" name="future 5 icon" descr="preencoded.png">    </p:cNvPr>
          <p:cNvPicPr>
            <a:picLocks noChangeAspect="1"/>
          </p:cNvPicPr>
          <p:nvPr/>
        </p:nvPicPr>
        <p:blipFill>
          <a:blip r:embed="rId5"/>
          <a:stretch>
            <a:fillRect/>
          </a:stretch>
        </p:blipFill>
        <p:spPr>
          <a:xfrm>
            <a:off x="7121347" y="4247388"/>
            <a:ext cx="329184" cy="329184"/>
          </a:xfrm>
          <a:prstGeom prst="rect">
            <a:avLst/>
          </a:prstGeom>
        </p:spPr>
      </p:pic>
      <p:sp>
        <p:nvSpPr>
          <p:cNvPr id="26" name="Text 19"/>
          <p:cNvSpPr txBox="1"/>
          <p:nvPr/>
        </p:nvSpPr>
        <p:spPr>
          <a:xfrm>
            <a:off x="4565599" y="4892040"/>
            <a:ext cx="3063240" cy="411480"/>
          </a:xfrm>
          <a:prstGeom prst="rect">
            <a:avLst/>
          </a:prstGeom>
          <a:noFill/>
          <a:ln/>
        </p:spPr>
        <p:txBody>
          <a:bodyPr wrap="square" lIns="0" tIns="0" rIns="0" bIns="0" rtlCol="0" anchor="t"/>
          <a:lstStyle/>
          <a:p>
            <a:pPr rtl="1" algn="r" indent="0" marL="0">
              <a:buNone/>
            </a:pPr>
            <a:r>
              <a:rPr lang="ar-SA" altLang="en-US" sz="1700" b="1" dirty="0">
                <a:solidFill>
                  <a:schemeClr val="tx2"/>
                </a:solidFill>
              </a:rPr>
              <a:t>استيراد الفهرس</a:t>
            </a:r>
            <a:endParaRPr lang="ar-SA" sz="1700" dirty="0"/>
          </a:p>
        </p:txBody>
      </p:sp>
      <p:sp>
        <p:nvSpPr>
          <p:cNvPr id="27" name="Text 20"/>
          <p:cNvSpPr txBox="1"/>
          <p:nvPr/>
        </p:nvSpPr>
        <p:spPr>
          <a:xfrm>
            <a:off x="4565599" y="5303520"/>
            <a:ext cx="3063240" cy="457200"/>
          </a:xfrm>
          <a:prstGeom prst="rect">
            <a:avLst/>
          </a:prstGeom>
          <a:noFill/>
          <a:ln/>
        </p:spPr>
        <p:txBody>
          <a:bodyPr wrap="square" lIns="0" tIns="0" rIns="0" bIns="0" rtlCol="0" anchor="t"/>
          <a:lstStyle/>
          <a:p>
            <a:pPr rtl="1" algn="r" indent="0" marL="0">
              <a:buNone/>
            </a:pPr>
            <a:r>
              <a:rPr lang="ar-SA" altLang="en-US" sz="1400" dirty="0">
                <a:solidFill>
                  <a:schemeClr val="tx1"/>
                </a:solidFill>
              </a:rPr>
              <a:t>من Excel أو نظام المكتبة القائم</a:t>
            </a:r>
            <a:endParaRPr lang="ar-SA" sz="1400" dirty="0"/>
          </a:p>
        </p:txBody>
      </p:sp>
      <p:sp>
        <p:nvSpPr>
          <p:cNvPr id="28" name="future card 6"/>
          <p:cNvSpPr/>
          <p:nvPr/>
        </p:nvSpPr>
        <p:spPr>
          <a:xfrm>
            <a:off x="551383" y="3794760"/>
            <a:ext cx="3520440" cy="2103120"/>
          </a:xfrm>
          <a:prstGeom prst="roundRect">
            <a:avLst>
              <a:gd name="adj" fmla="val 5217"/>
            </a:avLst>
          </a:prstGeom>
          <a:solidFill>
            <a:schemeClr val="bg1"/>
          </a:solidFill>
          <a:ln w="12700">
            <a:solidFill>
              <a:srgbClr val="E3DCCC"/>
            </a:solidFill>
            <a:prstDash val="solid"/>
          </a:ln>
          <a:effectLst>
            <a:outerShdw sx="100000" sy="100000" kx="0" ky="0" algn="bl" rotWithShape="0" blurRad="101600" dist="25400" dir="5400000">
              <a:srgbClr val="000000">
                <a:alpha val="10000"/>
              </a:srgbClr>
            </a:outerShdw>
          </a:effectLst>
        </p:spPr>
      </p:sp>
      <p:sp>
        <p:nvSpPr>
          <p:cNvPr id="29" name="future 6 circle"/>
          <p:cNvSpPr/>
          <p:nvPr/>
        </p:nvSpPr>
        <p:spPr>
          <a:xfrm>
            <a:off x="3157423" y="4069080"/>
            <a:ext cx="685800" cy="685800"/>
          </a:xfrm>
          <a:prstGeom prst="ellipse">
            <a:avLst/>
          </a:prstGeom>
          <a:solidFill>
            <a:schemeClr val="accent1"/>
          </a:solidFill>
          <a:ln w="12700">
            <a:solidFill>
              <a:schemeClr val="accent1"/>
            </a:solidFill>
            <a:prstDash val="solid"/>
          </a:ln>
        </p:spPr>
      </p:sp>
      <p:pic>
        <p:nvPicPr>
          <p:cNvPr id="30" name="future 6 icon" descr="preencoded.png">    </p:cNvPr>
          <p:cNvPicPr>
            <a:picLocks noChangeAspect="1"/>
          </p:cNvPicPr>
          <p:nvPr/>
        </p:nvPicPr>
        <p:blipFill>
          <a:blip r:embed="rId6"/>
          <a:stretch>
            <a:fillRect/>
          </a:stretch>
        </p:blipFill>
        <p:spPr>
          <a:xfrm>
            <a:off x="3335731" y="4247388"/>
            <a:ext cx="329184" cy="329184"/>
          </a:xfrm>
          <a:prstGeom prst="rect">
            <a:avLst/>
          </a:prstGeom>
        </p:spPr>
      </p:pic>
      <p:sp>
        <p:nvSpPr>
          <p:cNvPr id="31" name="Text 23"/>
          <p:cNvSpPr txBox="1"/>
          <p:nvPr/>
        </p:nvSpPr>
        <p:spPr>
          <a:xfrm>
            <a:off x="779983" y="4892040"/>
            <a:ext cx="3063240" cy="411480"/>
          </a:xfrm>
          <a:prstGeom prst="rect">
            <a:avLst/>
          </a:prstGeom>
          <a:noFill/>
          <a:ln/>
        </p:spPr>
        <p:txBody>
          <a:bodyPr wrap="square" lIns="0" tIns="0" rIns="0" bIns="0" rtlCol="0" anchor="t"/>
          <a:lstStyle/>
          <a:p>
            <a:pPr rtl="1" algn="r" indent="0" marL="0">
              <a:buNone/>
            </a:pPr>
            <a:r>
              <a:rPr lang="ar-SA" altLang="en-US" sz="1700" b="1" dirty="0">
                <a:solidFill>
                  <a:schemeClr val="tx2"/>
                </a:solidFill>
              </a:rPr>
              <a:t>العمل دون اتصال</a:t>
            </a:r>
            <a:endParaRPr lang="ar-SA" sz="1700" dirty="0"/>
          </a:p>
        </p:txBody>
      </p:sp>
      <p:sp>
        <p:nvSpPr>
          <p:cNvPr id="32" name="Text 24"/>
          <p:cNvSpPr txBox="1"/>
          <p:nvPr/>
        </p:nvSpPr>
        <p:spPr>
          <a:xfrm>
            <a:off x="779983" y="5303520"/>
            <a:ext cx="3063240" cy="457200"/>
          </a:xfrm>
          <a:prstGeom prst="rect">
            <a:avLst/>
          </a:prstGeom>
          <a:noFill/>
          <a:ln/>
        </p:spPr>
        <p:txBody>
          <a:bodyPr wrap="square" lIns="0" tIns="0" rIns="0" bIns="0" rtlCol="0" anchor="t"/>
          <a:lstStyle/>
          <a:p>
            <a:pPr rtl="1" algn="r" indent="0" marL="0">
              <a:buNone/>
            </a:pPr>
            <a:r>
              <a:rPr lang="ar-SA" altLang="en-US" sz="1400" dirty="0">
                <a:solidFill>
                  <a:schemeClr val="tx1"/>
                </a:solidFill>
              </a:rPr>
              <a:t>نسخة محفوظة من الفهرس والخريطة</a:t>
            </a:r>
            <a:endParaRPr lang="ar-SA" sz="1400" dirty="0"/>
          </a:p>
        </p:txBody>
      </p:sp>
      <p:sp>
        <p:nvSpPr>
          <p:cNvPr id="25" name="Slide Number Placeholder 0"/>
          <p:cNvSpPr>
            <a:spLocks noGrp="1"/>
          </p:cNvSpPr>
          <p:nvPr>
            <p:ph type="sldNum" sz="quarter" idx="4294967295"/>
          </p:nvPr>
        </p:nvSpPr>
        <p:spPr>
          <a:xfrm>
            <a:off x="548640" y="6382512"/>
            <a:ext cx="54864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6B7470"/>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decor circle"/>
          <p:cNvSpPr/>
          <p:nvPr/>
        </p:nvSpPr>
        <p:spPr>
          <a:xfrm>
            <a:off x="8778240" y="-2194560"/>
            <a:ext cx="5486400" cy="5486400"/>
          </a:xfrm>
          <a:prstGeom prst="ellipse">
            <a:avLst/>
          </a:prstGeom>
          <a:solidFill>
            <a:schemeClr val="accent3">
              <a:alpha val="45000"/>
            </a:schemeClr>
          </a:solidFill>
          <a:ln w="12700">
            <a:solidFill>
              <a:schemeClr val="accent3">
                <a:alpha val="45000"/>
              </a:schemeClr>
            </a:solidFill>
            <a:prstDash val="solid"/>
          </a:ln>
        </p:spPr>
      </p:sp>
      <p:sp>
        <p:nvSpPr>
          <p:cNvPr id="3" name="Text 1"/>
          <p:cNvSpPr txBox="1"/>
          <p:nvPr/>
        </p:nvSpPr>
        <p:spPr>
          <a:xfrm>
            <a:off x="3200400" y="274320"/>
            <a:ext cx="5788152" cy="594360"/>
          </a:xfrm>
          <a:prstGeom prst="rect">
            <a:avLst/>
          </a:prstGeom>
          <a:noFill/>
          <a:ln/>
        </p:spPr>
        <p:txBody>
          <a:bodyPr wrap="square" lIns="0" tIns="0" rIns="0" bIns="0" rtlCol="0" anchor="ctr"/>
          <a:lstStyle/>
          <a:p>
            <a:pPr rtl="1" algn="ctr" indent="0" marL="0">
              <a:buNone/>
            </a:pPr>
            <a:r>
              <a:rPr lang="en-US" sz="3200" b="1" dirty="0">
                <a:solidFill>
                  <a:schemeClr val="bg1"/>
                </a:solidFill>
              </a:rPr>
              <a:t>العرض العملي</a:t>
            </a:r>
            <a:endParaRPr lang="en-US" sz="3200" dirty="0"/>
          </a:p>
        </p:txBody>
      </p:sp>
      <p:sp>
        <p:nvSpPr>
          <p:cNvPr id="4" name="Text 2"/>
          <p:cNvSpPr txBox="1"/>
          <p:nvPr/>
        </p:nvSpPr>
        <p:spPr>
          <a:xfrm>
            <a:off x="2286000" y="841248"/>
            <a:ext cx="7616952" cy="365760"/>
          </a:xfrm>
          <a:prstGeom prst="rect">
            <a:avLst/>
          </a:prstGeom>
          <a:noFill/>
          <a:ln/>
        </p:spPr>
        <p:txBody>
          <a:bodyPr wrap="square" lIns="0" tIns="0" rIns="0" bIns="0" rtlCol="0" anchor="ctr"/>
          <a:lstStyle/>
          <a:p>
            <a:pPr rtl="1" algn="ctr" indent="0" marL="0">
              <a:buNone/>
            </a:pPr>
            <a:r>
              <a:rPr lang="en-US" sz="1600" dirty="0">
                <a:solidFill>
                  <a:schemeClr val="accent4"/>
                </a:solidFill>
              </a:rPr>
              <a:t>من البحث عن كتاب… إلى الوصول إلى رفّه… إلى إعارته</a:t>
            </a:r>
            <a:endParaRPr lang="en-US" sz="1600" dirty="0"/>
          </a:p>
        </p:txBody>
      </p:sp>
      <p:sp>
        <p:nvSpPr>
          <p:cNvPr id="5" name="video frame"/>
          <p:cNvSpPr/>
          <p:nvPr/>
        </p:nvSpPr>
        <p:spPr>
          <a:xfrm>
            <a:off x="1450696" y="1298448"/>
            <a:ext cx="9290304" cy="5289804"/>
          </a:xfrm>
          <a:prstGeom prst="roundRect">
            <a:avLst>
              <a:gd name="adj" fmla="val 1729"/>
            </a:avLst>
          </a:prstGeom>
          <a:solidFill>
            <a:schemeClr val="accent2"/>
          </a:solidFill>
          <a:ln w="12700">
            <a:solidFill>
              <a:schemeClr val="accent2"/>
            </a:solidFill>
            <a:prstDash val="solid"/>
          </a:ln>
          <a:effectLst>
            <a:outerShdw sx="100000" sy="100000" kx="0" ky="0" algn="bl" rotWithShape="0" blurRad="152400" dist="50800" dir="5400000">
              <a:srgbClr val="000000">
                <a:alpha val="35000"/>
              </a:srgbClr>
            </a:outerShdw>
          </a:effectLst>
        </p:spPr>
      </p:sp>
      <p:pic>
        <p:nvPicPr>
          <p:cNvPr id="3" name="project 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523848" y="1371600"/>
            <a:ext cx="9144000" cy="51435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decor circle"/>
          <p:cNvSpPr/>
          <p:nvPr/>
        </p:nvSpPr>
        <p:spPr>
          <a:xfrm>
            <a:off x="-1828800" y="3566160"/>
            <a:ext cx="5943600" cy="5943600"/>
          </a:xfrm>
          <a:prstGeom prst="ellipse">
            <a:avLst/>
          </a:prstGeom>
          <a:solidFill>
            <a:schemeClr val="accent3">
              <a:alpha val="45000"/>
            </a:schemeClr>
          </a:solidFill>
          <a:ln w="12700">
            <a:solidFill>
              <a:schemeClr val="accent3">
                <a:alpha val="45000"/>
              </a:schemeClr>
            </a:solidFill>
            <a:prstDash val="solid"/>
          </a:ln>
        </p:spPr>
      </p:sp>
      <p:sp>
        <p:nvSpPr>
          <p:cNvPr id="3" name="logo card"/>
          <p:cNvSpPr/>
          <p:nvPr/>
        </p:nvSpPr>
        <p:spPr>
          <a:xfrm>
            <a:off x="822960" y="1234440"/>
            <a:ext cx="3017520" cy="3611880"/>
          </a:xfrm>
          <a:prstGeom prst="roundRect">
            <a:avLst>
              <a:gd name="adj" fmla="val 3636"/>
            </a:avLst>
          </a:prstGeom>
          <a:solidFill>
            <a:schemeClr val="bg2"/>
          </a:solidFill>
          <a:ln w="12700">
            <a:solidFill>
              <a:schemeClr val="bg2"/>
            </a:solidFill>
            <a:prstDash val="solid"/>
          </a:ln>
        </p:spPr>
      </p:sp>
      <p:pic>
        <p:nvPicPr>
          <p:cNvPr id="4" name="WUJHA logo" descr="/tmp/claude-0/-home-user-CLAUDE/0be54b07-c1ba-5b31-958a-45d5f68df334/scratchpad/deck/img/lockup.png">    </p:cNvPr>
          <p:cNvPicPr>
            <a:picLocks noChangeAspect="1"/>
          </p:cNvPicPr>
          <p:nvPr/>
        </p:nvPicPr>
        <p:blipFill>
          <a:blip r:embed="rId1"/>
          <a:stretch>
            <a:fillRect/>
          </a:stretch>
        </p:blipFill>
        <p:spPr>
          <a:xfrm>
            <a:off x="1188720" y="1463040"/>
            <a:ext cx="2286000" cy="2724912"/>
          </a:xfrm>
          <a:prstGeom prst="rect">
            <a:avLst/>
          </a:prstGeom>
        </p:spPr>
      </p:pic>
      <p:sp>
        <p:nvSpPr>
          <p:cNvPr id="5" name="Text 2"/>
          <p:cNvSpPr txBox="1"/>
          <p:nvPr/>
        </p:nvSpPr>
        <p:spPr>
          <a:xfrm>
            <a:off x="4480560" y="1097280"/>
            <a:ext cx="7159752" cy="1005840"/>
          </a:xfrm>
          <a:prstGeom prst="rect">
            <a:avLst/>
          </a:prstGeom>
          <a:noFill/>
          <a:ln/>
        </p:spPr>
        <p:txBody>
          <a:bodyPr wrap="square" lIns="0" tIns="0" rIns="0" bIns="0" rtlCol="0" anchor="ctr"/>
          <a:lstStyle/>
          <a:p>
            <a:pPr rtl="1" algn="r" indent="0" marL="0">
              <a:buNone/>
            </a:pPr>
            <a:r>
              <a:rPr lang="en-US" sz="5600" b="1" dirty="0">
                <a:solidFill>
                  <a:schemeClr val="bg1"/>
                </a:solidFill>
              </a:rPr>
              <a:t>شكرًا لكم</a:t>
            </a:r>
            <a:endParaRPr lang="en-US" sz="5600" dirty="0"/>
          </a:p>
        </p:txBody>
      </p:sp>
      <p:pic>
        <p:nvPicPr>
          <p:cNvPr id="6" name="check 1" descr="preencoded.png">    </p:cNvPr>
          <p:cNvPicPr>
            <a:picLocks noChangeAspect="1"/>
          </p:cNvPicPr>
          <p:nvPr/>
        </p:nvPicPr>
        <p:blipFill>
          <a:blip r:embed="rId2"/>
          <a:stretch>
            <a:fillRect/>
          </a:stretch>
        </p:blipFill>
        <p:spPr>
          <a:xfrm>
            <a:off x="11320272" y="2386584"/>
            <a:ext cx="320040" cy="320040"/>
          </a:xfrm>
          <a:prstGeom prst="rect">
            <a:avLst/>
          </a:prstGeom>
        </p:spPr>
      </p:pic>
      <p:sp>
        <p:nvSpPr>
          <p:cNvPr id="7" name="Text 3"/>
          <p:cNvSpPr txBox="1"/>
          <p:nvPr/>
        </p:nvSpPr>
        <p:spPr>
          <a:xfrm>
            <a:off x="4480560" y="2331720"/>
            <a:ext cx="6675120" cy="457200"/>
          </a:xfrm>
          <a:prstGeom prst="rect">
            <a:avLst/>
          </a:prstGeom>
          <a:noFill/>
          <a:ln/>
        </p:spPr>
        <p:txBody>
          <a:bodyPr wrap="square" lIns="0" tIns="0" rIns="0" bIns="0" rtlCol="0" anchor="ctr"/>
          <a:lstStyle/>
          <a:p>
            <a:pPr rtl="1" algn="r" indent="0" marL="0">
              <a:buNone/>
            </a:pPr>
            <a:r>
              <a:rPr lang="ar-SA" altLang="en-US" sz="1800" dirty="0">
                <a:solidFill>
                  <a:schemeClr val="bg1"/>
                </a:solidFill>
              </a:rPr>
              <a:t>تطبيقان متكاملان على قاعدة بيانات واحدة</a:t>
            </a:r>
            <a:endParaRPr lang="ar-SA" sz="1800" dirty="0"/>
          </a:p>
        </p:txBody>
      </p:sp>
      <p:pic>
        <p:nvPicPr>
          <p:cNvPr id="8" name="check 2" descr="preencoded.png">    </p:cNvPr>
          <p:cNvPicPr>
            <a:picLocks noChangeAspect="1"/>
          </p:cNvPicPr>
          <p:nvPr/>
        </p:nvPicPr>
        <p:blipFill>
          <a:blip r:embed="rId3"/>
          <a:stretch>
            <a:fillRect/>
          </a:stretch>
        </p:blipFill>
        <p:spPr>
          <a:xfrm>
            <a:off x="11320272" y="2935224"/>
            <a:ext cx="320040" cy="320040"/>
          </a:xfrm>
          <a:prstGeom prst="rect">
            <a:avLst/>
          </a:prstGeom>
        </p:spPr>
      </p:pic>
      <p:sp>
        <p:nvSpPr>
          <p:cNvPr id="9" name="Text 4"/>
          <p:cNvSpPr txBox="1"/>
          <p:nvPr/>
        </p:nvSpPr>
        <p:spPr>
          <a:xfrm>
            <a:off x="4480560" y="2880360"/>
            <a:ext cx="6675120" cy="457200"/>
          </a:xfrm>
          <a:prstGeom prst="rect">
            <a:avLst/>
          </a:prstGeom>
          <a:noFill/>
          <a:ln/>
        </p:spPr>
        <p:txBody>
          <a:bodyPr wrap="square" lIns="0" tIns="0" rIns="0" bIns="0" rtlCol="0" anchor="ctr"/>
          <a:lstStyle/>
          <a:p>
            <a:pPr rtl="1" algn="r" indent="0" marL="0">
              <a:buNone/>
            </a:pPr>
            <a:r>
              <a:rPr lang="ar-SA" altLang="en-US" sz="1800" dirty="0">
                <a:solidFill>
                  <a:schemeClr val="bg1"/>
                </a:solidFill>
              </a:rPr>
              <a:t>مبنى يُعرَّف كبيانات، وخريطة وطريق يُحسبان منه</a:t>
            </a:r>
            <a:endParaRPr lang="ar-SA" sz="1800" dirty="0"/>
          </a:p>
        </p:txBody>
      </p:sp>
      <p:pic>
        <p:nvPicPr>
          <p:cNvPr id="10" name="check 3" descr="preencoded.png">    </p:cNvPr>
          <p:cNvPicPr>
            <a:picLocks noChangeAspect="1"/>
          </p:cNvPicPr>
          <p:nvPr/>
        </p:nvPicPr>
        <p:blipFill>
          <a:blip r:embed="rId4"/>
          <a:stretch>
            <a:fillRect/>
          </a:stretch>
        </p:blipFill>
        <p:spPr>
          <a:xfrm>
            <a:off x="11320272" y="3483864"/>
            <a:ext cx="320040" cy="320040"/>
          </a:xfrm>
          <a:prstGeom prst="rect">
            <a:avLst/>
          </a:prstGeom>
        </p:spPr>
      </p:pic>
      <p:sp>
        <p:nvSpPr>
          <p:cNvPr id="11" name="Text 5"/>
          <p:cNvSpPr txBox="1"/>
          <p:nvPr/>
        </p:nvSpPr>
        <p:spPr>
          <a:xfrm>
            <a:off x="4480560" y="3429000"/>
            <a:ext cx="6675120" cy="457200"/>
          </a:xfrm>
          <a:prstGeom prst="rect">
            <a:avLst/>
          </a:prstGeom>
          <a:noFill/>
          <a:ln/>
        </p:spPr>
        <p:txBody>
          <a:bodyPr wrap="square" lIns="0" tIns="0" rIns="0" bIns="0" rtlCol="0" anchor="ctr"/>
          <a:lstStyle/>
          <a:p>
            <a:pPr rtl="1" algn="r" indent="0" marL="0">
              <a:buNone/>
            </a:pPr>
            <a:r>
              <a:rPr lang="ar-SA" altLang="en-US" sz="1800" dirty="0">
                <a:solidFill>
                  <a:schemeClr val="bg1"/>
                </a:solidFill>
              </a:rPr>
              <a:t>دورة إعارة رقمية آمنة من الطلب إلى الإرجاع</a:t>
            </a:r>
            <a:endParaRPr lang="ar-SA" sz="1800" dirty="0"/>
          </a:p>
        </p:txBody>
      </p:sp>
      <p:pic>
        <p:nvPicPr>
          <p:cNvPr id="12" name="check 4" descr="preencoded.png">    </p:cNvPr>
          <p:cNvPicPr>
            <a:picLocks noChangeAspect="1"/>
          </p:cNvPicPr>
          <p:nvPr/>
        </p:nvPicPr>
        <p:blipFill>
          <a:blip r:embed="rId5"/>
          <a:stretch>
            <a:fillRect/>
          </a:stretch>
        </p:blipFill>
        <p:spPr>
          <a:xfrm>
            <a:off x="11320272" y="4032504"/>
            <a:ext cx="320040" cy="320040"/>
          </a:xfrm>
          <a:prstGeom prst="rect">
            <a:avLst/>
          </a:prstGeom>
        </p:spPr>
      </p:pic>
      <p:sp>
        <p:nvSpPr>
          <p:cNvPr id="13" name="Text 6"/>
          <p:cNvSpPr txBox="1"/>
          <p:nvPr/>
        </p:nvSpPr>
        <p:spPr>
          <a:xfrm>
            <a:off x="4480560" y="3977640"/>
            <a:ext cx="6675120" cy="457200"/>
          </a:xfrm>
          <a:prstGeom prst="rect">
            <a:avLst/>
          </a:prstGeom>
          <a:noFill/>
          <a:ln/>
        </p:spPr>
        <p:txBody>
          <a:bodyPr wrap="square" lIns="0" tIns="0" rIns="0" bIns="0" rtlCol="0" anchor="ctr"/>
          <a:lstStyle/>
          <a:p>
            <a:pPr rtl="1" algn="r" indent="0" marL="0">
              <a:buNone/>
            </a:pPr>
            <a:r>
              <a:rPr lang="ar-SA" altLang="en-US" sz="1800" dirty="0">
                <a:solidFill>
                  <a:schemeClr val="bg1"/>
                </a:solidFill>
              </a:rPr>
              <a:t>صلاحيات على الخادم، ولغتان ومظهران، وتكلفة صفر</a:t>
            </a:r>
            <a:endParaRPr lang="ar-SA" sz="1800" dirty="0"/>
          </a:p>
        </p:txBody>
      </p:sp>
      <p:sp>
        <p:nvSpPr>
          <p:cNvPr id="14" name="Text 7"/>
          <p:cNvSpPr txBox="1"/>
          <p:nvPr/>
        </p:nvSpPr>
        <p:spPr>
          <a:xfrm>
            <a:off x="4480560" y="4800600"/>
            <a:ext cx="7159752" cy="548640"/>
          </a:xfrm>
          <a:prstGeom prst="rect">
            <a:avLst/>
          </a:prstGeom>
          <a:noFill/>
          <a:ln/>
        </p:spPr>
        <p:txBody>
          <a:bodyPr wrap="square" lIns="0" tIns="0" rIns="0" bIns="0" rtlCol="0" anchor="ctr"/>
          <a:lstStyle/>
          <a:p>
            <a:pPr rtl="1" algn="r" indent="0" marL="0">
              <a:buNone/>
            </a:pPr>
            <a:r>
              <a:rPr lang="en-US" sz="2400" b="1" dirty="0">
                <a:solidFill>
                  <a:schemeClr val="accent2"/>
                </a:solidFill>
              </a:rPr>
              <a:t>يسعدنا الإجابة عن أسئلتكم</a:t>
            </a:r>
            <a:endParaRPr lang="en-US" sz="2400" dirty="0"/>
          </a:p>
        </p:txBody>
      </p:sp>
    </p:spTree>
  </p:cSld>
  <p:clrMapOvr>
    <a:masterClrMapping/>
  </p:clrMapOvr>
</p:sld>
</file>

<file path=ppt/theme/theme1.xml><?xml version="1.0" encoding="utf-8"?>
<a:theme xmlns:a="http://schemas.openxmlformats.org/drawingml/2006/main" name="WUJHA">
  <a:themeElements>
    <a:clrScheme name="WUJHA">
      <a:dk1>
        <a:srgbClr val="2E3A36"/>
      </a:dk1>
      <a:lt1>
        <a:srgbClr val="FFFFFF"/>
      </a:lt1>
      <a:dk2>
        <a:srgbClr val="1F4E46"/>
      </a:dk2>
      <a:lt2>
        <a:srgbClr val="F7F5EE"/>
      </a:lt2>
      <a:accent1>
        <a:srgbClr val="1F4E46"/>
      </a:accent1>
      <a:accent2>
        <a:srgbClr val="B08D5E"/>
      </a:accent2>
      <a:accent3>
        <a:srgbClr val="2F6B5B"/>
      </a:accent3>
      <a:accent4>
        <a:srgbClr val="A7C9B1"/>
      </a:accent4>
      <a:accent5>
        <a:srgbClr val="D9C9B2"/>
      </a:accent5>
      <a:accent6>
        <a:srgbClr val="8B8B8B"/>
      </a:accent6>
      <a:hlink>
        <a:srgbClr val="2F6B5B"/>
      </a:hlink>
      <a:folHlink>
        <a:srgbClr val="8E7048"/>
      </a:folHlink>
    </a:clrScheme>
    <a:fontScheme name="WUJH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وِجهة — المرشد الذكي للمكتبة</dc:title>
  <dc:subject>مناقشة مشروع التخرج</dc:subject>
  <dc:creator>فريق مشروع وِجهة</dc:creator>
  <cp:lastModifiedBy>فريق مشروع وِجهة</cp:lastModifiedBy>
  <cp:revision>1</cp:revision>
  <dcterms:created xsi:type="dcterms:W3CDTF">2026-10-18T11:51:11Z</dcterms:created>
  <dcterms:modified xsi:type="dcterms:W3CDTF">2026-10-18T11:51:11Z</dcterms:modified>
</cp:coreProperties>
</file>