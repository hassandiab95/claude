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cd904f3-3c98-ca7d-162b-53e5b873e07c}">
          <p14:sldIdLst>
            <p14:sldId id="256"/>
            <p14:sldId id="257"/>
          </p14:sldIdLst>
        </p14:section>
        <p14:section name="ABAP Objects" id="{ade5c8a8-90ac-38ac-f3bb-55d86b7ba68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OData &amp; SAP Gateway" id="{65c40843-f54a-e198-00e8-1a486848022b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DS-based OData &amp; RAP" id="{63cc6310-81cc-a27f-50ea-bd0a649fc58f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Interview &amp; Practice" id="{7dbab0aa-307b-56da-b1bb-61437bc6c278}">
          <p14:sldIdLst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summary of the detailed PDF study guide. Each slide maps to a chapter in the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86868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377440"/>
            <a:ext cx="9144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ABAP Objects &amp; OData — 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Circle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coDot"/>
          <p:cNvSpPr/>
          <p:nvPr/>
        </p:nvSpPr>
        <p:spPr>
          <a:xfrm>
            <a:off x="9418320" y="384048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031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ABAP Objects &amp; OData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931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Summary deck — from beginner to advanced: concepts, code, practice and interview prep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Roadmap: four parts, six weeks</a:t>
            </a:r>
            <a:endParaRPr lang="en-US" sz="3200" dirty="0"/>
          </a:p>
        </p:txBody>
      </p:sp>
      <p:sp>
        <p:nvSpPr>
          <p:cNvPr id="3" name="card_1"/>
          <p:cNvSpPr/>
          <p:nvPr/>
        </p:nvSpPr>
        <p:spPr>
          <a:xfrm>
            <a:off x="548640" y="1417320"/>
            <a:ext cx="2633472" cy="292608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2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3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4"/>
          <p:cNvSpPr txBox="1"/>
          <p:nvPr/>
        </p:nvSpPr>
        <p:spPr>
          <a:xfrm>
            <a:off x="1280160" y="158191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ABAP Objects</a:t>
            </a:r>
            <a:endParaRPr lang="en-US" sz="1700" dirty="0"/>
          </a:p>
        </p:txBody>
      </p:sp>
      <p:sp>
        <p:nvSpPr>
          <p:cNvPr id="7" name="cardBody_5"/>
          <p:cNvSpPr txBox="1"/>
          <p:nvPr/>
        </p:nvSpPr>
        <p:spPr>
          <a:xfrm>
            <a:off x="731520" y="2130552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Classes, inheritance, interfaces, events, exceptions, patterns, unit tests</a:t>
            </a:r>
            <a:endParaRPr lang="en-US" sz="1500" dirty="0"/>
          </a:p>
        </p:txBody>
      </p:sp>
      <p:sp>
        <p:nvSpPr>
          <p:cNvPr id="8" name="card_6"/>
          <p:cNvSpPr/>
          <p:nvPr/>
        </p:nvSpPr>
        <p:spPr>
          <a:xfrm>
            <a:off x="3364992" y="1417320"/>
            <a:ext cx="2633472" cy="292608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7"/>
          <p:cNvSpPr/>
          <p:nvPr/>
        </p:nvSpPr>
        <p:spPr>
          <a:xfrm>
            <a:off x="3547872" y="1600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Text_8"/>
          <p:cNvSpPr txBox="1"/>
          <p:nvPr/>
        </p:nvSpPr>
        <p:spPr>
          <a:xfrm>
            <a:off x="3547872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9"/>
          <p:cNvSpPr txBox="1"/>
          <p:nvPr/>
        </p:nvSpPr>
        <p:spPr>
          <a:xfrm>
            <a:off x="4096512" y="158191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OData &amp; Gateway</a:t>
            </a:r>
            <a:endParaRPr lang="en-US" sz="1700" dirty="0"/>
          </a:p>
        </p:txBody>
      </p:sp>
      <p:sp>
        <p:nvSpPr>
          <p:cNvPr id="12" name="cardBody_10"/>
          <p:cNvSpPr txBox="1"/>
          <p:nvPr/>
        </p:nvSpPr>
        <p:spPr>
          <a:xfrm>
            <a:off x="3547872" y="2130552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REST, EDM, SEGW, CRUD, query options, $expand, deep insert, $batch</a:t>
            </a:r>
            <a:endParaRPr lang="en-US" sz="1500" dirty="0"/>
          </a:p>
        </p:txBody>
      </p:sp>
      <p:sp>
        <p:nvSpPr>
          <p:cNvPr id="13" name="card_11"/>
          <p:cNvSpPr/>
          <p:nvPr/>
        </p:nvSpPr>
        <p:spPr>
          <a:xfrm>
            <a:off x="6181344" y="1417320"/>
            <a:ext cx="2633472" cy="292608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12"/>
          <p:cNvSpPr/>
          <p:nvPr/>
        </p:nvSpPr>
        <p:spPr>
          <a:xfrm>
            <a:off x="6364224" y="160020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Text_13"/>
          <p:cNvSpPr txBox="1"/>
          <p:nvPr/>
        </p:nvSpPr>
        <p:spPr>
          <a:xfrm>
            <a:off x="6364224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Head_14"/>
          <p:cNvSpPr txBox="1"/>
          <p:nvPr/>
        </p:nvSpPr>
        <p:spPr>
          <a:xfrm>
            <a:off x="6912864" y="158191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CDS &amp; RAP</a:t>
            </a:r>
            <a:endParaRPr lang="en-US" sz="1700" dirty="0"/>
          </a:p>
        </p:txBody>
      </p:sp>
      <p:sp>
        <p:nvSpPr>
          <p:cNvPr id="17" name="cardBody_15"/>
          <p:cNvSpPr txBox="1"/>
          <p:nvPr/>
        </p:nvSpPr>
        <p:spPr>
          <a:xfrm>
            <a:off x="6364224" y="2130552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CDS-based services, RAP layers, EML, OData V4</a:t>
            </a:r>
            <a:endParaRPr lang="en-US" sz="1500" dirty="0"/>
          </a:p>
        </p:txBody>
      </p:sp>
      <p:sp>
        <p:nvSpPr>
          <p:cNvPr id="18" name="card_16"/>
          <p:cNvSpPr/>
          <p:nvPr/>
        </p:nvSpPr>
        <p:spPr>
          <a:xfrm>
            <a:off x="8997696" y="1417320"/>
            <a:ext cx="2633472" cy="292608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17"/>
          <p:cNvSpPr/>
          <p:nvPr/>
        </p:nvSpPr>
        <p:spPr>
          <a:xfrm>
            <a:off x="9180576" y="16002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badgeText_18"/>
          <p:cNvSpPr txBox="1"/>
          <p:nvPr/>
        </p:nvSpPr>
        <p:spPr>
          <a:xfrm>
            <a:off x="9180576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Head_19"/>
          <p:cNvSpPr txBox="1"/>
          <p:nvPr/>
        </p:nvSpPr>
        <p:spPr>
          <a:xfrm>
            <a:off x="9729216" y="158191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Interview &amp; practice</a:t>
            </a:r>
            <a:endParaRPr lang="en-US" sz="1700" dirty="0"/>
          </a:p>
        </p:txBody>
      </p:sp>
      <p:sp>
        <p:nvSpPr>
          <p:cNvPr id="22" name="cardBody_20"/>
          <p:cNvSpPr txBox="1"/>
          <p:nvPr/>
        </p:nvSpPr>
        <p:spPr>
          <a:xfrm>
            <a:off x="9180576" y="2130552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Top questions, labs per concept, capstone project</a:t>
            </a:r>
            <a:endParaRPr lang="en-US" sz="1500" dirty="0"/>
          </a:p>
        </p:txBody>
      </p:sp>
      <p:sp>
        <p:nvSpPr>
          <p:cNvPr id="23" name="noteBg_21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note_22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Rhythm for every topic: Concept → Syntax &amp; example → Watch-outs → Practical lab with solution. The PDF holds the full detail; this deck is your revision sheet.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adge_23"/>
          <p:cNvSpPr/>
          <p:nvPr/>
        </p:nvSpPr>
        <p:spPr>
          <a:xfrm>
            <a:off x="731520" y="2514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Num_24"/>
          <p:cNvSpPr txBox="1"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ABAP Objects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Classes · Inheritance · Polymorphism · Interfaces · Events · Exceptions · Patterns · Unit tests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OO ABAP? The four pillars</a:t>
            </a:r>
            <a:endParaRPr lang="en-US" sz="3200" dirty="0"/>
          </a:p>
        </p:txBody>
      </p:sp>
      <p:sp>
        <p:nvSpPr>
          <p:cNvPr id="3" name="card_25"/>
          <p:cNvSpPr/>
          <p:nvPr/>
        </p:nvSpPr>
        <p:spPr>
          <a:xfrm>
            <a:off x="54864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26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27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6" name="cardHead_28"/>
          <p:cNvSpPr txBox="1"/>
          <p:nvPr/>
        </p:nvSpPr>
        <p:spPr>
          <a:xfrm>
            <a:off x="1280160" y="1536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Encapsulation</a:t>
            </a:r>
            <a:endParaRPr lang="en-US" sz="1700" dirty="0"/>
          </a:p>
        </p:txBody>
      </p:sp>
      <p:sp>
        <p:nvSpPr>
          <p:cNvPr id="7" name="cardBody_29"/>
          <p:cNvSpPr txBox="1"/>
          <p:nvPr/>
        </p:nvSpPr>
        <p:spPr>
          <a:xfrm>
            <a:off x="731520" y="208483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Objects hide their data; changes go through methods that protect the rules.</a:t>
            </a:r>
            <a:endParaRPr lang="en-US" sz="1500" dirty="0"/>
          </a:p>
        </p:txBody>
      </p:sp>
      <p:sp>
        <p:nvSpPr>
          <p:cNvPr id="8" name="card_30"/>
          <p:cNvSpPr/>
          <p:nvPr/>
        </p:nvSpPr>
        <p:spPr>
          <a:xfrm>
            <a:off x="420624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31"/>
          <p:cNvSpPr/>
          <p:nvPr/>
        </p:nvSpPr>
        <p:spPr>
          <a:xfrm>
            <a:off x="43891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Text_32"/>
          <p:cNvSpPr txBox="1"/>
          <p:nvPr/>
        </p:nvSpPr>
        <p:spPr>
          <a:xfrm>
            <a:off x="43891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cardHead_33"/>
          <p:cNvSpPr txBox="1"/>
          <p:nvPr/>
        </p:nvSpPr>
        <p:spPr>
          <a:xfrm>
            <a:off x="4937760" y="1536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Abstraction</a:t>
            </a:r>
            <a:endParaRPr lang="en-US" sz="1700" dirty="0"/>
          </a:p>
        </p:txBody>
      </p:sp>
      <p:sp>
        <p:nvSpPr>
          <p:cNvPr id="12" name="cardBody_34"/>
          <p:cNvSpPr txBox="1"/>
          <p:nvPr/>
        </p:nvSpPr>
        <p:spPr>
          <a:xfrm>
            <a:off x="4389120" y="208483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what an object does, not how: lo_printer-&gt;print( ).</a:t>
            </a:r>
            <a:endParaRPr lang="en-US" sz="1500" dirty="0"/>
          </a:p>
        </p:txBody>
      </p:sp>
      <p:sp>
        <p:nvSpPr>
          <p:cNvPr id="13" name="card_35"/>
          <p:cNvSpPr/>
          <p:nvPr/>
        </p:nvSpPr>
        <p:spPr>
          <a:xfrm>
            <a:off x="548640" y="361188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36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Text_37"/>
          <p:cNvSpPr txBox="1"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</a:t>
            </a:r>
            <a:endParaRPr lang="en-US" sz="1200" dirty="0"/>
          </a:p>
        </p:txBody>
      </p:sp>
      <p:sp>
        <p:nvSpPr>
          <p:cNvPr id="16" name="cardHead_38"/>
          <p:cNvSpPr txBox="1"/>
          <p:nvPr/>
        </p:nvSpPr>
        <p:spPr>
          <a:xfrm>
            <a:off x="1280160" y="37764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Inheritance</a:t>
            </a:r>
            <a:endParaRPr lang="en-US" sz="1700" dirty="0"/>
          </a:p>
        </p:txBody>
      </p:sp>
      <p:sp>
        <p:nvSpPr>
          <p:cNvPr id="17" name="cardBody_39"/>
          <p:cNvSpPr txBox="1"/>
          <p:nvPr/>
        </p:nvSpPr>
        <p:spPr>
          <a:xfrm>
            <a:off x="731520" y="43251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subclass reuses and specialises its superclass (ZCL_TRUCK → ZCL_VEHICLE).</a:t>
            </a:r>
            <a:endParaRPr lang="en-US" sz="1500" dirty="0"/>
          </a:p>
        </p:txBody>
      </p:sp>
      <p:sp>
        <p:nvSpPr>
          <p:cNvPr id="18" name="card_40"/>
          <p:cNvSpPr/>
          <p:nvPr/>
        </p:nvSpPr>
        <p:spPr>
          <a:xfrm>
            <a:off x="4206240" y="361188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41"/>
          <p:cNvSpPr/>
          <p:nvPr/>
        </p:nvSpPr>
        <p:spPr>
          <a:xfrm>
            <a:off x="4389120" y="3794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Text_42"/>
          <p:cNvSpPr txBox="1"/>
          <p:nvPr/>
        </p:nvSpPr>
        <p:spPr>
          <a:xfrm>
            <a:off x="43891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</a:t>
            </a:r>
            <a:endParaRPr lang="en-US" sz="1200" dirty="0"/>
          </a:p>
        </p:txBody>
      </p:sp>
      <p:sp>
        <p:nvSpPr>
          <p:cNvPr id="21" name="cardHead_43"/>
          <p:cNvSpPr txBox="1"/>
          <p:nvPr/>
        </p:nvSpPr>
        <p:spPr>
          <a:xfrm>
            <a:off x="4937760" y="37764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Polymorphism</a:t>
            </a:r>
            <a:endParaRPr lang="en-US" sz="1700" dirty="0"/>
          </a:p>
        </p:txBody>
      </p:sp>
      <p:sp>
        <p:nvSpPr>
          <p:cNvPr id="22" name="cardBody_44"/>
          <p:cNvSpPr txBox="1"/>
          <p:nvPr/>
        </p:nvSpPr>
        <p:spPr>
          <a:xfrm>
            <a:off x="4389120" y="43251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 call, many behaviours – resolved at runtime by the real object type.</a:t>
            </a:r>
            <a:endParaRPr lang="en-US" sz="1500" dirty="0"/>
          </a:p>
        </p:txBody>
      </p:sp>
      <p:sp>
        <p:nvSpPr>
          <p:cNvPr id="23" name="whyHead"/>
          <p:cNvSpPr txBox="1"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Everything new in SAP is OO</a:t>
            </a:r>
            <a:endParaRPr lang="en-US" sz="1800" dirty="0"/>
          </a:p>
        </p:txBody>
      </p:sp>
      <p:sp>
        <p:nvSpPr>
          <p:cNvPr id="24" name="bullets_45"/>
          <p:cNvSpPr txBox="1"/>
          <p:nvPr/>
        </p:nvSpPr>
        <p:spPr>
          <a:xfrm>
            <a:off x="8138160" y="1920240"/>
            <a:ext cx="3474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BAdIs and enhancement spots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SALV / ALV grid events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Gateway DPC &amp; MPC classes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RAP behavior pools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AMDP, Workflow, ABAP Unit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Anatomy of a class</a:t>
            </a:r>
            <a:endParaRPr lang="en-US" sz="3200" dirty="0"/>
          </a:p>
        </p:txBody>
      </p:sp>
      <p:sp>
        <p:nvSpPr>
          <p:cNvPr id="3" name="codeBg_46"/>
          <p:cNvSpPr/>
          <p:nvPr/>
        </p:nvSpPr>
        <p:spPr>
          <a:xfrm>
            <a:off x="548640" y="1325880"/>
            <a:ext cx="6766560" cy="4800600"/>
          </a:xfrm>
          <a:prstGeom prst="roundRect">
            <a:avLst>
              <a:gd name="adj" fmla="val 1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_47"/>
          <p:cNvSpPr txBox="1"/>
          <p:nvPr/>
        </p:nvSpPr>
        <p:spPr>
          <a:xfrm>
            <a:off x="731520" y="1435608"/>
            <a:ext cx="6400800" cy="4581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lcl_account DEFINITION.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constructor IMPORTING iv_owner TYPE string.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deposit IMPORTING iv_amount TYPE 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get_balance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RETURNING VALUE(rv) TYPE decfloat34.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CLASS-DATA gv_count TYPE i READ-ONLY.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mv_balance TYPE decfloat34.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lcl_account IMPLEMENTATION.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deposit.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mv_balance += iv_amount.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ENDMETHOD.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DATA(lo) = NEW lcl_account( 'Hassan' 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lo-&gt;deposit( 500 ).          " instance: 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lcl_account=&gt;gv_count. " static:   =&gt;</a:t>
            </a:r>
            <a:endParaRPr lang="en-US" sz="1200" dirty="0"/>
          </a:p>
        </p:txBody>
      </p:sp>
      <p:graphicFrame>
        <p:nvGraphicFramePr>
          <p:cNvPr id="6" name="table_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2588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Visible 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PUBLIC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PROTECTED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+ subclasses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PRIVATE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Class (+ friends)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bullets_49"/>
          <p:cNvSpPr txBox="1"/>
          <p:nvPr/>
        </p:nvSpPr>
        <p:spPr>
          <a:xfrm>
            <a:off x="7589520" y="324612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is fixed: PUBLIC → PROTECTED → PRIVATE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RETURNING = functional method, usable in expressions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Static members: CLASS-DATA / CLASS-METHODS, no me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 BOUND before using a reference that may be initial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Constructors: instance vs. static</a:t>
            </a:r>
            <a:endParaRPr lang="en-US" sz="3200" dirty="0"/>
          </a:p>
        </p:txBody>
      </p:sp>
      <p:sp>
        <p:nvSpPr>
          <p:cNvPr id="3" name="card_50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51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52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53"/>
          <p:cNvSpPr txBox="1"/>
          <p:nvPr/>
        </p:nvSpPr>
        <p:spPr>
          <a:xfrm>
            <a:off x="1280160" y="1536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constructor (instance)</a:t>
            </a:r>
            <a:endParaRPr lang="en-US" sz="1700" dirty="0"/>
          </a:p>
        </p:txBody>
      </p:sp>
      <p:sp>
        <p:nvSpPr>
          <p:cNvPr id="7" name="cardBody_54"/>
          <p:cNvSpPr txBox="1"/>
          <p:nvPr/>
        </p:nvSpPr>
        <p:spPr>
          <a:xfrm>
            <a:off x="731520" y="2084832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Runs once per object on NEW / CREATE OBJECT. IMPORTING parameters + exceptions only. Subclass must call super-&gt;constructor( ) first.</a:t>
            </a:r>
            <a:endParaRPr lang="en-US" sz="1500" dirty="0"/>
          </a:p>
        </p:txBody>
      </p:sp>
      <p:sp>
        <p:nvSpPr>
          <p:cNvPr id="8" name="card_55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56"/>
          <p:cNvSpPr/>
          <p:nvPr/>
        </p:nvSpPr>
        <p:spPr>
          <a:xfrm>
            <a:off x="6400800" y="1554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Text_57"/>
          <p:cNvSpPr txBox="1"/>
          <p:nvPr/>
        </p:nvSpPr>
        <p:spPr>
          <a:xfrm>
            <a:off x="64008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58"/>
          <p:cNvSpPr txBox="1"/>
          <p:nvPr/>
        </p:nvSpPr>
        <p:spPr>
          <a:xfrm>
            <a:off x="6949440" y="1536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class_constructor (static)</a:t>
            </a:r>
            <a:endParaRPr lang="en-US" sz="1700" dirty="0"/>
          </a:p>
        </p:txBody>
      </p:sp>
      <p:sp>
        <p:nvSpPr>
          <p:cNvPr id="12" name="cardBody_59"/>
          <p:cNvSpPr txBox="1"/>
          <p:nvPr/>
        </p:nvSpPr>
        <p:spPr>
          <a:xfrm>
            <a:off x="6400800" y="2084832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Runs once per class per internal session, before first access. No parameters. Use for buffers / customizing reads.</a:t>
            </a:r>
            <a:endParaRPr lang="en-US" sz="1500" dirty="0"/>
          </a:p>
        </p:txBody>
      </p:sp>
      <p:sp>
        <p:nvSpPr>
          <p:cNvPr id="13" name="ctorFlowHead"/>
          <p:cNvSpPr txBox="1"/>
          <p:nvPr/>
        </p:nvSpPr>
        <p:spPr>
          <a:xfrm>
            <a:off x="548640" y="3977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Creating a subclass object</a:t>
            </a:r>
            <a:endParaRPr lang="en-US" sz="1800" dirty="0"/>
          </a:p>
        </p:txBody>
      </p:sp>
      <p:sp>
        <p:nvSpPr>
          <p:cNvPr id="14" name="flowBox_60"/>
          <p:cNvSpPr/>
          <p:nvPr/>
        </p:nvSpPr>
        <p:spPr>
          <a:xfrm>
            <a:off x="548640" y="45262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lowText_61"/>
          <p:cNvSpPr txBox="1"/>
          <p:nvPr/>
        </p:nvSpPr>
        <p:spPr>
          <a:xfrm>
            <a:off x="621792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Parent static</a:t>
            </a:r>
            <a:endParaRPr lang="en-US" sz="1300" dirty="0"/>
          </a:p>
        </p:txBody>
      </p:sp>
      <p:sp>
        <p:nvSpPr>
          <p:cNvPr id="16" name="arrow_62"/>
          <p:cNvSpPr txBox="1"/>
          <p:nvPr/>
        </p:nvSpPr>
        <p:spPr>
          <a:xfrm>
            <a:off x="2560320" y="45262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flowBox_63"/>
          <p:cNvSpPr/>
          <p:nvPr/>
        </p:nvSpPr>
        <p:spPr>
          <a:xfrm>
            <a:off x="2816352" y="45262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flowText_64"/>
          <p:cNvSpPr txBox="1"/>
          <p:nvPr/>
        </p:nvSpPr>
        <p:spPr>
          <a:xfrm>
            <a:off x="2889504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Child static</a:t>
            </a:r>
            <a:endParaRPr lang="en-US" sz="1300" dirty="0"/>
          </a:p>
        </p:txBody>
      </p:sp>
      <p:sp>
        <p:nvSpPr>
          <p:cNvPr id="19" name="arrow_65"/>
          <p:cNvSpPr txBox="1"/>
          <p:nvPr/>
        </p:nvSpPr>
        <p:spPr>
          <a:xfrm>
            <a:off x="4828032" y="45262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20" name="flowBox_66"/>
          <p:cNvSpPr/>
          <p:nvPr/>
        </p:nvSpPr>
        <p:spPr>
          <a:xfrm>
            <a:off x="5084064" y="45262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lowText_67"/>
          <p:cNvSpPr txBox="1"/>
          <p:nvPr/>
        </p:nvSpPr>
        <p:spPr>
          <a:xfrm>
            <a:off x="5157216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Child ctor → super-&gt;constructor( )</a:t>
            </a:r>
            <a:endParaRPr lang="en-US" sz="1300" dirty="0"/>
          </a:p>
        </p:txBody>
      </p:sp>
      <p:sp>
        <p:nvSpPr>
          <p:cNvPr id="22" name="arrow_68"/>
          <p:cNvSpPr txBox="1"/>
          <p:nvPr/>
        </p:nvSpPr>
        <p:spPr>
          <a:xfrm>
            <a:off x="7095744" y="45262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23" name="flowBox_69"/>
          <p:cNvSpPr/>
          <p:nvPr/>
        </p:nvSpPr>
        <p:spPr>
          <a:xfrm>
            <a:off x="7351776" y="45262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flowText_70"/>
          <p:cNvSpPr txBox="1"/>
          <p:nvPr/>
        </p:nvSpPr>
        <p:spPr>
          <a:xfrm>
            <a:off x="7424928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Parent instance</a:t>
            </a:r>
            <a:endParaRPr lang="en-US" sz="1300" dirty="0"/>
          </a:p>
        </p:txBody>
      </p:sp>
      <p:sp>
        <p:nvSpPr>
          <p:cNvPr id="25" name="arrow_71"/>
          <p:cNvSpPr txBox="1"/>
          <p:nvPr/>
        </p:nvSpPr>
        <p:spPr>
          <a:xfrm>
            <a:off x="9363456" y="45262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26" name="flowBox_72"/>
          <p:cNvSpPr/>
          <p:nvPr/>
        </p:nvSpPr>
        <p:spPr>
          <a:xfrm>
            <a:off x="9619488" y="45262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flowText_73"/>
          <p:cNvSpPr txBox="1"/>
          <p:nvPr/>
        </p:nvSpPr>
        <p:spPr>
          <a:xfrm>
            <a:off x="9692640" y="45262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Rest of child ctor</a:t>
            </a:r>
            <a:endParaRPr lang="en-US" sz="1300" dirty="0"/>
          </a:p>
        </p:txBody>
      </p:sp>
      <p:sp>
        <p:nvSpPr>
          <p:cNvPr id="28" name="ctorWarn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Watch out: a superclass constructor that calls a redefined method runs the SUPERCLASS 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Inheritance &amp; redefinition</a:t>
            </a:r>
            <a:endParaRPr lang="en-US" sz="3200" dirty="0"/>
          </a:p>
        </p:txBody>
      </p:sp>
      <p:sp>
        <p:nvSpPr>
          <p:cNvPr id="3" name="codeBg_74"/>
          <p:cNvSpPr/>
          <p:nvPr/>
        </p:nvSpPr>
        <p:spPr>
          <a:xfrm>
            <a:off x="548640" y="1325880"/>
            <a:ext cx="6035040" cy="4023360"/>
          </a:xfrm>
          <a:prstGeom prst="roundRect">
            <a:avLst>
              <a:gd name="adj" fmla="val 1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_75"/>
          <p:cNvSpPr txBox="1"/>
          <p:nvPr/>
        </p:nvSpPr>
        <p:spPr>
          <a:xfrm>
            <a:off x="731520" y="1435608"/>
            <a:ext cx="566928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lcl_truck DEFINITION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INHERITING FROM lcl_vehicle.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SECTION.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IMPORTING iv_plate TYPE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iv_load  TYPE 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describe REDEFINITION.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describe.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rv = super-&gt;describe(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&amp;&amp; | load { mv_load } t|.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ENDMETHOD.</a:t>
            </a:r>
            <a:endParaRPr lang="en-US" sz="1300" dirty="0"/>
          </a:p>
        </p:txBody>
      </p:sp>
      <p:sp>
        <p:nvSpPr>
          <p:cNvPr id="5" name="bullets_76"/>
          <p:cNvSpPr txBox="1"/>
          <p:nvPr/>
        </p:nvSpPr>
        <p:spPr>
          <a:xfrm>
            <a:off x="6949440" y="132588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 inheritance only; root class is OBJECT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Redefine public/protected INSTANCE methods – same signature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Cannot redefine: static methods, constructors, private or FINAL methods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ABSTRACT class: no instances; ABSTRACT method: subclass must implement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FINAL class: no subclasses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super-&gt;m( ) reuses the parent logic</a:t>
            </a:r>
            <a:endParaRPr lang="en-US" sz="1500" dirty="0"/>
          </a:p>
        </p:txBody>
      </p:sp>
      <p:sp>
        <p:nvSpPr>
          <p:cNvPr id="6" name="noteBg_77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ote_78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Late binding: a superclass method calling get_wheels( ) runs the truck's redefinition when the object is a truck.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Polymorphism &amp; casting</a:t>
            </a:r>
            <a:endParaRPr lang="en-US" sz="3200" dirty="0"/>
          </a:p>
        </p:txBody>
      </p:sp>
      <p:sp>
        <p:nvSpPr>
          <p:cNvPr id="3" name="card_79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80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adgeText_81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↑</a:t>
            </a:r>
            <a:endParaRPr lang="en-US" sz="1200" dirty="0"/>
          </a:p>
        </p:txBody>
      </p:sp>
      <p:sp>
        <p:nvSpPr>
          <p:cNvPr id="6" name="cardHead_82"/>
          <p:cNvSpPr txBox="1"/>
          <p:nvPr/>
        </p:nvSpPr>
        <p:spPr>
          <a:xfrm>
            <a:off x="128016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Up-cast (narrowing)</a:t>
            </a:r>
            <a:endParaRPr lang="en-US" sz="1700" dirty="0"/>
          </a:p>
        </p:txBody>
      </p:sp>
      <p:sp>
        <p:nvSpPr>
          <p:cNvPr id="7" name="cardBody_83"/>
          <p:cNvSpPr txBox="1"/>
          <p:nvPr/>
        </p:nvSpPr>
        <p:spPr>
          <a:xfrm>
            <a:off x="731520" y="2084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lo_shape = lo_circle.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Implicit, always safe, checked at compile time.</a:t>
            </a:r>
            <a:endParaRPr lang="en-US" sz="1500" dirty="0"/>
          </a:p>
        </p:txBody>
      </p:sp>
      <p:sp>
        <p:nvSpPr>
          <p:cNvPr id="8" name="card_84"/>
          <p:cNvSpPr/>
          <p:nvPr/>
        </p:nvSpPr>
        <p:spPr>
          <a:xfrm>
            <a:off x="4315968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85"/>
          <p:cNvSpPr/>
          <p:nvPr/>
        </p:nvSpPr>
        <p:spPr>
          <a:xfrm>
            <a:off x="4498848" y="1554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adgeText_86"/>
          <p:cNvSpPr txBox="1"/>
          <p:nvPr/>
        </p:nvSpPr>
        <p:spPr>
          <a:xfrm>
            <a:off x="449884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cardHead_87"/>
          <p:cNvSpPr txBox="1"/>
          <p:nvPr/>
        </p:nvSpPr>
        <p:spPr>
          <a:xfrm>
            <a:off x="5047488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Down-cast (widening)</a:t>
            </a:r>
            <a:endParaRPr lang="en-US" sz="1700" dirty="0"/>
          </a:p>
        </p:txBody>
      </p:sp>
      <p:sp>
        <p:nvSpPr>
          <p:cNvPr id="12" name="cardBody_88"/>
          <p:cNvSpPr txBox="1"/>
          <p:nvPr/>
        </p:nvSpPr>
        <p:spPr>
          <a:xfrm>
            <a:off x="4498848" y="2084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lo_circle ?= lo_shape.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CAST lcl_circle( lo ). Runtime check → CX_SY_MOVE_CAST_ERROR.</a:t>
            </a:r>
            <a:endParaRPr lang="en-US" sz="1500" dirty="0"/>
          </a:p>
        </p:txBody>
      </p:sp>
      <p:sp>
        <p:nvSpPr>
          <p:cNvPr id="13" name="card_89"/>
          <p:cNvSpPr/>
          <p:nvPr/>
        </p:nvSpPr>
        <p:spPr>
          <a:xfrm>
            <a:off x="8083296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90"/>
          <p:cNvSpPr/>
          <p:nvPr/>
        </p:nvSpPr>
        <p:spPr>
          <a:xfrm>
            <a:off x="8266176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Text_91"/>
          <p:cNvSpPr txBox="1"/>
          <p:nvPr/>
        </p:nvSpPr>
        <p:spPr>
          <a:xfrm>
            <a:off x="826617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?</a:t>
            </a:r>
            <a:endParaRPr lang="en-US" sz="1200" dirty="0"/>
          </a:p>
        </p:txBody>
      </p:sp>
      <p:sp>
        <p:nvSpPr>
          <p:cNvPr id="16" name="cardHead_92"/>
          <p:cNvSpPr txBox="1"/>
          <p:nvPr/>
        </p:nvSpPr>
        <p:spPr>
          <a:xfrm>
            <a:off x="8814816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before cast</a:t>
            </a:r>
            <a:endParaRPr lang="en-US" sz="1700" dirty="0"/>
          </a:p>
        </p:txBody>
      </p:sp>
      <p:sp>
        <p:nvSpPr>
          <p:cNvPr id="17" name="cardBody_93"/>
          <p:cNvSpPr txBox="1"/>
          <p:nvPr/>
        </p:nvSpPr>
        <p:spPr>
          <a:xfrm>
            <a:off x="8266176" y="2084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IS INSTANCE OF lcl_circle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CASE TYPE OF … WHEN TYPE … INTO DATA(lo).</a:t>
            </a:r>
            <a:endParaRPr lang="en-US" sz="1500" dirty="0"/>
          </a:p>
        </p:txBody>
      </p:sp>
      <p:sp>
        <p:nvSpPr>
          <p:cNvPr id="18" name="codeBg_94"/>
          <p:cNvSpPr/>
          <p:nvPr/>
        </p:nvSpPr>
        <p:spPr>
          <a:xfrm>
            <a:off x="548640" y="3794760"/>
            <a:ext cx="6400800" cy="2286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code_95"/>
          <p:cNvSpPr txBox="1"/>
          <p:nvPr/>
        </p:nvSpPr>
        <p:spPr>
          <a:xfrm>
            <a:off x="731520" y="3904488"/>
            <a:ext cx="60350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no CASE on type - every shape knows its area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lt_shapes INTO DATA(lo_shape).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lv_total += lo_shape-&gt;area( 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ENDLOOP.</a:t>
            </a:r>
            <a:endParaRPr lang="en-US" sz="1300" dirty="0"/>
          </a:p>
        </p:txBody>
      </p:sp>
      <p:sp>
        <p:nvSpPr>
          <p:cNvPr id="20" name="bullets_96"/>
          <p:cNvSpPr txBox="1"/>
          <p:nvPr/>
        </p:nvSpPr>
        <p:spPr>
          <a:xfrm>
            <a:off x="7223760" y="38404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Static type = declared type (what you may call)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Dynamic type = real object (which code runs)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subclass ⇒ no change to existing loop (Open/Closed)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Abstract class vs. interface</a:t>
            </a:r>
            <a:endParaRPr lang="en-US" sz="3200" dirty="0"/>
          </a:p>
        </p:txBody>
      </p:sp>
      <p:graphicFrame>
        <p:nvGraphicFramePr>
          <p:cNvPr id="10" name="table_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Abstract class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Interface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Implementation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Concrete + abstract methods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Declarations only (DEFAULT IGNORE/FAIL in new releases)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Attributes, constructors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Constants/types; attributes discouraged; no constructor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How many per class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One superclass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Many interfaces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Relationship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"is-a" family with shared code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"can-do" contract, loose coupling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Visibility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/ PROTECTED / PRIVATE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Everything public; access via intf~comp or ALIASES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eBg_98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ote_99"/>
          <p:cNvSpPr txBox="1"/>
          <p:nvPr/>
        </p:nvSpPr>
        <p:spPr>
          <a:xfrm>
            <a:off x="731520" y="4846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Interview tip: combine them – an interface defines the contract (ZIF_PAYMENT), an abstract base class implements the shared part, concrete classes add the specifics.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Interfaces &amp; dependency injection</a:t>
            </a:r>
            <a:endParaRPr lang="en-US" sz="3200" dirty="0"/>
          </a:p>
        </p:txBody>
      </p:sp>
      <p:sp>
        <p:nvSpPr>
          <p:cNvPr id="3" name="codeBg_100"/>
          <p:cNvSpPr/>
          <p:nvPr/>
        </p:nvSpPr>
        <p:spPr>
          <a:xfrm>
            <a:off x="548640" y="1325880"/>
            <a:ext cx="6583680" cy="4754880"/>
          </a:xfrm>
          <a:prstGeom prst="roundRect">
            <a:avLst>
              <a:gd name="adj" fmla="val 1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_101"/>
          <p:cNvSpPr txBox="1"/>
          <p:nvPr/>
        </p:nvSpPr>
        <p:spPr>
          <a:xfrm>
            <a:off x="731520" y="1435608"/>
            <a:ext cx="621792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lif_notifier.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METHODS send IMPORTING iv_to   TYPE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iv_text TYPE string.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lcl_order_service DEFINITION.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constructor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IMPORTING io_notifier TYPE REF TO lif_notifier.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mo_notifier TYPE REF TO lif_notifier.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production: real implementation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lcl_order_service( NEW lcl_sms_notifier( ) 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unit test: inject a fake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lcl_order_service( NEW ltd_fake_notifier( ) ).</a:t>
            </a:r>
            <a:endParaRPr lang="en-US" sz="1200" dirty="0"/>
          </a:p>
        </p:txBody>
      </p:sp>
      <p:sp>
        <p:nvSpPr>
          <p:cNvPr id="5" name="bullets_102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INTERFACES in PUBLIC SECTION; implement as METHOD lif~m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Reference TYPE REF TO lif_x can hold any implementer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Nested interfaces, ALIASES for short names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Basis of BAdIs, SAP frameworks and RAP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Depend on interfaces, inject implementations ⇒ testable code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Events in four steps</a:t>
            </a:r>
            <a:endParaRPr lang="en-US" sz="3200" dirty="0"/>
          </a:p>
        </p:txBody>
      </p:sp>
      <p:sp>
        <p:nvSpPr>
          <p:cNvPr id="3" name="card_103"/>
          <p:cNvSpPr/>
          <p:nvPr/>
        </p:nvSpPr>
        <p:spPr>
          <a:xfrm>
            <a:off x="548640" y="1371600"/>
            <a:ext cx="2633472" cy="301752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0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Text_105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106"/>
          <p:cNvSpPr txBox="1"/>
          <p:nvPr/>
        </p:nvSpPr>
        <p:spPr>
          <a:xfrm>
            <a:off x="1280160" y="153619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Declare</a:t>
            </a:r>
            <a:endParaRPr lang="en-US" sz="1700" dirty="0"/>
          </a:p>
        </p:txBody>
      </p:sp>
      <p:sp>
        <p:nvSpPr>
          <p:cNvPr id="7" name="cardBody_107"/>
          <p:cNvSpPr txBox="1"/>
          <p:nvPr/>
        </p:nvSpPr>
        <p:spPr>
          <a:xfrm>
            <a:off x="731520" y="2084832"/>
            <a:ext cx="2267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EVENTS low_stock EXPORTING VALUE(ev_qty) TYPE i.</a:t>
            </a:r>
            <a:endParaRPr lang="en-US" sz="1500" dirty="0"/>
          </a:p>
        </p:txBody>
      </p:sp>
      <p:sp>
        <p:nvSpPr>
          <p:cNvPr id="8" name="card_108"/>
          <p:cNvSpPr/>
          <p:nvPr/>
        </p:nvSpPr>
        <p:spPr>
          <a:xfrm>
            <a:off x="3364992" y="1371600"/>
            <a:ext cx="2633472" cy="301752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109"/>
          <p:cNvSpPr/>
          <p:nvPr/>
        </p:nvSpPr>
        <p:spPr>
          <a:xfrm>
            <a:off x="3547872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Text_110"/>
          <p:cNvSpPr txBox="1"/>
          <p:nvPr/>
        </p:nvSpPr>
        <p:spPr>
          <a:xfrm>
            <a:off x="354787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111"/>
          <p:cNvSpPr txBox="1"/>
          <p:nvPr/>
        </p:nvSpPr>
        <p:spPr>
          <a:xfrm>
            <a:off x="4096512" y="153619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Raise</a:t>
            </a:r>
            <a:endParaRPr lang="en-US" sz="1700" dirty="0"/>
          </a:p>
        </p:txBody>
      </p:sp>
      <p:sp>
        <p:nvSpPr>
          <p:cNvPr id="12" name="cardBody_112"/>
          <p:cNvSpPr txBox="1"/>
          <p:nvPr/>
        </p:nvSpPr>
        <p:spPr>
          <a:xfrm>
            <a:off x="3547872" y="2084832"/>
            <a:ext cx="2267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RAISE EVENT low_stock EXPORTING ev_qty = mv_qty.</a:t>
            </a:r>
            <a:endParaRPr lang="en-US" sz="1500" dirty="0"/>
          </a:p>
        </p:txBody>
      </p:sp>
      <p:sp>
        <p:nvSpPr>
          <p:cNvPr id="13" name="card_113"/>
          <p:cNvSpPr/>
          <p:nvPr/>
        </p:nvSpPr>
        <p:spPr>
          <a:xfrm>
            <a:off x="6181344" y="1371600"/>
            <a:ext cx="2633472" cy="301752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114"/>
          <p:cNvSpPr/>
          <p:nvPr/>
        </p:nvSpPr>
        <p:spPr>
          <a:xfrm>
            <a:off x="6364224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Text_115"/>
          <p:cNvSpPr txBox="1"/>
          <p:nvPr/>
        </p:nvSpPr>
        <p:spPr>
          <a:xfrm>
            <a:off x="6364224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Head_116"/>
          <p:cNvSpPr txBox="1"/>
          <p:nvPr/>
        </p:nvSpPr>
        <p:spPr>
          <a:xfrm>
            <a:off x="6912864" y="153619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Handle</a:t>
            </a:r>
            <a:endParaRPr lang="en-US" sz="1700" dirty="0"/>
          </a:p>
        </p:txBody>
      </p:sp>
      <p:sp>
        <p:nvSpPr>
          <p:cNvPr id="17" name="cardBody_117"/>
          <p:cNvSpPr txBox="1"/>
          <p:nvPr/>
        </p:nvSpPr>
        <p:spPr>
          <a:xfrm>
            <a:off x="6364224" y="2084832"/>
            <a:ext cx="2267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METHODS on_low FOR EVENT low_stock OF lcl_stock IMPORTING ev_qty sender.</a:t>
            </a:r>
            <a:endParaRPr lang="en-US" sz="1500" dirty="0"/>
          </a:p>
        </p:txBody>
      </p:sp>
      <p:sp>
        <p:nvSpPr>
          <p:cNvPr id="18" name="card_118"/>
          <p:cNvSpPr/>
          <p:nvPr/>
        </p:nvSpPr>
        <p:spPr>
          <a:xfrm>
            <a:off x="8997696" y="1371600"/>
            <a:ext cx="2633472" cy="301752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119"/>
          <p:cNvSpPr/>
          <p:nvPr/>
        </p:nvSpPr>
        <p:spPr>
          <a:xfrm>
            <a:off x="9180576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Text_120"/>
          <p:cNvSpPr txBox="1"/>
          <p:nvPr/>
        </p:nvSpPr>
        <p:spPr>
          <a:xfrm>
            <a:off x="918057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Head_121"/>
          <p:cNvSpPr txBox="1"/>
          <p:nvPr/>
        </p:nvSpPr>
        <p:spPr>
          <a:xfrm>
            <a:off x="9729216" y="1536192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Register</a:t>
            </a:r>
            <a:endParaRPr lang="en-US" sz="1700" dirty="0"/>
          </a:p>
        </p:txBody>
      </p:sp>
      <p:sp>
        <p:nvSpPr>
          <p:cNvPr id="22" name="cardBody_122"/>
          <p:cNvSpPr txBox="1"/>
          <p:nvPr/>
        </p:nvSpPr>
        <p:spPr>
          <a:xfrm>
            <a:off x="9180576" y="2084832"/>
            <a:ext cx="2267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SET HANDLER lo_h-&gt;on_low FOR lo_stock.  (FOR ALL INSTANCES / ACTIVATION abap_false)</a:t>
            </a:r>
            <a:endParaRPr lang="en-US" sz="1500" dirty="0"/>
          </a:p>
        </p:txBody>
      </p:sp>
      <p:sp>
        <p:nvSpPr>
          <p:cNvPr id="23" name="bullets_123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Observer pattern built in · handlers run synchronously · implicit parameter sender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Used everywhere in ALV: double_click, toolbar, user_command, hotspot_click (CL_GUI_ALV_GRID / CL_SALV_EVENTS_TABLE)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Class-based exceptions</a:t>
            </a:r>
            <a:endParaRPr lang="en-US" sz="3200" dirty="0"/>
          </a:p>
        </p:txBody>
      </p:sp>
      <p:graphicFrame>
        <p:nvGraphicFramePr>
          <p:cNvPr id="13" name="table_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Superclass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Declared in RAISING?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CX_STATIC_CHECK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 (compiler checks)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Expected business errors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CX_DYNAMIC_CHECK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Checked at runtime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Preventable errors (zero divide)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CX_NO_CHECK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Never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Fatal / technical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odeBg_125"/>
          <p:cNvSpPr/>
          <p:nvPr/>
        </p:nvSpPr>
        <p:spPr>
          <a:xfrm>
            <a:off x="548640" y="3291840"/>
            <a:ext cx="6583680" cy="2788920"/>
          </a:xfrm>
          <a:prstGeom prst="roundRect">
            <a:avLst>
              <a:gd name="adj" fmla="val 19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_126"/>
          <p:cNvSpPr txBox="1"/>
          <p:nvPr/>
        </p:nvSpPr>
        <p:spPr>
          <a:xfrm>
            <a:off x="731520" y="3401568"/>
            <a:ext cx="621792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lo_repo-&gt;get_order( lv_vbeln 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CATCH zcx_order_error INTO DATA(lx).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lx TYPE 'I' DISPLAY LIKE 'E'.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CLEANUP.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runs if exception propagates further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EXCEPTION NEW zcx_order_error(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textid = zcx_order_error=&gt;not_found previous = lx_sql ).</a:t>
            </a:r>
            <a:endParaRPr lang="en-US" sz="1200" dirty="0"/>
          </a:p>
        </p:txBody>
      </p:sp>
      <p:sp>
        <p:nvSpPr>
          <p:cNvPr id="6" name="bullets_127"/>
          <p:cNvSpPr txBox="1"/>
          <p:nvPr/>
        </p:nvSpPr>
        <p:spPr>
          <a:xfrm>
            <a:off x="7406640" y="137160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inherit from CX_ROOT: get_text( ), previous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Catch specific classes before general ones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RETRY re-runs TRY; RESUME continues after RAISE RESUMABLE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Texts from SE91 via IF_T100_MESSAGE / IF_T100_DYN_MSG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Chain technical errors with previous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mix EXCEPTIONS and RAISING in one method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Design patterns you should be able to sketch</a:t>
            </a:r>
            <a:endParaRPr lang="en-US" sz="3200" dirty="0"/>
          </a:p>
        </p:txBody>
      </p:sp>
      <p:sp>
        <p:nvSpPr>
          <p:cNvPr id="3" name="card_128"/>
          <p:cNvSpPr/>
          <p:nvPr/>
        </p:nvSpPr>
        <p:spPr>
          <a:xfrm>
            <a:off x="548640" y="1371600"/>
            <a:ext cx="35478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29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130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131"/>
          <p:cNvSpPr txBox="1"/>
          <p:nvPr/>
        </p:nvSpPr>
        <p:spPr>
          <a:xfrm>
            <a:off x="1280160" y="153619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Singleton</a:t>
            </a:r>
            <a:endParaRPr lang="en-US" sz="1700" dirty="0"/>
          </a:p>
        </p:txBody>
      </p:sp>
      <p:sp>
        <p:nvSpPr>
          <p:cNvPr id="7" name="cardBody_132"/>
          <p:cNvSpPr txBox="1"/>
          <p:nvPr/>
        </p:nvSpPr>
        <p:spPr>
          <a:xfrm>
            <a:off x="731520" y="2084832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CREATE PRIVATE + static get_instance( ). One per internal session (logger, buffer).</a:t>
            </a:r>
            <a:endParaRPr lang="en-US" sz="1500" dirty="0"/>
          </a:p>
        </p:txBody>
      </p:sp>
      <p:sp>
        <p:nvSpPr>
          <p:cNvPr id="8" name="card_133"/>
          <p:cNvSpPr/>
          <p:nvPr/>
        </p:nvSpPr>
        <p:spPr>
          <a:xfrm>
            <a:off x="4279392" y="1371600"/>
            <a:ext cx="35478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134"/>
          <p:cNvSpPr/>
          <p:nvPr/>
        </p:nvSpPr>
        <p:spPr>
          <a:xfrm>
            <a:off x="4462272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Text_135"/>
          <p:cNvSpPr txBox="1"/>
          <p:nvPr/>
        </p:nvSpPr>
        <p:spPr>
          <a:xfrm>
            <a:off x="446227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136"/>
          <p:cNvSpPr txBox="1"/>
          <p:nvPr/>
        </p:nvSpPr>
        <p:spPr>
          <a:xfrm>
            <a:off x="5010912" y="153619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Factory</a:t>
            </a:r>
            <a:endParaRPr lang="en-US" sz="1700" dirty="0"/>
          </a:p>
        </p:txBody>
      </p:sp>
      <p:sp>
        <p:nvSpPr>
          <p:cNvPr id="12" name="cardBody_137"/>
          <p:cNvSpPr txBox="1"/>
          <p:nvPr/>
        </p:nvSpPr>
        <p:spPr>
          <a:xfrm>
            <a:off x="4462272" y="2084832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Static create( iv_type ) returns REF TO interface; dynamic CREATE OBJECT TYPE (name).</a:t>
            </a:r>
            <a:endParaRPr lang="en-US" sz="1500" dirty="0"/>
          </a:p>
        </p:txBody>
      </p:sp>
      <p:sp>
        <p:nvSpPr>
          <p:cNvPr id="13" name="card_138"/>
          <p:cNvSpPr/>
          <p:nvPr/>
        </p:nvSpPr>
        <p:spPr>
          <a:xfrm>
            <a:off x="8010144" y="1371600"/>
            <a:ext cx="35478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139"/>
          <p:cNvSpPr/>
          <p:nvPr/>
        </p:nvSpPr>
        <p:spPr>
          <a:xfrm>
            <a:off x="8193024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Text_140"/>
          <p:cNvSpPr txBox="1"/>
          <p:nvPr/>
        </p:nvSpPr>
        <p:spPr>
          <a:xfrm>
            <a:off x="8193024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Head_141"/>
          <p:cNvSpPr txBox="1"/>
          <p:nvPr/>
        </p:nvSpPr>
        <p:spPr>
          <a:xfrm>
            <a:off x="8741664" y="153619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Strategy</a:t>
            </a:r>
            <a:endParaRPr lang="en-US" sz="1700" dirty="0"/>
          </a:p>
        </p:txBody>
      </p:sp>
      <p:sp>
        <p:nvSpPr>
          <p:cNvPr id="17" name="cardBody_142"/>
          <p:cNvSpPr txBox="1"/>
          <p:nvPr/>
        </p:nvSpPr>
        <p:spPr>
          <a:xfrm>
            <a:off x="8193024" y="2084832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Interchangeable algorithms behind one interface (tax per country, discounts).</a:t>
            </a:r>
            <a:endParaRPr lang="en-US" sz="1500" dirty="0"/>
          </a:p>
        </p:txBody>
      </p:sp>
      <p:sp>
        <p:nvSpPr>
          <p:cNvPr id="18" name="card_143"/>
          <p:cNvSpPr/>
          <p:nvPr/>
        </p:nvSpPr>
        <p:spPr>
          <a:xfrm>
            <a:off x="548640" y="3749040"/>
            <a:ext cx="35478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144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Text_145"/>
          <p:cNvSpPr txBox="1"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Head_146"/>
          <p:cNvSpPr txBox="1"/>
          <p:nvPr/>
        </p:nvSpPr>
        <p:spPr>
          <a:xfrm>
            <a:off x="1280160" y="391363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Observer</a:t>
            </a:r>
            <a:endParaRPr lang="en-US" sz="1700" dirty="0"/>
          </a:p>
        </p:txBody>
      </p:sp>
      <p:sp>
        <p:nvSpPr>
          <p:cNvPr id="22" name="cardBody_147"/>
          <p:cNvSpPr txBox="1"/>
          <p:nvPr/>
        </p:nvSpPr>
        <p:spPr>
          <a:xfrm>
            <a:off x="731520" y="4462272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Native ABAP events: subject raises, observers SET HANDLER.</a:t>
            </a:r>
            <a:endParaRPr lang="en-US" sz="1500" dirty="0"/>
          </a:p>
        </p:txBody>
      </p:sp>
      <p:sp>
        <p:nvSpPr>
          <p:cNvPr id="23" name="card_148"/>
          <p:cNvSpPr/>
          <p:nvPr/>
        </p:nvSpPr>
        <p:spPr>
          <a:xfrm>
            <a:off x="4279392" y="3749040"/>
            <a:ext cx="35478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_149"/>
          <p:cNvSpPr/>
          <p:nvPr/>
        </p:nvSpPr>
        <p:spPr>
          <a:xfrm>
            <a:off x="4462272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Text_150"/>
          <p:cNvSpPr txBox="1"/>
          <p:nvPr/>
        </p:nvSpPr>
        <p:spPr>
          <a:xfrm>
            <a:off x="4462272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cardHead_151"/>
          <p:cNvSpPr txBox="1"/>
          <p:nvPr/>
        </p:nvSpPr>
        <p:spPr>
          <a:xfrm>
            <a:off x="5010912" y="391363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Decorator</a:t>
            </a:r>
            <a:endParaRPr lang="en-US" sz="1700" dirty="0"/>
          </a:p>
        </p:txBody>
      </p:sp>
      <p:sp>
        <p:nvSpPr>
          <p:cNvPr id="27" name="cardBody_152"/>
          <p:cNvSpPr txBox="1"/>
          <p:nvPr/>
        </p:nvSpPr>
        <p:spPr>
          <a:xfrm>
            <a:off x="4462272" y="4462272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Wrap an interface implementation to add logging, caching, checks.</a:t>
            </a:r>
            <a:endParaRPr lang="en-US" sz="1500" dirty="0"/>
          </a:p>
        </p:txBody>
      </p:sp>
      <p:sp>
        <p:nvSpPr>
          <p:cNvPr id="28" name="card_153"/>
          <p:cNvSpPr/>
          <p:nvPr/>
        </p:nvSpPr>
        <p:spPr>
          <a:xfrm>
            <a:off x="8010144" y="3749040"/>
            <a:ext cx="354787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_154"/>
          <p:cNvSpPr/>
          <p:nvPr/>
        </p:nvSpPr>
        <p:spPr>
          <a:xfrm>
            <a:off x="8193024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Text_155"/>
          <p:cNvSpPr txBox="1"/>
          <p:nvPr/>
        </p:nvSpPr>
        <p:spPr>
          <a:xfrm>
            <a:off x="8193024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cardHead_156"/>
          <p:cNvSpPr txBox="1"/>
          <p:nvPr/>
        </p:nvSpPr>
        <p:spPr>
          <a:xfrm>
            <a:off x="8741664" y="391363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MVC / Facade / Repository</a:t>
            </a:r>
            <a:endParaRPr lang="en-US" sz="1700" dirty="0"/>
          </a:p>
        </p:txBody>
      </p:sp>
      <p:sp>
        <p:nvSpPr>
          <p:cNvPr id="32" name="cardBody_157"/>
          <p:cNvSpPr txBox="1"/>
          <p:nvPr/>
        </p:nvSpPr>
        <p:spPr>
          <a:xfrm>
            <a:off x="8193024" y="4462272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Split model, view, controller; one simple API in front of BAPIs; DB access in one class.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ABAP Unit &amp; test doubles</a:t>
            </a:r>
            <a:endParaRPr lang="en-US" sz="3200" dirty="0"/>
          </a:p>
        </p:txBody>
      </p:sp>
      <p:sp>
        <p:nvSpPr>
          <p:cNvPr id="3" name="codeBg_158"/>
          <p:cNvSpPr/>
          <p:nvPr/>
        </p:nvSpPr>
        <p:spPr>
          <a:xfrm>
            <a:off x="548640" y="1325880"/>
            <a:ext cx="6583680" cy="4754880"/>
          </a:xfrm>
          <a:prstGeom prst="roundRect">
            <a:avLst>
              <a:gd name="adj" fmla="val 1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_159"/>
          <p:cNvSpPr txBox="1"/>
          <p:nvPr/>
        </p:nvSpPr>
        <p:spPr>
          <a:xfrm>
            <a:off x="731520" y="1435608"/>
            <a:ext cx="621792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ltc_calc DEFINITION FINAL FOR TESTING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 SHORT RISK LEVEL HARMLESS.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SECTION.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mo_cut TYPE REF TO zcl_price_calc.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setup.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METHODS gross_14 FOR TESTING RAISING cx_static_check.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ltc_calc IMPLEMENTATION.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setup.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mo_cut = NEW #( 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ENDMETHOD.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gross_14.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cl_abap_unit_assert=&gt;assert_equals(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 = mo_cut-&gt;net_to_gross( iv_net = 100 iv_vat = 14 )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 = 114 ).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ENDMETHOD.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ENDCLASS.</a:t>
            </a:r>
            <a:endParaRPr lang="en-US" sz="1150" dirty="0"/>
          </a:p>
        </p:txBody>
      </p:sp>
      <p:sp>
        <p:nvSpPr>
          <p:cNvPr id="5" name="unitHead"/>
          <p:cNvSpPr txBox="1"/>
          <p:nvPr/>
        </p:nvSpPr>
        <p:spPr>
          <a:xfrm>
            <a:off x="740664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Isolate dependencies</a:t>
            </a:r>
            <a:endParaRPr lang="en-US" sz="1800" dirty="0"/>
          </a:p>
        </p:txBody>
      </p:sp>
      <p:sp>
        <p:nvSpPr>
          <p:cNvPr id="6" name="bullets_160"/>
          <p:cNvSpPr txBox="1"/>
          <p:nvPr/>
        </p:nvSpPr>
        <p:spPr>
          <a:xfrm>
            <a:off x="7406640" y="182880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Interface + injected fake class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CL_ABAP_TESTDOUBLE for interfaces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CL_OSQL_TEST_ENVIRONMENT / CL_CDS_TEST_ENVIRONMENT for DB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TEST-SEAM / TEST-INJECTION for legacy code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Fixtures: class_setup, setup, teardown, class_teardown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Run: Ctrl+Shift+F10 in ADT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Modern ABAP and real-world OO tools</a:t>
            </a:r>
            <a:endParaRPr lang="en-US" sz="3200" dirty="0"/>
          </a:p>
        </p:txBody>
      </p:sp>
      <p:graphicFrame>
        <p:nvGraphicFramePr>
          <p:cNvPr id="16" name="table_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217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Inline + NEW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DATA(lo) = NEW zcl_x( ). 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VALUE / CORRESPONDING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lt = VALUE #( ( id = 1 ) 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COND / SWITCH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COND #( WHEN a &gt; 0 THEN 'P' ELSE 'N' 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REDUCE /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REDUCE i( INIT s = 0 FOR w IN lt NEXT s = s + w 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Table expressions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lt[ id = 5 ]-name, line_exists( 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String templates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|Order { lv ALPHA = OUT }|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_162"/>
          <p:cNvSpPr/>
          <p:nvPr/>
        </p:nvSpPr>
        <p:spPr>
          <a:xfrm>
            <a:off x="7040880" y="1371600"/>
            <a:ext cx="4572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Head_163"/>
          <p:cNvSpPr txBox="1"/>
          <p:nvPr/>
        </p:nvSpPr>
        <p:spPr>
          <a:xfrm>
            <a:off x="7223760" y="1536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SALV</a:t>
            </a:r>
            <a:endParaRPr lang="en-US" sz="1700" dirty="0"/>
          </a:p>
        </p:txBody>
      </p:sp>
      <p:sp>
        <p:nvSpPr>
          <p:cNvPr id="6" name="cardBody_164"/>
          <p:cNvSpPr txBox="1"/>
          <p:nvPr/>
        </p:nvSpPr>
        <p:spPr>
          <a:xfrm>
            <a:off x="7223760" y="20848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cl_salv_table=&gt;factory, functions, aggregations, event double_click</a:t>
            </a:r>
            <a:endParaRPr lang="en-US" sz="1500" dirty="0"/>
          </a:p>
        </p:txBody>
      </p:sp>
      <p:sp>
        <p:nvSpPr>
          <p:cNvPr id="7" name="card_165"/>
          <p:cNvSpPr/>
          <p:nvPr/>
        </p:nvSpPr>
        <p:spPr>
          <a:xfrm>
            <a:off x="7040880" y="2971800"/>
            <a:ext cx="4572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Head_166"/>
          <p:cNvSpPr txBox="1"/>
          <p:nvPr/>
        </p:nvSpPr>
        <p:spPr>
          <a:xfrm>
            <a:off x="7223760" y="3136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RTTS</a:t>
            </a:r>
            <a:endParaRPr lang="en-US" sz="1700" dirty="0"/>
          </a:p>
        </p:txBody>
      </p:sp>
      <p:sp>
        <p:nvSpPr>
          <p:cNvPr id="9" name="cardBody_167"/>
          <p:cNvSpPr txBox="1"/>
          <p:nvPr/>
        </p:nvSpPr>
        <p:spPr>
          <a:xfrm>
            <a:off x="7223760" y="3685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describe_by_name / CREATE DATA … TYPE HANDLE for generic tools</a:t>
            </a:r>
            <a:endParaRPr lang="en-US" sz="1500" dirty="0"/>
          </a:p>
        </p:txBody>
      </p:sp>
      <p:sp>
        <p:nvSpPr>
          <p:cNvPr id="10" name="card_168"/>
          <p:cNvSpPr/>
          <p:nvPr/>
        </p:nvSpPr>
        <p:spPr>
          <a:xfrm>
            <a:off x="7040880" y="4572000"/>
            <a:ext cx="4572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Head_169"/>
          <p:cNvSpPr txBox="1"/>
          <p:nvPr/>
        </p:nvSpPr>
        <p:spPr>
          <a:xfrm>
            <a:off x="7223760" y="47365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BAdI</a:t>
            </a:r>
            <a:endParaRPr lang="en-US" sz="1700" dirty="0"/>
          </a:p>
        </p:txBody>
      </p:sp>
      <p:sp>
        <p:nvSpPr>
          <p:cNvPr id="12" name="cardBody_170"/>
          <p:cNvSpPr txBox="1"/>
          <p:nvPr/>
        </p:nvSpPr>
        <p:spPr>
          <a:xfrm>
            <a:off x="7223760" y="5285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SAP interface + your implementing class (SE18/SE19, GET/CALL BADI)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adge_171"/>
          <p:cNvSpPr/>
          <p:nvPr/>
        </p:nvSpPr>
        <p:spPr>
          <a:xfrm>
            <a:off x="731520" y="2514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Num_172"/>
          <p:cNvSpPr txBox="1"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OData &amp; SAP Gateway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REST · EDM · Gateway architecture · SEGW · CRUD · Query options · $expand · Deep insert · $batch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REST verbs, OData URLs and DPC methods</a:t>
            </a:r>
            <a:endParaRPr lang="en-US" sz="3200" dirty="0"/>
          </a:p>
        </p:txBody>
      </p:sp>
      <p:graphicFrame>
        <p:nvGraphicFramePr>
          <p:cNvPr id="18" name="table_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HTTP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OData URL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DPC_EXT method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/OrderSet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ORDERSET_GET_ENTITYSET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/OrderSet('4711')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ORDERSET_GET_ENTITY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/OrderSet + body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ORDERSET_CREATE_ENTITY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PUT / PATCH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/OrderSet('4711')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ORDERSET_UPDATE_ENTITY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/OrderSet('4711')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ORDERSET_DELETE_ENTITY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/ReleaseOrder?OrderId='1'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EXECUTE_ACTION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tatusHead"/>
          <p:cNvSpPr txBox="1"/>
          <p:nvPr/>
        </p:nvSpPr>
        <p:spPr>
          <a:xfrm>
            <a:off x="82296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Status codes to know</a:t>
            </a:r>
            <a:endParaRPr lang="en-US" sz="1800" dirty="0"/>
          </a:p>
        </p:txBody>
      </p:sp>
      <p:sp>
        <p:nvSpPr>
          <p:cNvPr id="5" name="bullets_174"/>
          <p:cNvSpPr txBox="1"/>
          <p:nvPr/>
        </p:nvSpPr>
        <p:spPr>
          <a:xfrm>
            <a:off x="8229600" y="1874520"/>
            <a:ext cx="3383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200 OK · 201 Created · 204 No Content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400 business error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403 CSRF / authorization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404 not found / service inactive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412 ETag mismatch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500 dump · 501 not implemented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OData building blocks (EDM)</a:t>
            </a:r>
            <a:endParaRPr lang="en-US" sz="3200" dirty="0"/>
          </a:p>
        </p:txBody>
      </p:sp>
      <p:sp>
        <p:nvSpPr>
          <p:cNvPr id="3" name="card_175"/>
          <p:cNvSpPr/>
          <p:nvPr/>
        </p:nvSpPr>
        <p:spPr>
          <a:xfrm>
            <a:off x="548640" y="137160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Head_176"/>
          <p:cNvSpPr txBox="1"/>
          <p:nvPr/>
        </p:nvSpPr>
        <p:spPr>
          <a:xfrm>
            <a:off x="731520" y="153619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Entity type</a:t>
            </a:r>
            <a:endParaRPr lang="en-US" sz="1700" dirty="0"/>
          </a:p>
        </p:txBody>
      </p:sp>
      <p:sp>
        <p:nvSpPr>
          <p:cNvPr id="5" name="cardBody_177"/>
          <p:cNvSpPr txBox="1"/>
          <p:nvPr/>
        </p:nvSpPr>
        <p:spPr>
          <a:xfrm>
            <a:off x="731520" y="208483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Structure with key: Order(OrderId, Customer, NetAmount)</a:t>
            </a:r>
            <a:endParaRPr lang="en-US" sz="1500" dirty="0"/>
          </a:p>
        </p:txBody>
      </p:sp>
      <p:sp>
        <p:nvSpPr>
          <p:cNvPr id="6" name="card_178"/>
          <p:cNvSpPr/>
          <p:nvPr/>
        </p:nvSpPr>
        <p:spPr>
          <a:xfrm>
            <a:off x="4279392" y="137160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Head_179"/>
          <p:cNvSpPr txBox="1"/>
          <p:nvPr/>
        </p:nvSpPr>
        <p:spPr>
          <a:xfrm>
            <a:off x="4462272" y="153619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Entity set</a:t>
            </a:r>
            <a:endParaRPr lang="en-US" sz="1700" dirty="0"/>
          </a:p>
        </p:txBody>
      </p:sp>
      <p:sp>
        <p:nvSpPr>
          <p:cNvPr id="8" name="cardBody_180"/>
          <p:cNvSpPr txBox="1"/>
          <p:nvPr/>
        </p:nvSpPr>
        <p:spPr>
          <a:xfrm>
            <a:off x="4462272" y="208483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Collection addressed in URL: OrderSet</a:t>
            </a:r>
            <a:endParaRPr lang="en-US" sz="1500" dirty="0"/>
          </a:p>
        </p:txBody>
      </p:sp>
      <p:sp>
        <p:nvSpPr>
          <p:cNvPr id="9" name="card_181"/>
          <p:cNvSpPr/>
          <p:nvPr/>
        </p:nvSpPr>
        <p:spPr>
          <a:xfrm>
            <a:off x="8010144" y="137160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Head_182"/>
          <p:cNvSpPr txBox="1"/>
          <p:nvPr/>
        </p:nvSpPr>
        <p:spPr>
          <a:xfrm>
            <a:off x="8193024" y="153619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Property</a:t>
            </a:r>
            <a:endParaRPr lang="en-US" sz="1700" dirty="0"/>
          </a:p>
        </p:txBody>
      </p:sp>
      <p:sp>
        <p:nvSpPr>
          <p:cNvPr id="11" name="cardBody_183"/>
          <p:cNvSpPr txBox="1"/>
          <p:nvPr/>
        </p:nvSpPr>
        <p:spPr>
          <a:xfrm>
            <a:off x="8193024" y="208483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Field with EDM type: Edm.String, Edm.Decimal, Edm.DateTime</a:t>
            </a:r>
            <a:endParaRPr lang="en-US" sz="1500" dirty="0"/>
          </a:p>
        </p:txBody>
      </p:sp>
      <p:sp>
        <p:nvSpPr>
          <p:cNvPr id="12" name="card_184"/>
          <p:cNvSpPr/>
          <p:nvPr/>
        </p:nvSpPr>
        <p:spPr>
          <a:xfrm>
            <a:off x="548640" y="324612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Head_185"/>
          <p:cNvSpPr txBox="1"/>
          <p:nvPr/>
        </p:nvSpPr>
        <p:spPr>
          <a:xfrm>
            <a:off x="731520" y="341071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Association</a:t>
            </a:r>
            <a:endParaRPr lang="en-US" sz="1700" dirty="0"/>
          </a:p>
        </p:txBody>
      </p:sp>
      <p:sp>
        <p:nvSpPr>
          <p:cNvPr id="14" name="cardBody_186"/>
          <p:cNvSpPr txBox="1"/>
          <p:nvPr/>
        </p:nvSpPr>
        <p:spPr>
          <a:xfrm>
            <a:off x="731520" y="395935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Relationship with cardinality: Order 1 : n Item</a:t>
            </a:r>
            <a:endParaRPr lang="en-US" sz="1500" dirty="0"/>
          </a:p>
        </p:txBody>
      </p:sp>
      <p:sp>
        <p:nvSpPr>
          <p:cNvPr id="15" name="card_187"/>
          <p:cNvSpPr/>
          <p:nvPr/>
        </p:nvSpPr>
        <p:spPr>
          <a:xfrm>
            <a:off x="4279392" y="324612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Head_188"/>
          <p:cNvSpPr txBox="1"/>
          <p:nvPr/>
        </p:nvSpPr>
        <p:spPr>
          <a:xfrm>
            <a:off x="4462272" y="341071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Navigation</a:t>
            </a:r>
            <a:endParaRPr lang="en-US" sz="1700" dirty="0"/>
          </a:p>
        </p:txBody>
      </p:sp>
      <p:sp>
        <p:nvSpPr>
          <p:cNvPr id="17" name="cardBody_189"/>
          <p:cNvSpPr txBox="1"/>
          <p:nvPr/>
        </p:nvSpPr>
        <p:spPr>
          <a:xfrm>
            <a:off x="4462272" y="395935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Path through it: OrderSet('1')/ToItems</a:t>
            </a:r>
            <a:endParaRPr lang="en-US" sz="1500" dirty="0"/>
          </a:p>
        </p:txBody>
      </p:sp>
      <p:sp>
        <p:nvSpPr>
          <p:cNvPr id="18" name="card_190"/>
          <p:cNvSpPr/>
          <p:nvPr/>
        </p:nvSpPr>
        <p:spPr>
          <a:xfrm>
            <a:off x="8010144" y="324612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Head_191"/>
          <p:cNvSpPr txBox="1"/>
          <p:nvPr/>
        </p:nvSpPr>
        <p:spPr>
          <a:xfrm>
            <a:off x="8193024" y="341071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Function import</a:t>
            </a:r>
            <a:endParaRPr lang="en-US" sz="1700" dirty="0"/>
          </a:p>
        </p:txBody>
      </p:sp>
      <p:sp>
        <p:nvSpPr>
          <p:cNvPr id="20" name="cardBody_192"/>
          <p:cNvSpPr txBox="1"/>
          <p:nvPr/>
        </p:nvSpPr>
        <p:spPr>
          <a:xfrm>
            <a:off x="8193024" y="3959352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Custom operation (V4: action / function)</a:t>
            </a:r>
            <a:endParaRPr lang="en-US" sz="1500" dirty="0"/>
          </a:p>
        </p:txBody>
      </p:sp>
      <p:sp>
        <p:nvSpPr>
          <p:cNvPr id="21" name="codeBg_193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ode_194"/>
          <p:cNvSpPr txBox="1"/>
          <p:nvPr/>
        </p:nvSpPr>
        <p:spPr>
          <a:xfrm>
            <a:off x="731520" y="5321808"/>
            <a:ext cx="10698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/sap/opu/odata/sap/ZSALES_SRV/   ·   /$metadata   ·   /OrderSet?$filter=Customer eq '100001'&amp;$top=10&amp;$format=json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SAP Gateway architecture</a:t>
            </a:r>
            <a:endParaRPr lang="en-US" sz="3200" dirty="0"/>
          </a:p>
        </p:txBody>
      </p:sp>
      <p:sp>
        <p:nvSpPr>
          <p:cNvPr id="3" name="gwBox_195"/>
          <p:cNvSpPr/>
          <p:nvPr/>
        </p:nvSpPr>
        <p:spPr>
          <a:xfrm>
            <a:off x="548640" y="1463040"/>
            <a:ext cx="201168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gwText_196"/>
          <p:cNvSpPr txBox="1"/>
          <p:nvPr/>
        </p:nvSpPr>
        <p:spPr>
          <a:xfrm>
            <a:off x="621792" y="1463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Fiori / Postman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HTTPS request</a:t>
            </a:r>
            <a:endParaRPr lang="en-US" sz="1500" dirty="0"/>
          </a:p>
        </p:txBody>
      </p:sp>
      <p:sp>
        <p:nvSpPr>
          <p:cNvPr id="5" name="gwArrow_197"/>
          <p:cNvSpPr txBox="1"/>
          <p:nvPr/>
        </p:nvSpPr>
        <p:spPr>
          <a:xfrm>
            <a:off x="2560320" y="146304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›</a:t>
            </a:r>
            <a:endParaRPr lang="en-US" sz="2600" dirty="0"/>
          </a:p>
        </p:txBody>
      </p:sp>
      <p:sp>
        <p:nvSpPr>
          <p:cNvPr id="6" name="gwBox_198"/>
          <p:cNvSpPr/>
          <p:nvPr/>
        </p:nvSpPr>
        <p:spPr>
          <a:xfrm>
            <a:off x="2816352" y="1463040"/>
            <a:ext cx="201168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gwText_199"/>
          <p:cNvSpPr txBox="1"/>
          <p:nvPr/>
        </p:nvSpPr>
        <p:spPr>
          <a:xfrm>
            <a:off x="2889504" y="1463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ICF + Hub (IWFND)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Registry, alias, cache</a:t>
            </a:r>
            <a:endParaRPr lang="en-US" sz="1500" dirty="0"/>
          </a:p>
        </p:txBody>
      </p:sp>
      <p:sp>
        <p:nvSpPr>
          <p:cNvPr id="8" name="gwArrow_200"/>
          <p:cNvSpPr txBox="1"/>
          <p:nvPr/>
        </p:nvSpPr>
        <p:spPr>
          <a:xfrm>
            <a:off x="4828032" y="146304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›</a:t>
            </a:r>
            <a:endParaRPr lang="en-US" sz="2600" dirty="0"/>
          </a:p>
        </p:txBody>
      </p:sp>
      <p:sp>
        <p:nvSpPr>
          <p:cNvPr id="9" name="gwBox_201"/>
          <p:cNvSpPr/>
          <p:nvPr/>
        </p:nvSpPr>
        <p:spPr>
          <a:xfrm>
            <a:off x="5084064" y="1463040"/>
            <a:ext cx="201168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gwText_202"/>
          <p:cNvSpPr txBox="1"/>
          <p:nvPr/>
        </p:nvSpPr>
        <p:spPr>
          <a:xfrm>
            <a:off x="5157216" y="1463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 (IWBEP)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MPC_EXT model</a:t>
            </a:r>
            <a:endParaRPr lang="en-US" sz="1500" dirty="0"/>
          </a:p>
        </p:txBody>
      </p:sp>
      <p:sp>
        <p:nvSpPr>
          <p:cNvPr id="11" name="gwArrow_203"/>
          <p:cNvSpPr txBox="1"/>
          <p:nvPr/>
        </p:nvSpPr>
        <p:spPr>
          <a:xfrm>
            <a:off x="7095744" y="146304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›</a:t>
            </a:r>
            <a:endParaRPr lang="en-US" sz="2600" dirty="0"/>
          </a:p>
        </p:txBody>
      </p:sp>
      <p:sp>
        <p:nvSpPr>
          <p:cNvPr id="12" name="gwBox_204"/>
          <p:cNvSpPr/>
          <p:nvPr/>
        </p:nvSpPr>
        <p:spPr>
          <a:xfrm>
            <a:off x="7351776" y="1463040"/>
            <a:ext cx="2011680" cy="128016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gwText_205"/>
          <p:cNvSpPr txBox="1"/>
          <p:nvPr/>
        </p:nvSpPr>
        <p:spPr>
          <a:xfrm>
            <a:off x="7424928" y="1463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DPC_EXT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Your ABAP logic</a:t>
            </a:r>
            <a:endParaRPr lang="en-US" sz="1500" dirty="0"/>
          </a:p>
        </p:txBody>
      </p:sp>
      <p:sp>
        <p:nvSpPr>
          <p:cNvPr id="14" name="gwArrow_206"/>
          <p:cNvSpPr txBox="1"/>
          <p:nvPr/>
        </p:nvSpPr>
        <p:spPr>
          <a:xfrm>
            <a:off x="9363456" y="1463040"/>
            <a:ext cx="256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›</a:t>
            </a:r>
            <a:endParaRPr lang="en-US" sz="2600" dirty="0"/>
          </a:p>
        </p:txBody>
      </p:sp>
      <p:sp>
        <p:nvSpPr>
          <p:cNvPr id="15" name="gwBox_207"/>
          <p:cNvSpPr/>
          <p:nvPr/>
        </p:nvSpPr>
        <p:spPr>
          <a:xfrm>
            <a:off x="9619488" y="1463040"/>
            <a:ext cx="201168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gwText_208"/>
          <p:cNvSpPr txBox="1"/>
          <p:nvPr/>
        </p:nvSpPr>
        <p:spPr>
          <a:xfrm>
            <a:off x="9692640" y="14630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DB / BAPI / CDS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Data</a:t>
            </a:r>
            <a:endParaRPr lang="en-US" sz="1500" dirty="0"/>
          </a:p>
        </p:txBody>
      </p:sp>
      <p:sp>
        <p:nvSpPr>
          <p:cNvPr id="17" name="card_209"/>
          <p:cNvSpPr/>
          <p:nvPr/>
        </p:nvSpPr>
        <p:spPr>
          <a:xfrm>
            <a:off x="548640" y="306324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ardHead_210"/>
          <p:cNvSpPr txBox="1"/>
          <p:nvPr/>
        </p:nvSpPr>
        <p:spPr>
          <a:xfrm>
            <a:off x="731520" y="3227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Embedded deployment</a:t>
            </a:r>
            <a:endParaRPr lang="en-US" sz="1700" dirty="0"/>
          </a:p>
        </p:txBody>
      </p:sp>
      <p:sp>
        <p:nvSpPr>
          <p:cNvPr id="19" name="cardBody_211"/>
          <p:cNvSpPr txBox="1"/>
          <p:nvPr/>
        </p:nvSpPr>
        <p:spPr>
          <a:xfrm>
            <a:off x="731520" y="37764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Hub and backend in one system – standard for S/4HANA, no RFC.</a:t>
            </a:r>
            <a:endParaRPr lang="en-US" sz="1500" dirty="0"/>
          </a:p>
        </p:txBody>
      </p:sp>
      <p:sp>
        <p:nvSpPr>
          <p:cNvPr id="20" name="card_212"/>
          <p:cNvSpPr/>
          <p:nvPr/>
        </p:nvSpPr>
        <p:spPr>
          <a:xfrm>
            <a:off x="6217920" y="306324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dHead_213"/>
          <p:cNvSpPr txBox="1"/>
          <p:nvPr/>
        </p:nvSpPr>
        <p:spPr>
          <a:xfrm>
            <a:off x="6400800" y="3227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Hub deployment</a:t>
            </a:r>
            <a:endParaRPr lang="en-US" sz="1700" dirty="0"/>
          </a:p>
        </p:txBody>
      </p:sp>
      <p:sp>
        <p:nvSpPr>
          <p:cNvPr id="22" name="cardBody_214"/>
          <p:cNvSpPr txBox="1"/>
          <p:nvPr/>
        </p:nvSpPr>
        <p:spPr>
          <a:xfrm>
            <a:off x="6400800" y="37764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Separate frontend server (FLP + UI5) → trusted RFC → ECC/S4 backends via system alias.</a:t>
            </a:r>
            <a:endParaRPr lang="en-US" sz="1500" dirty="0"/>
          </a:p>
        </p:txBody>
      </p:sp>
      <p:graphicFrame>
        <p:nvGraphicFramePr>
          <p:cNvPr id="20" name="table_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92024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SEGW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/IWFND/MAINT_SERVICE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/IWFND/GW_CLIENT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/IWFND/ERROR_LOG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/IWBEP/ERROR_LOG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*/CACHE_CLEANUP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Build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Hub errors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Backend errors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Metadata cache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first service in SEGW</a:t>
            </a:r>
            <a:endParaRPr lang="en-US" sz="3200" dirty="0"/>
          </a:p>
        </p:txBody>
      </p:sp>
      <p:sp>
        <p:nvSpPr>
          <p:cNvPr id="3" name="badge_216"/>
          <p:cNvSpPr/>
          <p:nvPr/>
        </p:nvSpPr>
        <p:spPr>
          <a:xfrm>
            <a:off x="548640" y="14356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Text_217"/>
          <p:cNvSpPr txBox="1"/>
          <p:nvPr/>
        </p:nvSpPr>
        <p:spPr>
          <a:xfrm>
            <a:off x="54864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Text_218"/>
          <p:cNvSpPr txBox="1"/>
          <p:nvPr/>
        </p:nvSpPr>
        <p:spPr>
          <a:xfrm>
            <a:off x="1234440" y="1371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Create project</a:t>
            </a:r>
            <a:endParaRPr lang="en-US" sz="1700" dirty="0"/>
          </a:p>
        </p:txBody>
      </p:sp>
      <p:sp>
        <p:nvSpPr>
          <p:cNvPr id="6" name="badge_219"/>
          <p:cNvSpPr/>
          <p:nvPr/>
        </p:nvSpPr>
        <p:spPr>
          <a:xfrm>
            <a:off x="548640" y="22128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badgeText_220"/>
          <p:cNvSpPr txBox="1"/>
          <p:nvPr/>
        </p:nvSpPr>
        <p:spPr>
          <a:xfrm>
            <a:off x="54864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Text_221"/>
          <p:cNvSpPr txBox="1"/>
          <p:nvPr/>
        </p:nvSpPr>
        <p:spPr>
          <a:xfrm>
            <a:off x="123444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Import DDIC / RFC / CDS</a:t>
            </a:r>
            <a:endParaRPr lang="en-US" sz="1700" dirty="0"/>
          </a:p>
        </p:txBody>
      </p:sp>
      <p:sp>
        <p:nvSpPr>
          <p:cNvPr id="9" name="badge_222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badgeText_223"/>
          <p:cNvSpPr txBox="1"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Text_224"/>
          <p:cNvSpPr txBox="1"/>
          <p:nvPr/>
        </p:nvSpPr>
        <p:spPr>
          <a:xfrm>
            <a:off x="123444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Set key &amp; set properties</a:t>
            </a:r>
            <a:endParaRPr lang="en-US" sz="1700" dirty="0"/>
          </a:p>
        </p:txBody>
      </p:sp>
      <p:sp>
        <p:nvSpPr>
          <p:cNvPr id="12" name="badge_225"/>
          <p:cNvSpPr/>
          <p:nvPr/>
        </p:nvSpPr>
        <p:spPr>
          <a:xfrm>
            <a:off x="548640" y="37673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adgeText_226"/>
          <p:cNvSpPr txBox="1"/>
          <p:nvPr/>
        </p:nvSpPr>
        <p:spPr>
          <a:xfrm>
            <a:off x="54864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Text_227"/>
          <p:cNvSpPr txBox="1"/>
          <p:nvPr/>
        </p:nvSpPr>
        <p:spPr>
          <a:xfrm>
            <a:off x="1234440" y="3703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Generate runtime objects</a:t>
            </a:r>
            <a:endParaRPr lang="en-US" sz="1700" dirty="0"/>
          </a:p>
        </p:txBody>
      </p:sp>
      <p:sp>
        <p:nvSpPr>
          <p:cNvPr id="15" name="badge_228"/>
          <p:cNvSpPr/>
          <p:nvPr/>
        </p:nvSpPr>
        <p:spPr>
          <a:xfrm>
            <a:off x="548640" y="45445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badgeText_229"/>
          <p:cNvSpPr txBox="1"/>
          <p:nvPr/>
        </p:nvSpPr>
        <p:spPr>
          <a:xfrm>
            <a:off x="54864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Text_230"/>
          <p:cNvSpPr txBox="1"/>
          <p:nvPr/>
        </p:nvSpPr>
        <p:spPr>
          <a:xfrm>
            <a:off x="1234440" y="4480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Register in MAINT_SERVICE</a:t>
            </a:r>
            <a:endParaRPr lang="en-US" sz="1700" dirty="0"/>
          </a:p>
        </p:txBody>
      </p:sp>
      <p:sp>
        <p:nvSpPr>
          <p:cNvPr id="18" name="badge_231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badgeText_232"/>
          <p:cNvSpPr txBox="1"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Text_233"/>
          <p:cNvSpPr txBox="1"/>
          <p:nvPr/>
        </p:nvSpPr>
        <p:spPr>
          <a:xfrm>
            <a:off x="1234440" y="5257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 in GW_CLIENT</a:t>
            </a:r>
            <a:endParaRPr lang="en-US" sz="1700" dirty="0"/>
          </a:p>
        </p:txBody>
      </p:sp>
      <p:graphicFrame>
        <p:nvGraphicFramePr>
          <p:cNvPr id="21" name="table_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Generated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Edit?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ZCL_*_MPC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 (from SEGW)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ZCL_*_MPC_EXT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Annotations / model tweaks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ZCL_*_DPC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CRUD stubs → 501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ZCL_*_DPC_EXT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Your business logic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2" name="noteBg_235"/>
          <p:cNvSpPr/>
          <p:nvPr/>
        </p:nvSpPr>
        <p:spPr>
          <a:xfrm>
            <a:off x="5577840" y="4023360"/>
            <a:ext cx="6035040" cy="1188720"/>
          </a:xfrm>
          <a:prstGeom prst="roundRect">
            <a:avLst>
              <a:gd name="adj" fmla="val 6154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note_236"/>
          <p:cNvSpPr txBox="1"/>
          <p:nvPr/>
        </p:nvSpPr>
        <p:spPr>
          <a:xfrm>
            <a:off x="5760720" y="4023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Golden rule: base classes are regenerated on every Generate – put code only in the _EXT classes.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CRUD in the DPC_EXT</a:t>
            </a:r>
            <a:endParaRPr lang="en-US" sz="3200" dirty="0"/>
          </a:p>
        </p:txBody>
      </p:sp>
      <p:sp>
        <p:nvSpPr>
          <p:cNvPr id="3" name="codeBg_237"/>
          <p:cNvSpPr/>
          <p:nvPr/>
        </p:nvSpPr>
        <p:spPr>
          <a:xfrm>
            <a:off x="548640" y="1325880"/>
            <a:ext cx="5760720" cy="4754880"/>
          </a:xfrm>
          <a:prstGeom prst="roundRect">
            <a:avLst>
              <a:gd name="adj" fmla="val 1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_238"/>
          <p:cNvSpPr txBox="1"/>
          <p:nvPr/>
        </p:nvSpPr>
        <p:spPr>
          <a:xfrm>
            <a:off x="731520" y="1435608"/>
            <a:ext cx="539496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orderset_get_entity.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ls_key TYPE zcl_zsales_mpc=&gt;ts_order.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io_tech_request_context-&gt;get_converted_keys(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IMPORTING es_key_values = ls_key 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SINGLE vbeln, kunnr, netwr, waerk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vbak WHERE vbeln = @ls_key-vbeln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INTO CORRESPONDING FIELDS OF @er_entity.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sy-subrc &lt;&gt; 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/iwbep/cx_mgw_busi_exception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EXPORTING textid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/iwbep/cx_mgw_busi_exception=&gt;resource_not_found.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ENDIF.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ENDMETHOD.</a:t>
            </a:r>
            <a:endParaRPr lang="en-US" sz="1150" dirty="0"/>
          </a:p>
        </p:txBody>
      </p:sp>
      <p:sp>
        <p:nvSpPr>
          <p:cNvPr id="5" name="codeBg_239"/>
          <p:cNvSpPr/>
          <p:nvPr/>
        </p:nvSpPr>
        <p:spPr>
          <a:xfrm>
            <a:off x="6492240" y="1325880"/>
            <a:ext cx="5120640" cy="237744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_240"/>
          <p:cNvSpPr txBox="1"/>
          <p:nvPr/>
        </p:nvSpPr>
        <p:spPr>
          <a:xfrm>
            <a:off x="6675120" y="1435608"/>
            <a:ext cx="4754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orderset_create_entity.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io_data_provider-&gt;read_entry_data(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IMPORTING es_data = ls_order 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validate, call API / BAPI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er_entity = ls_order.   " -&gt; 201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ENDMETHOD.</a:t>
            </a:r>
            <a:endParaRPr lang="en-US" sz="1150" dirty="0"/>
          </a:p>
        </p:txBody>
      </p:sp>
      <p:sp>
        <p:nvSpPr>
          <p:cNvPr id="7" name="bullets_241"/>
          <p:cNvSpPr txBox="1"/>
          <p:nvPr/>
        </p:nvSpPr>
        <p:spPr>
          <a:xfrm>
            <a:off x="6492240" y="3931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Keys: get_converted_keys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Body: io_data_provider-&gt;read_entry_data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Errors: /IWBEP/CX_MGW_BUSI_EXCEPTION + message container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DPC thin – logic in your OO classes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Query options – who does the work?</a:t>
            </a:r>
            <a:endParaRPr lang="en-US" sz="3200" dirty="0"/>
          </a:p>
        </p:txBody>
      </p:sp>
      <p:graphicFrame>
        <p:nvGraphicFramePr>
          <p:cNvPr id="23" name="table_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SEGW implementation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$filter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 eq '100001' and NetAmount gt 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get_osql_where_clause_convert( ) / get_filter( 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$orderby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NetAmount desc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it_order → ORDER BY / helper orderby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$top / $skip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$top=20&amp;$skip=40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get_top( ), get_skip( ) → UP TO n ROWS OFFSET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$inlinecount / $count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$inlinecount=allpages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 COUNT(*) → es_response_context-inlinecount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$select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$select=OrderId,Customer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Framework trims; optimise field list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$expand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$expand=ToItems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Framework (N+1) or GET_EXPANDED_ENTITYSET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search=cairo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get_search_string( 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eBg_243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note_244"/>
          <p:cNvSpPr txBox="1"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CDS / RAP services: SADL translates all of these to SQL automatically – no ABAP code for reads.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Navigation, $expand and deep insert</a:t>
            </a:r>
            <a:endParaRPr lang="en-US" sz="3200" dirty="0"/>
          </a:p>
        </p:txBody>
      </p:sp>
      <p:sp>
        <p:nvSpPr>
          <p:cNvPr id="3" name="card_245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246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247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248"/>
          <p:cNvSpPr txBox="1"/>
          <p:nvPr/>
        </p:nvSpPr>
        <p:spPr>
          <a:xfrm>
            <a:off x="128016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Navigation</a:t>
            </a:r>
            <a:endParaRPr lang="en-US" sz="1700" dirty="0"/>
          </a:p>
        </p:txBody>
      </p:sp>
      <p:sp>
        <p:nvSpPr>
          <p:cNvPr id="7" name="cardBody_249"/>
          <p:cNvSpPr txBox="1"/>
          <p:nvPr/>
        </p:nvSpPr>
        <p:spPr>
          <a:xfrm>
            <a:off x="731520" y="20848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OrderSet('4711')/ToItems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Item method reads get_converted_source_keys( ).</a:t>
            </a:r>
            <a:endParaRPr lang="en-US" sz="1500" dirty="0"/>
          </a:p>
        </p:txBody>
      </p:sp>
      <p:sp>
        <p:nvSpPr>
          <p:cNvPr id="8" name="card_250"/>
          <p:cNvSpPr/>
          <p:nvPr/>
        </p:nvSpPr>
        <p:spPr>
          <a:xfrm>
            <a:off x="4315968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251"/>
          <p:cNvSpPr/>
          <p:nvPr/>
        </p:nvSpPr>
        <p:spPr>
          <a:xfrm>
            <a:off x="4498848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Text_252"/>
          <p:cNvSpPr txBox="1"/>
          <p:nvPr/>
        </p:nvSpPr>
        <p:spPr>
          <a:xfrm>
            <a:off x="449884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253"/>
          <p:cNvSpPr txBox="1"/>
          <p:nvPr/>
        </p:nvSpPr>
        <p:spPr>
          <a:xfrm>
            <a:off x="5047488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$expand</a:t>
            </a:r>
            <a:endParaRPr lang="en-US" sz="1700" dirty="0"/>
          </a:p>
        </p:txBody>
      </p:sp>
      <p:sp>
        <p:nvSpPr>
          <p:cNvPr id="12" name="cardBody_254"/>
          <p:cNvSpPr txBox="1"/>
          <p:nvPr/>
        </p:nvSpPr>
        <p:spPr>
          <a:xfrm>
            <a:off x="4498848" y="20848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Avoid N+1: redefine GET_EXPANDED_ENTITYSET, child component named like nav property, fill et_expanded_tech_clauses.</a:t>
            </a:r>
            <a:endParaRPr lang="en-US" sz="1500" dirty="0"/>
          </a:p>
        </p:txBody>
      </p:sp>
      <p:sp>
        <p:nvSpPr>
          <p:cNvPr id="13" name="card_255"/>
          <p:cNvSpPr/>
          <p:nvPr/>
        </p:nvSpPr>
        <p:spPr>
          <a:xfrm>
            <a:off x="8083296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256"/>
          <p:cNvSpPr/>
          <p:nvPr/>
        </p:nvSpPr>
        <p:spPr>
          <a:xfrm>
            <a:off x="8266176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Text_257"/>
          <p:cNvSpPr txBox="1"/>
          <p:nvPr/>
        </p:nvSpPr>
        <p:spPr>
          <a:xfrm>
            <a:off x="826617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Head_258"/>
          <p:cNvSpPr txBox="1"/>
          <p:nvPr/>
        </p:nvSpPr>
        <p:spPr>
          <a:xfrm>
            <a:off x="8814816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Deep insert</a:t>
            </a:r>
            <a:endParaRPr lang="en-US" sz="1700" dirty="0"/>
          </a:p>
        </p:txBody>
      </p:sp>
      <p:sp>
        <p:nvSpPr>
          <p:cNvPr id="17" name="cardBody_259"/>
          <p:cNvSpPr txBox="1"/>
          <p:nvPr/>
        </p:nvSpPr>
        <p:spPr>
          <a:xfrm>
            <a:off x="8266176" y="208483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POST header + items in one JSON → CREATE_DEEP_ENTITY reads a deep structure.</a:t>
            </a:r>
            <a:endParaRPr lang="en-US" sz="1500" dirty="0"/>
          </a:p>
        </p:txBody>
      </p:sp>
      <p:sp>
        <p:nvSpPr>
          <p:cNvPr id="18" name="codeBg_260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code_261"/>
          <p:cNvSpPr txBox="1"/>
          <p:nvPr/>
        </p:nvSpPr>
        <p:spPr>
          <a:xfrm>
            <a:off x="731520" y="4087368"/>
            <a:ext cx="106984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.../OrderSet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"Customer": "100001", "Currency": "EGP",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"ToItems": [ { "ItemNo": "10", "Material": "MAT-01", "Quantity": "2"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{ "ItemNo": "20", "Material": "MAT-02", "Quantity": "5" } ]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$batch, function imports, media, ETag</a:t>
            </a:r>
            <a:endParaRPr lang="en-US" sz="3200" dirty="0"/>
          </a:p>
        </p:txBody>
      </p:sp>
      <p:sp>
        <p:nvSpPr>
          <p:cNvPr id="3" name="card_262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263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Text_264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265"/>
          <p:cNvSpPr txBox="1"/>
          <p:nvPr/>
        </p:nvSpPr>
        <p:spPr>
          <a:xfrm>
            <a:off x="1280160" y="1536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$batch</a:t>
            </a:r>
            <a:endParaRPr lang="en-US" sz="1700" dirty="0"/>
          </a:p>
        </p:txBody>
      </p:sp>
      <p:sp>
        <p:nvSpPr>
          <p:cNvPr id="7" name="cardBody_266"/>
          <p:cNvSpPr txBox="1"/>
          <p:nvPr/>
        </p:nvSpPr>
        <p:spPr>
          <a:xfrm>
            <a:off x="731520" y="208483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Many requests in one POST. Changeset = all-or-nothing LUW: CHANGESET_BEGIN / PROCESS / END (commit once).</a:t>
            </a:r>
            <a:endParaRPr lang="en-US" sz="1500" dirty="0"/>
          </a:p>
        </p:txBody>
      </p:sp>
      <p:sp>
        <p:nvSpPr>
          <p:cNvPr id="8" name="card_267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268"/>
          <p:cNvSpPr/>
          <p:nvPr/>
        </p:nvSpPr>
        <p:spPr>
          <a:xfrm>
            <a:off x="6400800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Text_269"/>
          <p:cNvSpPr txBox="1"/>
          <p:nvPr/>
        </p:nvSpPr>
        <p:spPr>
          <a:xfrm>
            <a:off x="64008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270"/>
          <p:cNvSpPr txBox="1"/>
          <p:nvPr/>
        </p:nvSpPr>
        <p:spPr>
          <a:xfrm>
            <a:off x="6949440" y="1536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Function import</a:t>
            </a:r>
            <a:endParaRPr lang="en-US" sz="1700" dirty="0"/>
          </a:p>
        </p:txBody>
      </p:sp>
      <p:sp>
        <p:nvSpPr>
          <p:cNvPr id="12" name="cardBody_271"/>
          <p:cNvSpPr txBox="1"/>
          <p:nvPr/>
        </p:nvSpPr>
        <p:spPr>
          <a:xfrm>
            <a:off x="6400800" y="208483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Non-CRUD operation (ReleaseOrder). GET = read, POST = changes. Implement EXECUTE_ACTION.</a:t>
            </a:r>
            <a:endParaRPr lang="en-US" sz="1500" dirty="0"/>
          </a:p>
        </p:txBody>
      </p:sp>
      <p:sp>
        <p:nvSpPr>
          <p:cNvPr id="13" name="card_272"/>
          <p:cNvSpPr/>
          <p:nvPr/>
        </p:nvSpPr>
        <p:spPr>
          <a:xfrm>
            <a:off x="54864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273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Text_274"/>
          <p:cNvSpPr txBox="1"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Head_275"/>
          <p:cNvSpPr txBox="1"/>
          <p:nvPr/>
        </p:nvSpPr>
        <p:spPr>
          <a:xfrm>
            <a:off x="1280160" y="3913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Media</a:t>
            </a:r>
            <a:endParaRPr lang="en-US" sz="1700" dirty="0"/>
          </a:p>
        </p:txBody>
      </p:sp>
      <p:sp>
        <p:nvSpPr>
          <p:cNvPr id="17" name="cardBody_276"/>
          <p:cNvSpPr txBox="1"/>
          <p:nvPr/>
        </p:nvSpPr>
        <p:spPr>
          <a:xfrm>
            <a:off x="731520" y="446227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Files &amp; PDFs: media entity, GET_STREAM ($value) and CREATE_STREAM (slug header).</a:t>
            </a:r>
            <a:endParaRPr lang="en-US" sz="1500" dirty="0"/>
          </a:p>
        </p:txBody>
      </p:sp>
      <p:sp>
        <p:nvSpPr>
          <p:cNvPr id="18" name="card_277"/>
          <p:cNvSpPr/>
          <p:nvPr/>
        </p:nvSpPr>
        <p:spPr>
          <a:xfrm>
            <a:off x="621792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278"/>
          <p:cNvSpPr/>
          <p:nvPr/>
        </p:nvSpPr>
        <p:spPr>
          <a:xfrm>
            <a:off x="6400800" y="393192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Text_279"/>
          <p:cNvSpPr txBox="1"/>
          <p:nvPr/>
        </p:nvSpPr>
        <p:spPr>
          <a:xfrm>
            <a:off x="64008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Head_280"/>
          <p:cNvSpPr txBox="1"/>
          <p:nvPr/>
        </p:nvSpPr>
        <p:spPr>
          <a:xfrm>
            <a:off x="6949440" y="3913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ETag &amp; CSRF</a:t>
            </a:r>
            <a:endParaRPr lang="en-US" sz="1700" dirty="0"/>
          </a:p>
        </p:txBody>
      </p:sp>
      <p:sp>
        <p:nvSpPr>
          <p:cNvPr id="22" name="cardBody_281"/>
          <p:cNvSpPr txBox="1"/>
          <p:nvPr/>
        </p:nvSpPr>
        <p:spPr>
          <a:xfrm>
            <a:off x="6400800" y="446227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If-Match → 412 on conflict. X-CSRF-Token: Fetch, then send on POST/PUT/DELETE.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adge_282"/>
          <p:cNvSpPr/>
          <p:nvPr/>
        </p:nvSpPr>
        <p:spPr>
          <a:xfrm>
            <a:off x="731520" y="2514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Num_283"/>
          <p:cNvSpPr txBox="1"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CDS-based OData &amp; RAP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SADL · @OData.publish · Reference data source · RAP layers · EML · OData V4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Exposing CDS views as OData</a:t>
            </a:r>
            <a:endParaRPr lang="en-US" sz="3200" dirty="0"/>
          </a:p>
        </p:txBody>
      </p:sp>
      <p:graphicFrame>
        <p:nvGraphicFramePr>
          <p:cNvPr id="27" name="table_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237744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Write logic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@OData.publish: true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Annotation in CDS → &lt;VIEW&gt;_CDS 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BOPF 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Legacy, still common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SEGW Reference Data Source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SEGW → Reference → Data Source (CDS)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DPC_EXT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Common with custom logic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 service binding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 definition + binding V2/V4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Behavior definition + pool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Recommended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bullets_285"/>
          <p:cNvSpPr txBox="1"/>
          <p:nvPr/>
        </p:nvSpPr>
        <p:spPr>
          <a:xfrm>
            <a:off x="548640" y="34290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Associations become navigation properties (to_Items)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DCL (@AccessControl) = row-level authorization for free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@UI annotations drive Fiori elements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@Search.searchable enables free-text search</a:t>
            </a:r>
            <a:endParaRPr lang="en-US" sz="1500" dirty="0"/>
          </a:p>
        </p:txBody>
      </p:sp>
      <p:sp>
        <p:nvSpPr>
          <p:cNvPr id="5" name="codeBg_286"/>
          <p:cNvSpPr/>
          <p:nvPr/>
        </p:nvSpPr>
        <p:spPr>
          <a:xfrm>
            <a:off x="6309360" y="3429000"/>
            <a:ext cx="5303520" cy="2651760"/>
          </a:xfrm>
          <a:prstGeom prst="roundRect">
            <a:avLst>
              <a:gd name="adj" fmla="val 20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_287"/>
          <p:cNvSpPr txBox="1"/>
          <p:nvPr/>
        </p:nvSpPr>
        <p:spPr>
          <a:xfrm>
            <a:off x="6492240" y="3538728"/>
            <a:ext cx="49377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@OData.publish: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view ZC_SalesOrder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select from vbak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association [0..*] to ZC_Item as _Items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$projection.SalesOrder = _Items.SalesOrder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key vbeln as SalesOrder,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kunnr as SoldToParty,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_Items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RAP: the layers of a business object</a:t>
            </a:r>
            <a:endParaRPr lang="en-US" sz="3200" dirty="0"/>
          </a:p>
        </p:txBody>
      </p:sp>
      <p:sp>
        <p:nvSpPr>
          <p:cNvPr id="3" name="rapBox_288"/>
          <p:cNvSpPr/>
          <p:nvPr/>
        </p:nvSpPr>
        <p:spPr>
          <a:xfrm>
            <a:off x="548640" y="132588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rapName_289"/>
          <p:cNvSpPr txBox="1"/>
          <p:nvPr/>
        </p:nvSpPr>
        <p:spPr>
          <a:xfrm>
            <a:off x="640080" y="1325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Database table</a:t>
            </a:r>
            <a:endParaRPr lang="en-US" sz="1500" dirty="0"/>
          </a:p>
        </p:txBody>
      </p:sp>
      <p:sp>
        <p:nvSpPr>
          <p:cNvPr id="5" name="rapDesc_290"/>
          <p:cNvSpPr txBox="1"/>
          <p:nvPr/>
        </p:nvSpPr>
        <p:spPr>
          <a:xfrm>
            <a:off x="3886200" y="1325880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ztravel_a with admin fields</a:t>
            </a:r>
            <a:endParaRPr lang="en-US" sz="1500" dirty="0"/>
          </a:p>
        </p:txBody>
      </p:sp>
      <p:sp>
        <p:nvSpPr>
          <p:cNvPr id="6" name="rapBox_291"/>
          <p:cNvSpPr/>
          <p:nvPr/>
        </p:nvSpPr>
        <p:spPr>
          <a:xfrm>
            <a:off x="548640" y="2130552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apName_292"/>
          <p:cNvSpPr txBox="1"/>
          <p:nvPr/>
        </p:nvSpPr>
        <p:spPr>
          <a:xfrm>
            <a:off x="640080" y="21305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CDS view entities</a:t>
            </a:r>
            <a:endParaRPr lang="en-US" sz="1500" dirty="0"/>
          </a:p>
        </p:txBody>
      </p:sp>
      <p:sp>
        <p:nvSpPr>
          <p:cNvPr id="8" name="rapDesc_293"/>
          <p:cNvSpPr txBox="1"/>
          <p:nvPr/>
        </p:nvSpPr>
        <p:spPr>
          <a:xfrm>
            <a:off x="3886200" y="213055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define root view entity ZI_Travel (+ compositions)</a:t>
            </a:r>
            <a:endParaRPr lang="en-US" sz="1500" dirty="0"/>
          </a:p>
        </p:txBody>
      </p:sp>
      <p:sp>
        <p:nvSpPr>
          <p:cNvPr id="9" name="rapBox_294"/>
          <p:cNvSpPr/>
          <p:nvPr/>
        </p:nvSpPr>
        <p:spPr>
          <a:xfrm>
            <a:off x="548640" y="2935224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apName_295"/>
          <p:cNvSpPr txBox="1"/>
          <p:nvPr/>
        </p:nvSpPr>
        <p:spPr>
          <a:xfrm>
            <a:off x="640080" y="293522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Behavior definition</a:t>
            </a:r>
            <a:endParaRPr lang="en-US" sz="1500" dirty="0"/>
          </a:p>
        </p:txBody>
      </p:sp>
      <p:sp>
        <p:nvSpPr>
          <p:cNvPr id="11" name="rapDesc_296"/>
          <p:cNvSpPr txBox="1"/>
          <p:nvPr/>
        </p:nvSpPr>
        <p:spPr>
          <a:xfrm>
            <a:off x="3886200" y="2935224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create, update, delete, actions, validations, determinations, lock, etag, draft</a:t>
            </a:r>
            <a:endParaRPr lang="en-US" sz="1500" dirty="0"/>
          </a:p>
        </p:txBody>
      </p:sp>
      <p:sp>
        <p:nvSpPr>
          <p:cNvPr id="12" name="rapBox_297"/>
          <p:cNvSpPr/>
          <p:nvPr/>
        </p:nvSpPr>
        <p:spPr>
          <a:xfrm>
            <a:off x="548640" y="3739896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apName_298"/>
          <p:cNvSpPr txBox="1"/>
          <p:nvPr/>
        </p:nvSpPr>
        <p:spPr>
          <a:xfrm>
            <a:off x="640080" y="37398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Behavior pool</a:t>
            </a:r>
            <a:endParaRPr lang="en-US" sz="1500" dirty="0"/>
          </a:p>
        </p:txBody>
      </p:sp>
      <p:sp>
        <p:nvSpPr>
          <p:cNvPr id="14" name="rapDesc_299"/>
          <p:cNvSpPr txBox="1"/>
          <p:nvPr/>
        </p:nvSpPr>
        <p:spPr>
          <a:xfrm>
            <a:off x="3886200" y="3739896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ZBP_I_TRAVEL: handler &amp; saver classes written in EML</a:t>
            </a:r>
            <a:endParaRPr lang="en-US" sz="1500" dirty="0"/>
          </a:p>
        </p:txBody>
      </p:sp>
      <p:sp>
        <p:nvSpPr>
          <p:cNvPr id="15" name="rapBox_300"/>
          <p:cNvSpPr/>
          <p:nvPr/>
        </p:nvSpPr>
        <p:spPr>
          <a:xfrm>
            <a:off x="548640" y="4544568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rapName_301"/>
          <p:cNvSpPr txBox="1"/>
          <p:nvPr/>
        </p:nvSpPr>
        <p:spPr>
          <a:xfrm>
            <a:off x="640080" y="45445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Projection</a:t>
            </a:r>
            <a:endParaRPr lang="en-US" sz="1500" dirty="0"/>
          </a:p>
        </p:txBody>
      </p:sp>
      <p:sp>
        <p:nvSpPr>
          <p:cNvPr id="17" name="rapDesc_302"/>
          <p:cNvSpPr txBox="1"/>
          <p:nvPr/>
        </p:nvSpPr>
        <p:spPr>
          <a:xfrm>
            <a:off x="3886200" y="4544568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ZC_Travel + projection BDEF (use create; use action …)</a:t>
            </a:r>
            <a:endParaRPr lang="en-US" sz="1500" dirty="0"/>
          </a:p>
        </p:txBody>
      </p:sp>
      <p:sp>
        <p:nvSpPr>
          <p:cNvPr id="18" name="rapBox_303"/>
          <p:cNvSpPr/>
          <p:nvPr/>
        </p:nvSpPr>
        <p:spPr>
          <a:xfrm>
            <a:off x="548640" y="534924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rapName_304"/>
          <p:cNvSpPr txBox="1"/>
          <p:nvPr/>
        </p:nvSpPr>
        <p:spPr>
          <a:xfrm>
            <a:off x="640080" y="5349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 definition + binding</a:t>
            </a:r>
            <a:endParaRPr lang="en-US" sz="1500" dirty="0"/>
          </a:p>
        </p:txBody>
      </p:sp>
      <p:sp>
        <p:nvSpPr>
          <p:cNvPr id="20" name="rapDesc_305"/>
          <p:cNvSpPr txBox="1"/>
          <p:nvPr/>
        </p:nvSpPr>
        <p:spPr>
          <a:xfrm>
            <a:off x="3886200" y="5349240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expose ZC_Travel → OData V4 UI / Web API → Publish → Preview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Behavior definition &amp; EML in practice</a:t>
            </a:r>
            <a:endParaRPr lang="en-US" sz="3200" dirty="0"/>
          </a:p>
        </p:txBody>
      </p:sp>
      <p:sp>
        <p:nvSpPr>
          <p:cNvPr id="3" name="codeBg_306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1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_307"/>
          <p:cNvSpPr txBox="1"/>
          <p:nvPr/>
        </p:nvSpPr>
        <p:spPr>
          <a:xfrm>
            <a:off x="731520" y="1435608"/>
            <a:ext cx="512064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implementation in class zbp_i_travel unique;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 ( 2 );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behavior for ZI_Travel alias Travel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 table ztravel_a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master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master ( instance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 master LocalLastChangedAt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create; update; delete;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 ( numbering : managed, readonly ) TravelUUID;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 acceptTravel result [1] $self;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determination setInitialValues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modify { create;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 validateDates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save { create; field BeginDate, EndDate;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codeBg_308"/>
          <p:cNvSpPr/>
          <p:nvPr/>
        </p:nvSpPr>
        <p:spPr>
          <a:xfrm>
            <a:off x="6217920" y="1325880"/>
            <a:ext cx="5394960" cy="27432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_309"/>
          <p:cNvSpPr txBox="1"/>
          <p:nvPr/>
        </p:nvSpPr>
        <p:spPr>
          <a:xfrm>
            <a:off x="6400800" y="1435608"/>
            <a:ext cx="50292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ENTITIES OF zi_travel IN LOCAL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ENTITY Travel UPDATE FIELDS ( Status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VALUE #( FOR k IN keys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 %tky = k-%tky Status = 'A' ) 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ENTITIES.   " outside the BO</a:t>
            </a:r>
            <a:endParaRPr lang="en-US" sz="1100" dirty="0"/>
          </a:p>
        </p:txBody>
      </p:sp>
      <p:sp>
        <p:nvSpPr>
          <p:cNvPr id="7" name="bullets_310"/>
          <p:cNvSpPr txBox="1"/>
          <p:nvPr/>
        </p:nvSpPr>
        <p:spPr>
          <a:xfrm>
            <a:off x="6217920" y="42519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Managed = framework does CRUD &amp; save; unmanaged = you do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failed / reported / mapped; %tky, %cid, %param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 draft; for Fiori elements save-later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SEGW vs. RAP – which one when?</a:t>
            </a:r>
            <a:endParaRPr lang="en-US" sz="3200" dirty="0"/>
          </a:p>
        </p:txBody>
      </p:sp>
      <p:graphicFrame>
        <p:nvGraphicFramePr>
          <p:cNvPr id="30" name="table_3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SEGW / Gateway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RAP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SEGW project, MPC/DPC classes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CDS view entities + BDEF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Queries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Implemented by you (or RDS)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SADL automatic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Protocol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Mainly OData V2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OData V2 and V4, UI and Web API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Transactions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You: BAPIs, COMMIT, locks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Buffer, locking, ETag, draft by framework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Tooling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SAP GUI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ADT (Eclipse)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Use it for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ECC / older releases, special custom logic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S/4HANA 1909+, BTP, Clean Core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Consume, tune, secure, troubleshoot</a:t>
            </a:r>
            <a:endParaRPr lang="en-US" sz="3200" dirty="0"/>
          </a:p>
        </p:txBody>
      </p:sp>
      <p:sp>
        <p:nvSpPr>
          <p:cNvPr id="3" name="card_312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313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314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Head_315"/>
          <p:cNvSpPr txBox="1"/>
          <p:nvPr/>
        </p:nvSpPr>
        <p:spPr>
          <a:xfrm>
            <a:off x="1280160" y="1536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Consume</a:t>
            </a:r>
            <a:endParaRPr lang="en-US" sz="1700" dirty="0"/>
          </a:p>
        </p:txBody>
      </p:sp>
      <p:sp>
        <p:nvSpPr>
          <p:cNvPr id="7" name="cardBody_316"/>
          <p:cNvSpPr txBox="1"/>
          <p:nvPr/>
        </p:nvSpPr>
        <p:spPr>
          <a:xfrm>
            <a:off x="731520" y="208483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UI5 ODataModel (read/create/update/remove, auto CSRF + $batch) · Postman with X-CSRF-Token · ABAP: CL_HTTP_CLIENT + /UI2/CL_JSON or typed client proxy.</a:t>
            </a:r>
            <a:endParaRPr lang="en-US" sz="1500" dirty="0"/>
          </a:p>
        </p:txBody>
      </p:sp>
      <p:sp>
        <p:nvSpPr>
          <p:cNvPr id="8" name="card_317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318"/>
          <p:cNvSpPr/>
          <p:nvPr/>
        </p:nvSpPr>
        <p:spPr>
          <a:xfrm>
            <a:off x="6400800" y="1554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Text_319"/>
          <p:cNvSpPr txBox="1"/>
          <p:nvPr/>
        </p:nvSpPr>
        <p:spPr>
          <a:xfrm>
            <a:off x="64008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cardHead_320"/>
          <p:cNvSpPr txBox="1"/>
          <p:nvPr/>
        </p:nvSpPr>
        <p:spPr>
          <a:xfrm>
            <a:off x="6949440" y="1536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Performance</a:t>
            </a:r>
            <a:endParaRPr lang="en-US" sz="1700" dirty="0"/>
          </a:p>
        </p:txBody>
      </p:sp>
      <p:sp>
        <p:nvSpPr>
          <p:cNvPr id="12" name="cardBody_321"/>
          <p:cNvSpPr txBox="1"/>
          <p:nvPr/>
        </p:nvSpPr>
        <p:spPr>
          <a:xfrm>
            <a:off x="6400800" y="208483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Push filter/paging to DB · no SELECT * · fix N+1 $expand · max page size · sap-statistics=true, ST05, SAT.</a:t>
            </a:r>
            <a:endParaRPr lang="en-US" sz="1500" dirty="0"/>
          </a:p>
        </p:txBody>
      </p:sp>
      <p:sp>
        <p:nvSpPr>
          <p:cNvPr id="13" name="card_322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_323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adgeText_324"/>
          <p:cNvSpPr txBox="1"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Head_325"/>
          <p:cNvSpPr txBox="1"/>
          <p:nvPr/>
        </p:nvSpPr>
        <p:spPr>
          <a:xfrm>
            <a:off x="1280160" y="40050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Security</a:t>
            </a:r>
            <a:endParaRPr lang="en-US" sz="1700" dirty="0"/>
          </a:p>
        </p:txBody>
      </p:sp>
      <p:sp>
        <p:nvSpPr>
          <p:cNvPr id="17" name="cardBody_326"/>
          <p:cNvSpPr txBox="1"/>
          <p:nvPr/>
        </p:nvSpPr>
        <p:spPr>
          <a:xfrm>
            <a:off x="731520" y="455371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S_SERVICE in role · AUTHORITY-CHECK / DCL · CSRF on · validate input, no raw dynamic WHERE · HTTPS/SSO.</a:t>
            </a:r>
            <a:endParaRPr lang="en-US" sz="1500" dirty="0"/>
          </a:p>
        </p:txBody>
      </p:sp>
      <p:sp>
        <p:nvSpPr>
          <p:cNvPr id="18" name="card_327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_328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Text_329"/>
          <p:cNvSpPr txBox="1"/>
          <p:nvPr/>
        </p:nvSpPr>
        <p:spPr>
          <a:xfrm>
            <a:off x="6400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cardHead_330"/>
          <p:cNvSpPr txBox="1"/>
          <p:nvPr/>
        </p:nvSpPr>
        <p:spPr>
          <a:xfrm>
            <a:off x="6949440" y="40050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Troubleshoot</a:t>
            </a:r>
            <a:endParaRPr lang="en-US" sz="1700" dirty="0"/>
          </a:p>
        </p:txBody>
      </p:sp>
      <p:sp>
        <p:nvSpPr>
          <p:cNvPr id="22" name="cardBody_331"/>
          <p:cNvSpPr txBox="1"/>
          <p:nvPr/>
        </p:nvSpPr>
        <p:spPr>
          <a:xfrm>
            <a:off x="6400800" y="455371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404 → MAINT_SERVICE/SICF · 403 → CSRF/SU53 · 500 → ST22 + ERROR_LOG (Replay) · old $metadata → cache cleanup.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Badge_332"/>
          <p:cNvSpPr/>
          <p:nvPr/>
        </p:nvSpPr>
        <p:spPr>
          <a:xfrm>
            <a:off x="731520" y="2514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Num_333"/>
          <p:cNvSpPr txBox="1"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Interview &amp; Practice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Top questions · Practical labs per concept · Capstone project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Top ABAP Objects interview questions</a:t>
            </a:r>
            <a:endParaRPr lang="en-US" sz="3200" dirty="0"/>
          </a:p>
        </p:txBody>
      </p:sp>
      <p:sp>
        <p:nvSpPr>
          <p:cNvPr id="3" name="badge_334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Text_335"/>
          <p:cNvSpPr txBox="1"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5" name="qa_336"/>
          <p:cNvSpPr txBox="1"/>
          <p:nvPr/>
        </p:nvSpPr>
        <p:spPr>
          <a:xfrm>
            <a:off x="109728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Class vs. object?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Blueprint vs. runtime instance via NEW.</a:t>
            </a:r>
            <a:endParaRPr lang="en-US" sz="1500" dirty="0"/>
          </a:p>
        </p:txBody>
      </p:sp>
      <p:sp>
        <p:nvSpPr>
          <p:cNvPr id="6" name="badge_337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Text_338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8" name="qa_339"/>
          <p:cNvSpPr txBox="1"/>
          <p:nvPr/>
        </p:nvSpPr>
        <p:spPr>
          <a:xfrm>
            <a:off x="676656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Abstract class vs. interface?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Shared code + one parent vs. contract + many.</a:t>
            </a:r>
            <a:endParaRPr lang="en-US" sz="1500" dirty="0"/>
          </a:p>
        </p:txBody>
      </p:sp>
      <p:sp>
        <p:nvSpPr>
          <p:cNvPr id="9" name="badge_340"/>
          <p:cNvSpPr/>
          <p:nvPr/>
        </p:nvSpPr>
        <p:spPr>
          <a:xfrm>
            <a:off x="54864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Text_341"/>
          <p:cNvSpPr txBox="1"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11" name="qa_342"/>
          <p:cNvSpPr txBox="1"/>
          <p:nvPr/>
        </p:nvSpPr>
        <p:spPr>
          <a:xfrm>
            <a:off x="1097280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Up-cast vs. down-cast?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Implicit &amp; safe vs. ?=/CAST with runtime check.</a:t>
            </a:r>
            <a:endParaRPr lang="en-US" sz="1500" dirty="0"/>
          </a:p>
        </p:txBody>
      </p:sp>
      <p:sp>
        <p:nvSpPr>
          <p:cNvPr id="12" name="badge_343"/>
          <p:cNvSpPr/>
          <p:nvPr/>
        </p:nvSpPr>
        <p:spPr>
          <a:xfrm>
            <a:off x="621792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Text_344"/>
          <p:cNvSpPr txBox="1"/>
          <p:nvPr/>
        </p:nvSpPr>
        <p:spPr>
          <a:xfrm>
            <a:off x="62179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14" name="qa_345"/>
          <p:cNvSpPr txBox="1"/>
          <p:nvPr/>
        </p:nvSpPr>
        <p:spPr>
          <a:xfrm>
            <a:off x="6766560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can't be redefined?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Static methods, constructors, private, FINAL.</a:t>
            </a:r>
            <a:endParaRPr lang="en-US" sz="1500" dirty="0"/>
          </a:p>
        </p:txBody>
      </p:sp>
      <p:sp>
        <p:nvSpPr>
          <p:cNvPr id="15" name="badge_346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Text_347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17" name="qa_348"/>
          <p:cNvSpPr txBox="1"/>
          <p:nvPr/>
        </p:nvSpPr>
        <p:spPr>
          <a:xfrm>
            <a:off x="1097280" y="3749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exception categories?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STATIC_CHECK, DYNAMIC_CHECK, NO_CHECK.</a:t>
            </a:r>
            <a:endParaRPr lang="en-US" sz="1500" dirty="0"/>
          </a:p>
        </p:txBody>
      </p:sp>
      <p:sp>
        <p:nvSpPr>
          <p:cNvPr id="18" name="badge_349"/>
          <p:cNvSpPr/>
          <p:nvPr/>
        </p:nvSpPr>
        <p:spPr>
          <a:xfrm>
            <a:off x="6217920" y="3840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badgeText_350"/>
          <p:cNvSpPr txBox="1"/>
          <p:nvPr/>
        </p:nvSpPr>
        <p:spPr>
          <a:xfrm>
            <a:off x="62179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20" name="qa_351"/>
          <p:cNvSpPr txBox="1"/>
          <p:nvPr/>
        </p:nvSpPr>
        <p:spPr>
          <a:xfrm>
            <a:off x="6766560" y="3749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CLEANUP vs. RETRY vs. RESUME?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Restore state / rerun TRY / continue after raise.</a:t>
            </a:r>
            <a:endParaRPr lang="en-US" sz="1500" dirty="0"/>
          </a:p>
        </p:txBody>
      </p:sp>
      <p:sp>
        <p:nvSpPr>
          <p:cNvPr id="21" name="badge_352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badgeText_353"/>
          <p:cNvSpPr txBox="1"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23" name="qa_354"/>
          <p:cNvSpPr txBox="1"/>
          <p:nvPr/>
        </p:nvSpPr>
        <p:spPr>
          <a:xfrm>
            <a:off x="1097280" y="49377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Events – 4 steps?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EVENTS, RAISE EVENT, FOR EVENT, SET HANDLER.</a:t>
            </a:r>
            <a:endParaRPr lang="en-US" sz="1500" dirty="0"/>
          </a:p>
        </p:txBody>
      </p:sp>
      <p:sp>
        <p:nvSpPr>
          <p:cNvPr id="24" name="badge_355"/>
          <p:cNvSpPr/>
          <p:nvPr/>
        </p:nvSpPr>
        <p:spPr>
          <a:xfrm>
            <a:off x="621792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Text_356"/>
          <p:cNvSpPr txBox="1"/>
          <p:nvPr/>
        </p:nvSpPr>
        <p:spPr>
          <a:xfrm>
            <a:off x="621792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26" name="qa_357"/>
          <p:cNvSpPr txBox="1"/>
          <p:nvPr/>
        </p:nvSpPr>
        <p:spPr>
          <a:xfrm>
            <a:off x="6766560" y="49377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Patterns used?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Singleton, Factory, Strategy, Observer, MVC.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Top OData interview questions</a:t>
            </a:r>
            <a:endParaRPr lang="en-US" sz="3200" dirty="0"/>
          </a:p>
        </p:txBody>
      </p:sp>
      <p:sp>
        <p:nvSpPr>
          <p:cNvPr id="3" name="badge_358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adgeText_359"/>
          <p:cNvSpPr txBox="1"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5" name="qa_360"/>
          <p:cNvSpPr txBox="1"/>
          <p:nvPr/>
        </p:nvSpPr>
        <p:spPr>
          <a:xfrm>
            <a:off x="109728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MPC vs. DPC? Which to edit?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 vs. data; only _EXT classes.</a:t>
            </a:r>
            <a:endParaRPr lang="en-US" sz="1500" dirty="0"/>
          </a:p>
        </p:txBody>
      </p:sp>
      <p:sp>
        <p:nvSpPr>
          <p:cNvPr id="6" name="badge_361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adgeText_362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8" name="qa_363"/>
          <p:cNvSpPr txBox="1"/>
          <p:nvPr/>
        </p:nvSpPr>
        <p:spPr>
          <a:xfrm>
            <a:off x="676656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do you implement $filter / paging?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where_clause_convert / get_top + OFFSET on DB.</a:t>
            </a:r>
            <a:endParaRPr lang="en-US" sz="1500" dirty="0"/>
          </a:p>
        </p:txBody>
      </p:sp>
      <p:sp>
        <p:nvSpPr>
          <p:cNvPr id="9" name="badge_364"/>
          <p:cNvSpPr/>
          <p:nvPr/>
        </p:nvSpPr>
        <p:spPr>
          <a:xfrm>
            <a:off x="548640" y="26517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Text_365"/>
          <p:cNvSpPr txBox="1"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11" name="qa_366"/>
          <p:cNvSpPr txBox="1"/>
          <p:nvPr/>
        </p:nvSpPr>
        <p:spPr>
          <a:xfrm>
            <a:off x="1097280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$expand vs. navigation?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Parent + children inline vs. children only.</a:t>
            </a:r>
            <a:endParaRPr lang="en-US" sz="1500" dirty="0"/>
          </a:p>
        </p:txBody>
      </p:sp>
      <p:sp>
        <p:nvSpPr>
          <p:cNvPr id="12" name="badge_367"/>
          <p:cNvSpPr/>
          <p:nvPr/>
        </p:nvSpPr>
        <p:spPr>
          <a:xfrm>
            <a:off x="6217920" y="265176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badgeText_368"/>
          <p:cNvSpPr txBox="1"/>
          <p:nvPr/>
        </p:nvSpPr>
        <p:spPr>
          <a:xfrm>
            <a:off x="62179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14" name="qa_369"/>
          <p:cNvSpPr txBox="1"/>
          <p:nvPr/>
        </p:nvSpPr>
        <p:spPr>
          <a:xfrm>
            <a:off x="6766560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Deep insert vs. $batch?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nested POST vs. many requests / changesets.</a:t>
            </a:r>
            <a:endParaRPr lang="en-US" sz="1500" dirty="0"/>
          </a:p>
        </p:txBody>
      </p:sp>
      <p:sp>
        <p:nvSpPr>
          <p:cNvPr id="15" name="badge_370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Text_371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17" name="qa_372"/>
          <p:cNvSpPr txBox="1"/>
          <p:nvPr/>
        </p:nvSpPr>
        <p:spPr>
          <a:xfrm>
            <a:off x="1097280" y="3749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CSRF token?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Fetch on GET, send on modifying calls; else 403.</a:t>
            </a:r>
            <a:endParaRPr lang="en-US" sz="1500" dirty="0"/>
          </a:p>
        </p:txBody>
      </p:sp>
      <p:sp>
        <p:nvSpPr>
          <p:cNvPr id="18" name="badge_373"/>
          <p:cNvSpPr/>
          <p:nvPr/>
        </p:nvSpPr>
        <p:spPr>
          <a:xfrm>
            <a:off x="6217920" y="3840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badgeText_374"/>
          <p:cNvSpPr txBox="1"/>
          <p:nvPr/>
        </p:nvSpPr>
        <p:spPr>
          <a:xfrm>
            <a:off x="62179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20" name="qa_375"/>
          <p:cNvSpPr txBox="1"/>
          <p:nvPr/>
        </p:nvSpPr>
        <p:spPr>
          <a:xfrm>
            <a:off x="6766560" y="3749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ETag?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Optimistic lock; If-Match → 412.</a:t>
            </a:r>
            <a:endParaRPr lang="en-US" sz="1500" dirty="0"/>
          </a:p>
        </p:txBody>
      </p:sp>
      <p:sp>
        <p:nvSpPr>
          <p:cNvPr id="21" name="badge_376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badgeText_377"/>
          <p:cNvSpPr txBox="1"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23" name="qa_378"/>
          <p:cNvSpPr txBox="1"/>
          <p:nvPr/>
        </p:nvSpPr>
        <p:spPr>
          <a:xfrm>
            <a:off x="1097280" y="49377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Hub vs. embedded?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Separate FES + RFC vs. same system.</a:t>
            </a:r>
            <a:endParaRPr lang="en-US" sz="1500" dirty="0"/>
          </a:p>
        </p:txBody>
      </p:sp>
      <p:sp>
        <p:nvSpPr>
          <p:cNvPr id="24" name="badge_379"/>
          <p:cNvSpPr/>
          <p:nvPr/>
        </p:nvSpPr>
        <p:spPr>
          <a:xfrm>
            <a:off x="6217920" y="5029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badgeText_380"/>
          <p:cNvSpPr txBox="1"/>
          <p:nvPr/>
        </p:nvSpPr>
        <p:spPr>
          <a:xfrm>
            <a:off x="621792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</a:t>
            </a:r>
            <a:endParaRPr lang="en-US" sz="1200" dirty="0"/>
          </a:p>
        </p:txBody>
      </p:sp>
      <p:sp>
        <p:nvSpPr>
          <p:cNvPr id="26" name="qa_381"/>
          <p:cNvSpPr txBox="1"/>
          <p:nvPr/>
        </p:nvSpPr>
        <p:spPr>
          <a:xfrm>
            <a:off x="6766560" y="49377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SEGW vs. RAP?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Manual V2 vs. CDS + BDEF, V4, managed transactions.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Practical labs – one per concept</a:t>
            </a:r>
            <a:endParaRPr lang="en-US" sz="3200" dirty="0"/>
          </a:p>
        </p:txBody>
      </p:sp>
      <p:graphicFrame>
        <p:nvGraphicFramePr>
          <p:cNvPr id="35" name="table_3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21031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Concept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Lab (solution in PDF)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Concept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Lab (solution in PDF)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Classes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LCL_STUDENT with grades &amp; average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OData basics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Query Northwind with $filter/$expand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Constructors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Predict constructor order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SEGW CRUD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ZSTUDENT_SRV with all 5 operations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Encapsulation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Temperature with factory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Navigation/deep insert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Order + items, function import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Inheritance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Employee payroll hierarchy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CDS OData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ZC_Student with @OData.publish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Polymorphism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Payment methods + down-cast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Managed student BO, V4 binding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Interfaces/Events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Storage decorator, order observer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Troubleshooting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Error log, statistics, SU53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Exceptions/Patterns/Unit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Safe calc, discount engine + tests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Capstone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Leave requests: OO + OData end-to-end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Badge"/>
          <p:cNvSpPr/>
          <p:nvPr/>
        </p:nvSpPr>
        <p:spPr>
          <a:xfrm>
            <a:off x="731520" y="2514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loseTick"/>
          <p:cNvSpPr txBox="1"/>
          <p:nvPr/>
        </p:nvSpPr>
        <p:spPr>
          <a:xfrm>
            <a:off x="7315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✓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Do every lab in the PDF · build the Leave Request capstone · rebuild it in RAP · revise Part III before each interview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Study">
  <a:themeElements>
    <a:clrScheme name="SAP Study">
      <a:dk1>
        <a:srgbClr val="1B2430"/>
      </a:dk1>
      <a:lt1>
        <a:srgbClr val="FFFFFF"/>
      </a:lt1>
      <a:dk2>
        <a:srgbClr val="0A2540"/>
      </a:dk2>
      <a:lt2>
        <a:srgbClr val="EEF2F7"/>
      </a:lt2>
      <a:accent1>
        <a:srgbClr val="0B5394"/>
      </a:accent1>
      <a:accent2>
        <a:srgbClr val="F0AB00"/>
      </a:accent2>
      <a:accent3>
        <a:srgbClr val="1E7B3A"/>
      </a:accent3>
      <a:accent4>
        <a:srgbClr val="B4540A"/>
      </a:accent4>
      <a:accent5>
        <a:srgbClr val="5B3FA3"/>
      </a:accent5>
      <a:accent6>
        <a:srgbClr val="5F6B7A"/>
      </a:accent6>
      <a:hlink>
        <a:srgbClr val="0B5394"/>
      </a:hlink>
      <a:folHlink>
        <a:srgbClr val="5B3FA3"/>
      </a:folHlink>
    </a:clrScheme>
    <a:fontScheme name="SAP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Objects &amp; OData - Summary</dc:title>
  <dc:subject>PptxGenJS Presentation</dc:subject>
  <dc:creator>SAP Study Session</dc:creator>
  <cp:lastModifiedBy>SAP Study Session</cp:lastModifiedBy>
  <cp:revision>1</cp:revision>
  <dcterms:created xsi:type="dcterms:W3CDTF">2026-10-17T19:10:13Z</dcterms:created>
  <dcterms:modified xsi:type="dcterms:W3CDTF">2026-10-17T19:10:13Z</dcterms:modified>
</cp:coreProperties>
</file>